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596" autoAdjust="0"/>
  </p:normalViewPr>
  <p:slideViewPr>
    <p:cSldViewPr snapToGrid="0">
      <p:cViewPr varScale="1">
        <p:scale>
          <a:sx n="75" d="100"/>
          <a:sy n="75"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A6C1D3-B0CB-46A9-A557-AB67F3EE8321}" type="datetimeFigureOut">
              <a:rPr lang="en-IN" smtClean="0"/>
              <a:t>01-08-2025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BC001-CDB3-493C-AAC5-9F1C11B7D1F3}" type="slidenum">
              <a:rPr lang="en-IN" smtClean="0"/>
              <a:t>‹#›</a:t>
            </a:fld>
            <a:endParaRPr lang="en-IN"/>
          </a:p>
        </p:txBody>
      </p:sp>
    </p:spTree>
    <p:extLst>
      <p:ext uri="{BB962C8B-B14F-4D97-AF65-F5344CB8AC3E}">
        <p14:creationId xmlns:p14="http://schemas.microsoft.com/office/powerpoint/2010/main" val="3573524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With the use of the RISC-V M extension, the entire</a:t>
            </a:r>
          </a:p>
          <a:p>
            <a:r>
              <a:rPr lang="en-US" sz="1200" b="0" i="0" u="none" strike="noStrike" kern="1200" baseline="0" dirty="0">
                <a:solidFill>
                  <a:schemeClr val="tx1"/>
                </a:solidFill>
                <a:latin typeface="+mn-lt"/>
                <a:ea typeface="+mn-ea"/>
                <a:cs typeface="+mn-cs"/>
              </a:rPr>
              <a:t>computation was performed in hardware. The number of</a:t>
            </a:r>
          </a:p>
          <a:p>
            <a:r>
              <a:rPr lang="en-US" sz="1200" b="0" i="0" u="none" strike="noStrike" kern="1200" baseline="0" dirty="0">
                <a:solidFill>
                  <a:schemeClr val="tx1"/>
                </a:solidFill>
                <a:latin typeface="+mn-lt"/>
                <a:ea typeface="+mn-ea"/>
                <a:cs typeface="+mn-cs"/>
              </a:rPr>
              <a:t>registers available in a RISC CPU often permits optimal</a:t>
            </a:r>
          </a:p>
          <a:p>
            <a:r>
              <a:rPr lang="en-IN" sz="1200" b="0" i="0" u="none" strike="noStrike" kern="1200" baseline="0" dirty="0">
                <a:solidFill>
                  <a:schemeClr val="tx1"/>
                </a:solidFill>
                <a:latin typeface="+mn-lt"/>
                <a:ea typeface="+mn-ea"/>
                <a:cs typeface="+mn-cs"/>
              </a:rPr>
              <a:t>execution.</a:t>
            </a:r>
            <a:endParaRPr lang="en-IN" dirty="0"/>
          </a:p>
        </p:txBody>
      </p:sp>
      <p:sp>
        <p:nvSpPr>
          <p:cNvPr id="4" name="Slide Number Placeholder 3"/>
          <p:cNvSpPr>
            <a:spLocks noGrp="1"/>
          </p:cNvSpPr>
          <p:nvPr>
            <p:ph type="sldNum" sz="quarter" idx="5"/>
          </p:nvPr>
        </p:nvSpPr>
        <p:spPr/>
        <p:txBody>
          <a:bodyPr/>
          <a:lstStyle/>
          <a:p>
            <a:fld id="{326BC001-CDB3-493C-AAC5-9F1C11B7D1F3}" type="slidenum">
              <a:rPr lang="en-IN" smtClean="0"/>
              <a:t>15</a:t>
            </a:fld>
            <a:endParaRPr lang="en-IN"/>
          </a:p>
        </p:txBody>
      </p:sp>
    </p:spTree>
    <p:extLst>
      <p:ext uri="{BB962C8B-B14F-4D97-AF65-F5344CB8AC3E}">
        <p14:creationId xmlns:p14="http://schemas.microsoft.com/office/powerpoint/2010/main" val="4127311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A31C3-043E-5421-ABAD-76E2A43AA9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9F9993-BC87-9E4C-E93E-EA159691B2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81C4E3-2308-2D64-6A71-92D83234A37A}"/>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5" name="Footer Placeholder 4">
            <a:extLst>
              <a:ext uri="{FF2B5EF4-FFF2-40B4-BE49-F238E27FC236}">
                <a16:creationId xmlns:a16="http://schemas.microsoft.com/office/drawing/2014/main" id="{BE638B8B-99F1-4B0B-556A-9190DBE0A6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C9ED6F-B396-AE7C-94F0-234084B08119}"/>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300964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EBD6-9461-199A-009D-3B5F83B994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4373E8-004D-1B81-AF7B-CF2534EDE1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41628D-7391-3B01-ABAE-B27BB638CF00}"/>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5" name="Footer Placeholder 4">
            <a:extLst>
              <a:ext uri="{FF2B5EF4-FFF2-40B4-BE49-F238E27FC236}">
                <a16:creationId xmlns:a16="http://schemas.microsoft.com/office/drawing/2014/main" id="{F8FA3E1E-E7C5-764F-62EE-DE8FF7F32C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665A4B-EFB7-AA8E-1539-191EF19EAD22}"/>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275966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2380-BE5D-58AF-5B3A-1F351193FB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02A885-EED1-1B67-2271-F2F482514D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EC5456-4847-FCBD-38E4-35B2440D670A}"/>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5" name="Footer Placeholder 4">
            <a:extLst>
              <a:ext uri="{FF2B5EF4-FFF2-40B4-BE49-F238E27FC236}">
                <a16:creationId xmlns:a16="http://schemas.microsoft.com/office/drawing/2014/main" id="{A66DFA84-9EA2-9E48-6B89-D36E4FB1FB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3058DB-3BA0-8610-9E5B-77DAAC7BBEC6}"/>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4226798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61B71-8DC3-62C8-F7E0-4F0B5EE1AA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F1C663-CC7D-55DB-4ACC-ADAE1E79C3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1C1DAD-CDED-02EA-4A0A-608EEEA693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FD595F-33B9-0382-BD59-5AA5D55BBAA1}"/>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6" name="Footer Placeholder 5">
            <a:extLst>
              <a:ext uri="{FF2B5EF4-FFF2-40B4-BE49-F238E27FC236}">
                <a16:creationId xmlns:a16="http://schemas.microsoft.com/office/drawing/2014/main" id="{1CC331A2-C076-433A-8C4B-74C8076B57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EB8E13-2B59-4E82-A8E0-E73DEC586675}"/>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2175487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8D46B-71FF-1798-08FF-A7D308AB42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605C2F-CE20-EE2F-C4CE-ABF62D9E57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03B2AC-46FE-EA08-C8E1-2F67ED2962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E734CA-5975-45A3-CE42-E2B01800E4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1AA7FB-DF44-09F7-3491-0A02AF9A2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9E03DF-533E-75CB-3253-67F3C80EDBD5}"/>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8" name="Footer Placeholder 7">
            <a:extLst>
              <a:ext uri="{FF2B5EF4-FFF2-40B4-BE49-F238E27FC236}">
                <a16:creationId xmlns:a16="http://schemas.microsoft.com/office/drawing/2014/main" id="{5A4DDFC4-33E2-EC86-9277-848485D856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D6B6E30-F69F-4CB5-2F73-7DE2A7597032}"/>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1958619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D57A-B8B6-E8F9-8112-C9C5722F42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5283348-371B-CA53-28C2-A9CB30ED2555}"/>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4" name="Footer Placeholder 3">
            <a:extLst>
              <a:ext uri="{FF2B5EF4-FFF2-40B4-BE49-F238E27FC236}">
                <a16:creationId xmlns:a16="http://schemas.microsoft.com/office/drawing/2014/main" id="{4523C317-A03A-507C-3541-5FCB6FD1A4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B5CD-7411-8DC9-9E26-590CB49BA403}"/>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1388412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ABA217-3351-5B6D-B303-FA1C85333576}"/>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3" name="Footer Placeholder 2">
            <a:extLst>
              <a:ext uri="{FF2B5EF4-FFF2-40B4-BE49-F238E27FC236}">
                <a16:creationId xmlns:a16="http://schemas.microsoft.com/office/drawing/2014/main" id="{373F3DF2-22C8-A1A6-E9E6-55BBE652BF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211230-5789-818D-7DD9-9D810F3D761D}"/>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3755155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8EED-D5BD-2AB1-2C4F-E2B8D568DA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0AC4F1-E2BD-9F2E-DEF1-9AF0F03094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382129-77F5-6479-BD73-4C3664937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C08A3B-EECD-117A-0FA8-1BABD3BD40A7}"/>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6" name="Footer Placeholder 5">
            <a:extLst>
              <a:ext uri="{FF2B5EF4-FFF2-40B4-BE49-F238E27FC236}">
                <a16:creationId xmlns:a16="http://schemas.microsoft.com/office/drawing/2014/main" id="{D7B88666-499B-1275-7398-8539D57FAD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FCC304-D5C9-8BB5-6C23-413A768868FE}"/>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3518389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EE6D-02DB-559D-AF7E-5F0930B831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DBD077-87AF-4EDF-E4CC-BE1E0DE59F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D2DF8F-9CA7-2ABD-CAD3-3DC352890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DD4AB9-3FCE-0F10-DF49-69CA0A542205}"/>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6" name="Footer Placeholder 5">
            <a:extLst>
              <a:ext uri="{FF2B5EF4-FFF2-40B4-BE49-F238E27FC236}">
                <a16:creationId xmlns:a16="http://schemas.microsoft.com/office/drawing/2014/main" id="{72161A4F-F91B-84D0-0F5C-2E653496D4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E6AFFB-EBE5-B1E8-5F85-FFC36F81B362}"/>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1334241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8AD4-ADF1-25EE-4A9E-9F35944575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D1F1D1-1C81-9BA4-02CE-BD5EDCC335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5E272C-6174-E099-2B5A-746BF6B2DBC2}"/>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5" name="Footer Placeholder 4">
            <a:extLst>
              <a:ext uri="{FF2B5EF4-FFF2-40B4-BE49-F238E27FC236}">
                <a16:creationId xmlns:a16="http://schemas.microsoft.com/office/drawing/2014/main" id="{6B5126D3-EA51-5BD3-6C50-EC4CEAC283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F76A8C-657D-9811-5B1F-0A1E5782B01B}"/>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1928563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4C25A9-8469-B996-5D83-EB407AD312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1D758-C0AD-4CF5-1344-C31E4D7711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70912F-8176-6305-A946-BC39B5988BEF}"/>
              </a:ext>
            </a:extLst>
          </p:cNvPr>
          <p:cNvSpPr>
            <a:spLocks noGrp="1"/>
          </p:cNvSpPr>
          <p:nvPr>
            <p:ph type="dt" sz="half" idx="10"/>
          </p:nvPr>
        </p:nvSpPr>
        <p:spPr/>
        <p:txBody>
          <a:bodyPr/>
          <a:lstStyle/>
          <a:p>
            <a:fld id="{DDFBB22B-3502-43B8-87F0-DA7C18CDC440}" type="datetimeFigureOut">
              <a:rPr lang="en-IN" smtClean="0"/>
              <a:t>01-08-2025</a:t>
            </a:fld>
            <a:endParaRPr lang="en-IN"/>
          </a:p>
        </p:txBody>
      </p:sp>
      <p:sp>
        <p:nvSpPr>
          <p:cNvPr id="5" name="Footer Placeholder 4">
            <a:extLst>
              <a:ext uri="{FF2B5EF4-FFF2-40B4-BE49-F238E27FC236}">
                <a16:creationId xmlns:a16="http://schemas.microsoft.com/office/drawing/2014/main" id="{FBB3B9F9-799C-40A0-58E7-D3C41A3E67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BE1E2D-183A-93AF-9021-7AAC23F0B11C}"/>
              </a:ext>
            </a:extLst>
          </p:cNvPr>
          <p:cNvSpPr>
            <a:spLocks noGrp="1"/>
          </p:cNvSpPr>
          <p:nvPr>
            <p:ph type="sldNum" sz="quarter" idx="12"/>
          </p:nvPr>
        </p:nvSpPr>
        <p:spPr/>
        <p:txBody>
          <a:bodyPr/>
          <a:lstStyle/>
          <a:p>
            <a:fld id="{CE38544A-A14D-492A-BB6F-A10830807375}" type="slidenum">
              <a:rPr lang="en-IN" smtClean="0"/>
              <a:t>‹#›</a:t>
            </a:fld>
            <a:endParaRPr lang="en-IN"/>
          </a:p>
        </p:txBody>
      </p:sp>
    </p:spTree>
    <p:extLst>
      <p:ext uri="{BB962C8B-B14F-4D97-AF65-F5344CB8AC3E}">
        <p14:creationId xmlns:p14="http://schemas.microsoft.com/office/powerpoint/2010/main" val="157084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E02421-40B4-F91E-176D-C70F0BDA6A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CF7876-2D03-3452-EC6C-C02DB9F7D8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98C0B5-5B42-247C-D85C-6624BB8DB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FBB22B-3502-43B8-87F0-DA7C18CDC440}" type="datetimeFigureOut">
              <a:rPr lang="en-IN" smtClean="0"/>
              <a:t>01-08-2025</a:t>
            </a:fld>
            <a:endParaRPr lang="en-IN"/>
          </a:p>
        </p:txBody>
      </p:sp>
      <p:sp>
        <p:nvSpPr>
          <p:cNvPr id="5" name="Footer Placeholder 4">
            <a:extLst>
              <a:ext uri="{FF2B5EF4-FFF2-40B4-BE49-F238E27FC236}">
                <a16:creationId xmlns:a16="http://schemas.microsoft.com/office/drawing/2014/main" id="{52C3E07A-55F1-A987-7B6C-EDF76022B8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B83391-F77F-9E37-1954-F3C8D4ACB3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38544A-A14D-492A-BB6F-A10830807375}" type="slidenum">
              <a:rPr lang="en-IN" smtClean="0"/>
              <a:t>‹#›</a:t>
            </a:fld>
            <a:endParaRPr lang="en-IN"/>
          </a:p>
        </p:txBody>
      </p:sp>
    </p:spTree>
    <p:extLst>
      <p:ext uri="{BB962C8B-B14F-4D97-AF65-F5344CB8AC3E}">
        <p14:creationId xmlns:p14="http://schemas.microsoft.com/office/powerpoint/2010/main" val="962863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ED31C6BD-88C1-061F-C46C-9F246C9F90E5}"/>
              </a:ext>
            </a:extLst>
          </p:cNvPr>
          <p:cNvSpPr/>
          <p:nvPr/>
        </p:nvSpPr>
        <p:spPr>
          <a:xfrm>
            <a:off x="8229600" y="377184"/>
            <a:ext cx="3282432" cy="658897"/>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
        <p:nvSpPr>
          <p:cNvPr id="5" name="TextBox 10">
            <a:extLst>
              <a:ext uri="{FF2B5EF4-FFF2-40B4-BE49-F238E27FC236}">
                <a16:creationId xmlns:a16="http://schemas.microsoft.com/office/drawing/2014/main" id="{CCBA3004-3E86-D1D4-657E-B3508F33EA23}"/>
              </a:ext>
            </a:extLst>
          </p:cNvPr>
          <p:cNvSpPr txBox="1"/>
          <p:nvPr/>
        </p:nvSpPr>
        <p:spPr>
          <a:xfrm>
            <a:off x="604696" y="927972"/>
            <a:ext cx="6619064" cy="6588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604"/>
              </a:lnSpc>
            </a:pPr>
            <a:r>
              <a:rPr lang="en-US" sz="4002" dirty="0">
                <a:solidFill>
                  <a:srgbClr val="000000"/>
                </a:solidFill>
                <a:latin typeface="Times New Roman" panose="02020603050405020304" pitchFamily="18" charset="0"/>
                <a:cs typeface="Times New Roman" panose="02020603050405020304" pitchFamily="18" charset="0"/>
              </a:rPr>
              <a:t>Presentation by Yi-</a:t>
            </a:r>
            <a:r>
              <a:rPr lang="en-US" sz="4002" dirty="0" err="1">
                <a:solidFill>
                  <a:srgbClr val="000000"/>
                </a:solidFill>
                <a:latin typeface="Times New Roman" panose="02020603050405020304" pitchFamily="18" charset="0"/>
                <a:cs typeface="Times New Roman" panose="02020603050405020304" pitchFamily="18" charset="0"/>
              </a:rPr>
              <a:t>Chih</a:t>
            </a:r>
            <a:r>
              <a:rPr lang="en-US" sz="4002" dirty="0">
                <a:solidFill>
                  <a:srgbClr val="000000"/>
                </a:solidFill>
                <a:latin typeface="Times New Roman" panose="02020603050405020304" pitchFamily="18" charset="0"/>
                <a:cs typeface="Times New Roman" panose="02020603050405020304" pitchFamily="18" charset="0"/>
              </a:rPr>
              <a:t> Tung</a:t>
            </a:r>
          </a:p>
        </p:txBody>
      </p:sp>
      <p:sp>
        <p:nvSpPr>
          <p:cNvPr id="6" name="TextBox 5">
            <a:extLst>
              <a:ext uri="{FF2B5EF4-FFF2-40B4-BE49-F238E27FC236}">
                <a16:creationId xmlns:a16="http://schemas.microsoft.com/office/drawing/2014/main" id="{ECE07D5E-2911-13DC-3C20-D93E0816FC0B}"/>
              </a:ext>
            </a:extLst>
          </p:cNvPr>
          <p:cNvSpPr txBox="1"/>
          <p:nvPr/>
        </p:nvSpPr>
        <p:spPr>
          <a:xfrm>
            <a:off x="604696" y="1586870"/>
            <a:ext cx="3939689" cy="105375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21"/>
              </a:lnSpc>
            </a:pPr>
            <a:r>
              <a:rPr lang="en-US" sz="6444" dirty="0">
                <a:solidFill>
                  <a:srgbClr val="000000"/>
                </a:solidFill>
                <a:latin typeface="Times New Roman" panose="02020603050405020304" pitchFamily="18" charset="0"/>
                <a:cs typeface="Times New Roman" panose="02020603050405020304" pitchFamily="18" charset="0"/>
              </a:rPr>
              <a:t>Chapter 10</a:t>
            </a:r>
          </a:p>
        </p:txBody>
      </p:sp>
      <p:sp>
        <p:nvSpPr>
          <p:cNvPr id="7" name="TextBox 6">
            <a:extLst>
              <a:ext uri="{FF2B5EF4-FFF2-40B4-BE49-F238E27FC236}">
                <a16:creationId xmlns:a16="http://schemas.microsoft.com/office/drawing/2014/main" id="{468657CA-862C-2C9A-35C7-6F5AEDA8DCA6}"/>
              </a:ext>
            </a:extLst>
          </p:cNvPr>
          <p:cNvSpPr txBox="1"/>
          <p:nvPr/>
        </p:nvSpPr>
        <p:spPr>
          <a:xfrm>
            <a:off x="668418" y="2720576"/>
            <a:ext cx="5427582" cy="400110"/>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Multiply / Divide</a:t>
            </a:r>
            <a:endParaRPr lang="en-IN" sz="28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2888ED2-B7BC-D5A0-BAF8-946F827AD48D}"/>
              </a:ext>
            </a:extLst>
          </p:cNvPr>
          <p:cNvPicPr>
            <a:picLocks noChangeAspect="1"/>
          </p:cNvPicPr>
          <p:nvPr/>
        </p:nvPicPr>
        <p:blipFill>
          <a:blip r:embed="rId3"/>
          <a:stretch>
            <a:fillRect/>
          </a:stretch>
        </p:blipFill>
        <p:spPr>
          <a:xfrm>
            <a:off x="6370345" y="1927631"/>
            <a:ext cx="5141687" cy="3856265"/>
          </a:xfrm>
          <a:prstGeom prst="rect">
            <a:avLst/>
          </a:prstGeom>
        </p:spPr>
      </p:pic>
    </p:spTree>
    <p:extLst>
      <p:ext uri="{BB962C8B-B14F-4D97-AF65-F5344CB8AC3E}">
        <p14:creationId xmlns:p14="http://schemas.microsoft.com/office/powerpoint/2010/main" val="21752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0A08F-8C14-9B19-3CE0-3ADA36C28F41}"/>
              </a:ext>
            </a:extLst>
          </p:cNvPr>
          <p:cNvSpPr>
            <a:spLocks noGrp="1"/>
          </p:cNvSpPr>
          <p:nvPr>
            <p:ph type="title"/>
          </p:nvPr>
        </p:nvSpPr>
        <p:spPr>
          <a:xfrm>
            <a:off x="838200" y="2429711"/>
            <a:ext cx="6124074" cy="838033"/>
          </a:xfrm>
        </p:spPr>
        <p:txBody>
          <a:bodyPr>
            <a:normAutofit/>
          </a:bodyPr>
          <a:lstStyle/>
          <a:p>
            <a:pPr algn="just"/>
            <a:r>
              <a:rPr lang="en-IN" sz="2800" b="1" dirty="0">
                <a:latin typeface="Times New Roman" panose="02020603050405020304" pitchFamily="18" charset="0"/>
                <a:cs typeface="Times New Roman" panose="02020603050405020304" pitchFamily="18" charset="0"/>
              </a:rPr>
              <a:t>Multiplication Operations</a:t>
            </a:r>
          </a:p>
        </p:txBody>
      </p:sp>
      <p:sp>
        <p:nvSpPr>
          <p:cNvPr id="6" name="Content Placeholder 5">
            <a:extLst>
              <a:ext uri="{FF2B5EF4-FFF2-40B4-BE49-F238E27FC236}">
                <a16:creationId xmlns:a16="http://schemas.microsoft.com/office/drawing/2014/main" id="{2FA1DAB5-5875-AAD8-5E60-46C6AE111309}"/>
              </a:ext>
            </a:extLst>
          </p:cNvPr>
          <p:cNvSpPr>
            <a:spLocks noGrp="1"/>
          </p:cNvSpPr>
          <p:nvPr>
            <p:ph idx="1"/>
          </p:nvPr>
        </p:nvSpPr>
        <p:spPr>
          <a:xfrm>
            <a:off x="838200" y="3346332"/>
            <a:ext cx="10407316" cy="2489701"/>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When you multiply a 32-bit value (multiplier) by another 32-bit value (multiplicand), you obtain a result (product) that is represented by up to 32+32 bits in length. Because of this, some architectures provide one opcode for </a:t>
            </a:r>
            <a:r>
              <a:rPr lang="en-IN" sz="2000" dirty="0">
                <a:latin typeface="Times New Roman" panose="02020603050405020304" pitchFamily="18" charset="0"/>
                <a:cs typeface="Times New Roman" panose="02020603050405020304" pitchFamily="18" charset="0"/>
              </a:rPr>
              <a:t>producing a product in a register pair. RISC-V takes a diff</a:t>
            </a:r>
            <a:r>
              <a:rPr lang="en-US" sz="2000" dirty="0" err="1">
                <a:latin typeface="Times New Roman" panose="02020603050405020304" pitchFamily="18" charset="0"/>
                <a:cs typeface="Times New Roman" panose="02020603050405020304" pitchFamily="18" charset="0"/>
              </a:rPr>
              <a:t>erent</a:t>
            </a:r>
            <a:r>
              <a:rPr lang="en-US" sz="2000" dirty="0">
                <a:latin typeface="Times New Roman" panose="02020603050405020304" pitchFamily="18" charset="0"/>
                <a:cs typeface="Times New Roman" panose="02020603050405020304" pitchFamily="18" charset="0"/>
              </a:rPr>
              <a:t> approach. It defines opcodes to produce only the low order word, or another to return the high order </a:t>
            </a:r>
            <a:r>
              <a:rPr lang="en-IN" sz="2000" dirty="0">
                <a:latin typeface="Times New Roman" panose="02020603050405020304" pitchFamily="18" charset="0"/>
                <a:cs typeface="Times New Roman" panose="02020603050405020304" pitchFamily="18" charset="0"/>
              </a:rPr>
              <a:t>product word.</a:t>
            </a:r>
          </a:p>
        </p:txBody>
      </p:sp>
      <p:sp>
        <p:nvSpPr>
          <p:cNvPr id="8" name="TextBox 7">
            <a:extLst>
              <a:ext uri="{FF2B5EF4-FFF2-40B4-BE49-F238E27FC236}">
                <a16:creationId xmlns:a16="http://schemas.microsoft.com/office/drawing/2014/main" id="{715AE9A6-9763-614C-D2BA-E4D46B253AA1}"/>
              </a:ext>
            </a:extLst>
          </p:cNvPr>
          <p:cNvSpPr txBox="1"/>
          <p:nvPr/>
        </p:nvSpPr>
        <p:spPr>
          <a:xfrm>
            <a:off x="838200" y="1106272"/>
            <a:ext cx="9974179" cy="1323439"/>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Integer multiplication and division are essential mathematic operations. Yet RISC-V defines these as an extension M, which permits vendors to create CPUs without this capability to save on cost. These operations can, of course, be performed in software but at the expense of CPU time. These added opcodes boost the overall performance of the CPU.</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99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505F-08EB-A8AE-8E10-94A751D31911}"/>
              </a:ext>
            </a:extLst>
          </p:cNvPr>
          <p:cNvSpPr>
            <a:spLocks noGrp="1"/>
          </p:cNvSpPr>
          <p:nvPr>
            <p:ph type="title"/>
          </p:nvPr>
        </p:nvSpPr>
        <p:spPr/>
        <p:txBody>
          <a:bodyPr/>
          <a:lstStyle/>
          <a:p>
            <a:pPr algn="just"/>
            <a:r>
              <a:rPr lang="en-IN" b="1" dirty="0">
                <a:latin typeface="Times New Roman" panose="02020603050405020304" pitchFamily="18" charset="0"/>
                <a:cs typeface="Times New Roman" panose="02020603050405020304" pitchFamily="18" charset="0"/>
              </a:rPr>
              <a:t>Signed Multiplication</a:t>
            </a:r>
          </a:p>
        </p:txBody>
      </p:sp>
      <p:sp>
        <p:nvSpPr>
          <p:cNvPr id="3" name="Content Placeholder 2">
            <a:extLst>
              <a:ext uri="{FF2B5EF4-FFF2-40B4-BE49-F238E27FC236}">
                <a16:creationId xmlns:a16="http://schemas.microsoft.com/office/drawing/2014/main" id="{A29710A0-FB82-471D-3C60-EF897D59E766}"/>
              </a:ext>
            </a:extLst>
          </p:cNvPr>
          <p:cNvSpPr>
            <a:spLocks noGrp="1"/>
          </p:cNvSpPr>
          <p:nvPr>
            <p:ph idx="1"/>
          </p:nvPr>
        </p:nvSpPr>
        <p:spPr>
          <a:xfrm>
            <a:off x="533400" y="1690688"/>
            <a:ext cx="11133667" cy="4802187"/>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Multiplication can be performed as unsigned or signed integer operations. Unsigned multiplication is often used for C language subscripting operations within an array or matrix, where the first element is at subscript 0.</a:t>
            </a:r>
          </a:p>
          <a:p>
            <a:pPr marL="0" indent="0" algn="just">
              <a:buNone/>
            </a:pPr>
            <a:r>
              <a:rPr lang="en-US" dirty="0">
                <a:latin typeface="Times New Roman" panose="02020603050405020304" pitchFamily="18" charset="0"/>
                <a:cs typeface="Times New Roman" panose="02020603050405020304" pitchFamily="18" charset="0"/>
              </a:rPr>
              <a:t>When multiplying signed numbers, the product's sign </a:t>
            </a:r>
            <a:r>
              <a:rPr lang="en-IN" dirty="0">
                <a:latin typeface="Times New Roman" panose="02020603050405020304" pitchFamily="18" charset="0"/>
                <a:cs typeface="Times New Roman" panose="02020603050405020304" pitchFamily="18" charset="0"/>
              </a:rPr>
              <a:t>obeys the following relationships:</a:t>
            </a:r>
          </a:p>
          <a:p>
            <a:pPr marL="0" indent="0" algn="just">
              <a:buNone/>
            </a:pPr>
            <a:r>
              <a:rPr lang="en-IN" dirty="0">
                <a:latin typeface="Times New Roman" panose="02020603050405020304" pitchFamily="18" charset="0"/>
                <a:cs typeface="Times New Roman" panose="02020603050405020304" pitchFamily="18" charset="0"/>
              </a:rPr>
              <a:t>• a positive ⅹ positive → positive</a:t>
            </a:r>
          </a:p>
          <a:p>
            <a:pPr marL="0" indent="0" algn="just">
              <a:buNone/>
            </a:pPr>
            <a:r>
              <a:rPr lang="it-IT" dirty="0">
                <a:latin typeface="Times New Roman" panose="02020603050405020304" pitchFamily="18" charset="0"/>
                <a:cs typeface="Times New Roman" panose="02020603050405020304" pitchFamily="18" charset="0"/>
              </a:rPr>
              <a:t>• a positive ⅹ negative → negative</a:t>
            </a:r>
          </a:p>
          <a:p>
            <a:pPr marL="0" indent="0" algn="just">
              <a:buNone/>
            </a:pPr>
            <a:r>
              <a:rPr lang="it-IT" dirty="0">
                <a:latin typeface="Times New Roman" panose="02020603050405020304" pitchFamily="18" charset="0"/>
                <a:cs typeface="Times New Roman" panose="02020603050405020304" pitchFamily="18" charset="0"/>
              </a:rPr>
              <a:t>• a negative ⅹ positive → negative</a:t>
            </a:r>
          </a:p>
          <a:p>
            <a:pPr marL="0" indent="0" algn="just">
              <a:buNone/>
            </a:pPr>
            <a:r>
              <a:rPr lang="it-IT" dirty="0">
                <a:latin typeface="Times New Roman" panose="02020603050405020304" pitchFamily="18" charset="0"/>
                <a:cs typeface="Times New Roman" panose="02020603050405020304" pitchFamily="18" charset="0"/>
              </a:rPr>
              <a:t>• a negative ⅹ negative → positive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3049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8C1E-C2B7-D632-09C2-D9355E4E8B2F}"/>
              </a:ext>
            </a:extLst>
          </p:cNvPr>
          <p:cNvSpPr>
            <a:spLocks noGrp="1"/>
          </p:cNvSpPr>
          <p:nvPr>
            <p:ph type="title"/>
          </p:nvPr>
        </p:nvSpPr>
        <p:spPr>
          <a:xfrm>
            <a:off x="838200" y="365126"/>
            <a:ext cx="10515600" cy="1048808"/>
          </a:xfrm>
        </p:spPr>
        <p:txBody>
          <a:bodyPr/>
          <a:lstStyle/>
          <a:p>
            <a:pPr algn="just"/>
            <a:r>
              <a:rPr lang="en-IN" b="1" dirty="0">
                <a:latin typeface="Times New Roman" panose="02020603050405020304" pitchFamily="18" charset="0"/>
                <a:cs typeface="Times New Roman" panose="02020603050405020304" pitchFamily="18" charset="0"/>
              </a:rPr>
              <a:t>Division Operations</a:t>
            </a:r>
          </a:p>
        </p:txBody>
      </p:sp>
      <p:sp>
        <p:nvSpPr>
          <p:cNvPr id="3" name="Content Placeholder 2">
            <a:extLst>
              <a:ext uri="{FF2B5EF4-FFF2-40B4-BE49-F238E27FC236}">
                <a16:creationId xmlns:a16="http://schemas.microsoft.com/office/drawing/2014/main" id="{D97CE4BF-1F05-E018-316B-8046813DC3CB}"/>
              </a:ext>
            </a:extLst>
          </p:cNvPr>
          <p:cNvSpPr>
            <a:spLocks noGrp="1"/>
          </p:cNvSpPr>
          <p:nvPr>
            <p:ph idx="1"/>
          </p:nvPr>
        </p:nvSpPr>
        <p:spPr>
          <a:xfrm>
            <a:off x="838200" y="1413933"/>
            <a:ext cx="10744200" cy="4763030"/>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When dividing a 32-bit number (dividend) by another 32-bit number (divisor), it produces a result (quotient) up to 32 bits in length. Dividing by 1 will do, this for example. Addition ally, when dividing integers, you may need the remainder. So, a division may be expected to produce both the quotient and remainder.</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sz="3300" b="1" dirty="0">
                <a:latin typeface="Times New Roman" panose="02020603050405020304" pitchFamily="18" charset="0"/>
                <a:cs typeface="Times New Roman" panose="02020603050405020304" pitchFamily="18" charset="0"/>
              </a:rPr>
              <a:t>Signed Division</a:t>
            </a:r>
          </a:p>
          <a:p>
            <a:pPr marL="0" indent="0" algn="just">
              <a:buNone/>
            </a:pPr>
            <a:r>
              <a:rPr lang="en-US" dirty="0">
                <a:latin typeface="Times New Roman" panose="02020603050405020304" pitchFamily="18" charset="0"/>
                <a:cs typeface="Times New Roman" panose="02020603050405020304" pitchFamily="18" charset="0"/>
              </a:rPr>
              <a:t>When dividing signed numbers, the quotient's and remainder's sign obeys the following </a:t>
            </a:r>
            <a:r>
              <a:rPr lang="en-IN" dirty="0">
                <a:latin typeface="Times New Roman" panose="02020603050405020304" pitchFamily="18" charset="0"/>
                <a:cs typeface="Times New Roman" panose="02020603050405020304" pitchFamily="18" charset="0"/>
              </a:rPr>
              <a:t>rules:</a:t>
            </a:r>
          </a:p>
          <a:p>
            <a:pPr marL="0" indent="0" algn="just">
              <a:buNone/>
            </a:pPr>
            <a:r>
              <a:rPr lang="en-IN" dirty="0">
                <a:latin typeface="Times New Roman" panose="02020603050405020304" pitchFamily="18" charset="0"/>
                <a:cs typeface="Times New Roman" panose="02020603050405020304" pitchFamily="18" charset="0"/>
              </a:rPr>
              <a:t>• a positive ÷ positive → positive quotient, positive remainder</a:t>
            </a:r>
          </a:p>
          <a:p>
            <a:pPr marL="0" indent="0" algn="just">
              <a:buNone/>
            </a:pPr>
            <a:r>
              <a:rPr lang="en-IN" dirty="0">
                <a:latin typeface="Times New Roman" panose="02020603050405020304" pitchFamily="18" charset="0"/>
                <a:cs typeface="Times New Roman" panose="02020603050405020304" pitchFamily="18" charset="0"/>
              </a:rPr>
              <a:t>• a positive ÷ negative → negative quotient, positive remainder</a:t>
            </a:r>
          </a:p>
          <a:p>
            <a:pPr marL="0" indent="0" algn="just">
              <a:buNone/>
            </a:pPr>
            <a:r>
              <a:rPr lang="en-IN" dirty="0">
                <a:latin typeface="Times New Roman" panose="02020603050405020304" pitchFamily="18" charset="0"/>
                <a:cs typeface="Times New Roman" panose="02020603050405020304" pitchFamily="18" charset="0"/>
              </a:rPr>
              <a:t>• a negative ÷ positive → negative quotient, positive remainder</a:t>
            </a:r>
          </a:p>
          <a:p>
            <a:pPr marL="0" indent="0" algn="just">
              <a:buNone/>
            </a:pPr>
            <a:r>
              <a:rPr lang="it-IT" dirty="0">
                <a:latin typeface="Times New Roman" panose="02020603050405020304" pitchFamily="18" charset="0"/>
                <a:cs typeface="Times New Roman" panose="02020603050405020304" pitchFamily="18" charset="0"/>
              </a:rPr>
              <a:t>• a negative ÷ negative → positive quotient, negative </a:t>
            </a:r>
            <a:r>
              <a:rPr lang="en-IN" dirty="0">
                <a:latin typeface="Times New Roman" panose="02020603050405020304" pitchFamily="18" charset="0"/>
                <a:cs typeface="Times New Roman" panose="02020603050405020304" pitchFamily="18" charset="0"/>
              </a:rPr>
              <a:t>remainder</a:t>
            </a:r>
          </a:p>
        </p:txBody>
      </p:sp>
    </p:spTree>
    <p:extLst>
      <p:ext uri="{BB962C8B-B14F-4D97-AF65-F5344CB8AC3E}">
        <p14:creationId xmlns:p14="http://schemas.microsoft.com/office/powerpoint/2010/main" val="353590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70E2CE-850A-0B69-1CF8-3B64A7CC2E48}"/>
              </a:ext>
            </a:extLst>
          </p:cNvPr>
          <p:cNvSpPr txBox="1"/>
          <p:nvPr/>
        </p:nvSpPr>
        <p:spPr>
          <a:xfrm>
            <a:off x="495087" y="672578"/>
            <a:ext cx="5167776" cy="923330"/>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Opcode </a:t>
            </a:r>
            <a:r>
              <a:rPr lang="en-IN" sz="1800" b="1" i="0" u="none" strike="noStrike" baseline="0" dirty="0" err="1">
                <a:latin typeface="Times New Roman" panose="02020603050405020304" pitchFamily="18" charset="0"/>
                <a:cs typeface="Times New Roman" panose="02020603050405020304" pitchFamily="18" charset="0"/>
              </a:rPr>
              <a:t>mul</a:t>
            </a:r>
            <a:r>
              <a:rPr lang="en-IN" sz="1800" b="1" i="0" u="none" strike="noStrike" baseline="0" dirty="0">
                <a:latin typeface="Times New Roman" panose="02020603050405020304" pitchFamily="18" charset="0"/>
                <a:cs typeface="Times New Roman" panose="02020603050405020304" pitchFamily="18" charset="0"/>
              </a:rPr>
              <a:t>/</a:t>
            </a:r>
            <a:r>
              <a:rPr lang="en-IN" sz="1800" b="1" i="0" u="none" strike="noStrike" baseline="0" dirty="0" err="1">
                <a:latin typeface="Times New Roman" panose="02020603050405020304" pitchFamily="18" charset="0"/>
                <a:cs typeface="Times New Roman" panose="02020603050405020304" pitchFamily="18" charset="0"/>
              </a:rPr>
              <a:t>mulu</a:t>
            </a:r>
            <a:endParaRPr lang="en-IN" sz="1800" b="1"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The RISC-V integer multiplication opcode is "</a:t>
            </a:r>
            <a:r>
              <a:rPr lang="en-US" sz="1800" b="0" i="0" u="none" strike="noStrike" baseline="0" dirty="0" err="1">
                <a:latin typeface="Times New Roman" panose="02020603050405020304" pitchFamily="18" charset="0"/>
                <a:cs typeface="Times New Roman" panose="02020603050405020304" pitchFamily="18" charset="0"/>
              </a:rPr>
              <a:t>mul</a:t>
            </a:r>
            <a:r>
              <a:rPr lang="en-US" sz="1800" b="0" i="0" u="none" strike="noStrike" baseline="0" dirty="0">
                <a:latin typeface="Times New Roman" panose="02020603050405020304" pitchFamily="18" charset="0"/>
                <a:cs typeface="Times New Roman" panose="02020603050405020304" pitchFamily="18" charset="0"/>
              </a:rPr>
              <a:t>" or</a:t>
            </a:r>
            <a:endParaRPr lang="en-US"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a:t>
            </a:r>
            <a:r>
              <a:rPr lang="en-US" sz="1800" b="0" i="0" u="none" strike="noStrike" baseline="0" dirty="0" err="1">
                <a:latin typeface="Times New Roman" panose="02020603050405020304" pitchFamily="18" charset="0"/>
                <a:cs typeface="Times New Roman" panose="02020603050405020304" pitchFamily="18" charset="0"/>
              </a:rPr>
              <a:t>mulu</a:t>
            </a:r>
            <a:r>
              <a:rPr lang="en-US" sz="1800" b="0" i="0" u="none" strike="noStrike" baseline="0" dirty="0">
                <a:latin typeface="Times New Roman" panose="02020603050405020304" pitchFamily="18" charset="0"/>
                <a:cs typeface="Times New Roman" panose="02020603050405020304" pitchFamily="18" charset="0"/>
              </a:rPr>
              <a:t>" for signed and unsigned re </a:t>
            </a:r>
            <a:r>
              <a:rPr lang="en-US" sz="1800" b="0" i="0" u="none" strike="noStrike" baseline="0" dirty="0" err="1">
                <a:latin typeface="Times New Roman" panose="02020603050405020304" pitchFamily="18" charset="0"/>
                <a:cs typeface="Times New Roman" panose="02020603050405020304" pitchFamily="18" charset="0"/>
              </a:rPr>
              <a:t>spectively</a:t>
            </a:r>
            <a:r>
              <a:rPr lang="en-US" sz="1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370849B-C6AB-35FB-9646-84FACB1C9FE5}"/>
              </a:ext>
            </a:extLst>
          </p:cNvPr>
          <p:cNvPicPr>
            <a:picLocks noChangeAspect="1"/>
          </p:cNvPicPr>
          <p:nvPr/>
        </p:nvPicPr>
        <p:blipFill>
          <a:blip r:embed="rId2"/>
          <a:stretch>
            <a:fillRect/>
          </a:stretch>
        </p:blipFill>
        <p:spPr>
          <a:xfrm>
            <a:off x="552599" y="2141905"/>
            <a:ext cx="5110264" cy="540913"/>
          </a:xfrm>
          <a:prstGeom prst="rect">
            <a:avLst/>
          </a:prstGeom>
        </p:spPr>
      </p:pic>
      <p:sp>
        <p:nvSpPr>
          <p:cNvPr id="9" name="TextBox 8">
            <a:extLst>
              <a:ext uri="{FF2B5EF4-FFF2-40B4-BE49-F238E27FC236}">
                <a16:creationId xmlns:a16="http://schemas.microsoft.com/office/drawing/2014/main" id="{DBDEA37C-781B-9AEE-343D-615A4A86B403}"/>
              </a:ext>
            </a:extLst>
          </p:cNvPr>
          <p:cNvSpPr txBox="1"/>
          <p:nvPr/>
        </p:nvSpPr>
        <p:spPr>
          <a:xfrm>
            <a:off x="495088" y="3169812"/>
            <a:ext cx="5110264" cy="1200329"/>
          </a:xfrm>
          <a:prstGeom prst="rect">
            <a:avLst/>
          </a:prstGeom>
          <a:noFill/>
        </p:spPr>
        <p:txBody>
          <a:bodyPr wrap="square">
            <a:spAutoFit/>
          </a:bodyPr>
          <a:lstStyle/>
          <a:p>
            <a:pPr algn="just"/>
            <a:r>
              <a:rPr lang="en-US" sz="1800" b="0" i="0" u="none" strike="noStrike" baseline="0" dirty="0">
                <a:latin typeface="Times New Roman" panose="02020603050405020304" pitchFamily="18" charset="0"/>
                <a:cs typeface="Times New Roman" panose="02020603050405020304" pitchFamily="18" charset="0"/>
              </a:rPr>
              <a:t>The destination register receives the lower XLEN bits of the product. To obtain the upper XLEN bits of the product, the "</a:t>
            </a:r>
            <a:r>
              <a:rPr lang="en-US" sz="1800" b="0" i="0" u="none" strike="noStrike" baseline="0" dirty="0" err="1">
                <a:latin typeface="Times New Roman" panose="02020603050405020304" pitchFamily="18" charset="0"/>
                <a:cs typeface="Times New Roman" panose="02020603050405020304" pitchFamily="18" charset="0"/>
              </a:rPr>
              <a:t>mulhs</a:t>
            </a:r>
            <a:r>
              <a:rPr lang="en-US" sz="1800" b="0" i="0" u="none" strike="noStrike" baseline="0" dirty="0">
                <a:latin typeface="Times New Roman" panose="02020603050405020304" pitchFamily="18" charset="0"/>
                <a:cs typeface="Times New Roman" panose="02020603050405020304" pitchFamily="18" charset="0"/>
              </a:rPr>
              <a:t>" (signed) or "</a:t>
            </a:r>
            <a:r>
              <a:rPr lang="en-US" sz="1800" b="0" i="0" u="none" strike="noStrike" baseline="0" dirty="0" err="1">
                <a:latin typeface="Times New Roman" panose="02020603050405020304" pitchFamily="18" charset="0"/>
                <a:cs typeface="Times New Roman" panose="02020603050405020304" pitchFamily="18" charset="0"/>
              </a:rPr>
              <a:t>mulhu</a:t>
            </a:r>
            <a:r>
              <a:rPr lang="en-US" sz="1800" b="0" i="0" u="none" strike="noStrike" baseline="0" dirty="0">
                <a:latin typeface="Times New Roman" panose="02020603050405020304" pitchFamily="18" charset="0"/>
                <a:cs typeface="Times New Roman" panose="02020603050405020304" pitchFamily="18" charset="0"/>
              </a:rPr>
              <a:t>" (unsigned) </a:t>
            </a:r>
            <a:r>
              <a:rPr lang="en-IN" sz="1800" b="0" i="0" u="none" strike="noStrike" baseline="0" dirty="0">
                <a:latin typeface="Times New Roman" panose="02020603050405020304" pitchFamily="18" charset="0"/>
                <a:cs typeface="Times New Roman" panose="02020603050405020304" pitchFamily="18" charset="0"/>
              </a:rPr>
              <a:t>opcodes are available.</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F7DBD6E-DE13-E372-5321-E70532E6244E}"/>
              </a:ext>
            </a:extLst>
          </p:cNvPr>
          <p:cNvSpPr txBox="1"/>
          <p:nvPr/>
        </p:nvSpPr>
        <p:spPr>
          <a:xfrm>
            <a:off x="444285" y="4743716"/>
            <a:ext cx="5305243" cy="1200329"/>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Opcode </a:t>
            </a:r>
            <a:r>
              <a:rPr lang="en-IN" sz="1800" b="1" i="0" u="none" strike="noStrike" baseline="0" dirty="0" err="1">
                <a:latin typeface="Times New Roman" panose="02020603050405020304" pitchFamily="18" charset="0"/>
                <a:cs typeface="Times New Roman" panose="02020603050405020304" pitchFamily="18" charset="0"/>
              </a:rPr>
              <a:t>mulhs</a:t>
            </a:r>
            <a:r>
              <a:rPr lang="en-IN" sz="1800" b="1" i="0" u="none" strike="noStrike" baseline="0" dirty="0">
                <a:latin typeface="Times New Roman" panose="02020603050405020304" pitchFamily="18" charset="0"/>
                <a:cs typeface="Times New Roman" panose="02020603050405020304" pitchFamily="18" charset="0"/>
              </a:rPr>
              <a:t>/</a:t>
            </a:r>
            <a:r>
              <a:rPr lang="en-IN" sz="1800" b="1" i="0" u="none" strike="noStrike" baseline="0" dirty="0" err="1">
                <a:latin typeface="Times New Roman" panose="02020603050405020304" pitchFamily="18" charset="0"/>
                <a:cs typeface="Times New Roman" panose="02020603050405020304" pitchFamily="18" charset="0"/>
              </a:rPr>
              <a:t>mulhu</a:t>
            </a:r>
            <a:endParaRPr lang="en-IN" sz="1800" b="1"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To obtain the upper XLEN bits of the product, use the "</a:t>
            </a:r>
            <a:r>
              <a:rPr lang="en-US" sz="1800" b="0" i="0" u="none" strike="noStrike" baseline="0" dirty="0" err="1">
                <a:latin typeface="Times New Roman" panose="02020603050405020304" pitchFamily="18" charset="0"/>
                <a:cs typeface="Times New Roman" panose="02020603050405020304" pitchFamily="18" charset="0"/>
              </a:rPr>
              <a:t>mulh</a:t>
            </a:r>
            <a:r>
              <a:rPr lang="en-US" sz="1800" b="0" i="0" u="none" strike="noStrike" baseline="0" dirty="0">
                <a:latin typeface="Times New Roman" panose="02020603050405020304" pitchFamily="18" charset="0"/>
                <a:cs typeface="Times New Roman" panose="02020603050405020304" pitchFamily="18" charset="0"/>
              </a:rPr>
              <a:t>" or "</a:t>
            </a:r>
            <a:r>
              <a:rPr lang="en-US" sz="1800" b="0" i="0" u="none" strike="noStrike" baseline="0" dirty="0" err="1">
                <a:latin typeface="Times New Roman" panose="02020603050405020304" pitchFamily="18" charset="0"/>
                <a:cs typeface="Times New Roman" panose="02020603050405020304" pitchFamily="18" charset="0"/>
              </a:rPr>
              <a:t>mulhu</a:t>
            </a:r>
            <a:r>
              <a:rPr lang="en-US" sz="1800" b="0" i="0" u="none" strike="noStrike" baseline="0" dirty="0">
                <a:latin typeface="Times New Roman" panose="02020603050405020304" pitchFamily="18" charset="0"/>
                <a:cs typeface="Times New Roman" panose="02020603050405020304" pitchFamily="18" charset="0"/>
              </a:rPr>
              <a:t>" opcodes for signed and unsigned </a:t>
            </a:r>
            <a:r>
              <a:rPr lang="en-IN" sz="1800" b="0" i="0" u="none" strike="noStrike" baseline="0" dirty="0">
                <a:latin typeface="Times New Roman" panose="02020603050405020304" pitchFamily="18" charset="0"/>
                <a:cs typeface="Times New Roman" panose="02020603050405020304" pitchFamily="18" charset="0"/>
              </a:rPr>
              <a:t>respectively:</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0862391-C4E1-4CB6-BEB7-792FCDB75C2D}"/>
              </a:ext>
            </a:extLst>
          </p:cNvPr>
          <p:cNvSpPr txBox="1"/>
          <p:nvPr/>
        </p:nvSpPr>
        <p:spPr>
          <a:xfrm>
            <a:off x="5958305" y="672578"/>
            <a:ext cx="6096000" cy="4524315"/>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Optimized Multiply</a:t>
            </a:r>
          </a:p>
          <a:p>
            <a:pPr algn="just"/>
            <a:r>
              <a:rPr lang="en-US" sz="1800" b="0" i="0" u="none" strike="noStrike" baseline="0" dirty="0">
                <a:latin typeface="Times New Roman" panose="02020603050405020304" pitchFamily="18" charset="0"/>
                <a:cs typeface="Times New Roman" panose="02020603050405020304" pitchFamily="18" charset="0"/>
              </a:rPr>
              <a:t>To get the full XLEN+XLEN bit product, use the following back-to-back instructions for signed multiply, </a:t>
            </a:r>
            <a:r>
              <a:rPr lang="en-IN" sz="1800" b="0" i="0" u="none" strike="noStrike" baseline="0" dirty="0">
                <a:latin typeface="Times New Roman" panose="02020603050405020304" pitchFamily="18" charset="0"/>
                <a:cs typeface="Times New Roman" panose="02020603050405020304" pitchFamily="18" charset="0"/>
              </a:rPr>
              <a:t>in this specific sequence:</a:t>
            </a:r>
          </a:p>
          <a:p>
            <a:pPr algn="just"/>
            <a:r>
              <a:rPr lang="en-US" sz="1800" b="0" i="0" u="none" strike="noStrike" baseline="0" dirty="0">
                <a:latin typeface="Times New Roman" panose="02020603050405020304" pitchFamily="18" charset="0"/>
                <a:cs typeface="Times New Roman" panose="02020603050405020304" pitchFamily="18" charset="0"/>
              </a:rPr>
              <a:t>The destination register </a:t>
            </a:r>
            <a:r>
              <a:rPr lang="en-US" sz="1800" b="0" i="0" u="none" strike="noStrike" baseline="0" dirty="0" err="1">
                <a:latin typeface="Times New Roman" panose="02020603050405020304" pitchFamily="18" charset="0"/>
                <a:cs typeface="Times New Roman" panose="02020603050405020304" pitchFamily="18" charset="0"/>
              </a:rPr>
              <a:t>rdh</a:t>
            </a:r>
            <a:r>
              <a:rPr lang="en-US" sz="1800" b="0" i="0" u="none" strike="noStrike" baseline="0" dirty="0">
                <a:latin typeface="Times New Roman" panose="02020603050405020304" pitchFamily="18" charset="0"/>
                <a:cs typeface="Times New Roman" panose="02020603050405020304" pitchFamily="18" charset="0"/>
              </a:rPr>
              <a:t> receives the high order product word while </a:t>
            </a:r>
            <a:r>
              <a:rPr lang="en-US" sz="1800" b="0" i="0" u="none" strike="noStrike" baseline="0" dirty="0" err="1">
                <a:latin typeface="Times New Roman" panose="02020603050405020304" pitchFamily="18" charset="0"/>
                <a:cs typeface="Times New Roman" panose="02020603050405020304" pitchFamily="18" charset="0"/>
              </a:rPr>
              <a:t>rdl</a:t>
            </a:r>
            <a:r>
              <a:rPr lang="en-US" sz="1800" b="0" i="0" u="none" strike="noStrike" baseline="0" dirty="0">
                <a:latin typeface="Times New Roman" panose="02020603050405020304" pitchFamily="18" charset="0"/>
                <a:cs typeface="Times New Roman" panose="02020603050405020304" pitchFamily="18" charset="0"/>
              </a:rPr>
              <a:t> receives the low order product word. Register </a:t>
            </a:r>
            <a:r>
              <a:rPr lang="en-US" sz="1800" b="0" i="0" u="none" strike="noStrike" baseline="0" dirty="0" err="1">
                <a:latin typeface="Times New Roman" panose="02020603050405020304" pitchFamily="18" charset="0"/>
                <a:cs typeface="Times New Roman" panose="02020603050405020304" pitchFamily="18" charset="0"/>
              </a:rPr>
              <a:t>rdh</a:t>
            </a:r>
            <a:r>
              <a:rPr lang="en-US" sz="1800" b="0" i="0" u="none" strike="noStrike" baseline="0" dirty="0">
                <a:latin typeface="Times New Roman" panose="02020603050405020304" pitchFamily="18" charset="0"/>
                <a:cs typeface="Times New Roman" panose="02020603050405020304" pitchFamily="18" charset="0"/>
              </a:rPr>
              <a:t> cannot be the same as rs1 or rs2 for the optimized operation. For unsigned products use the </a:t>
            </a:r>
            <a:r>
              <a:rPr lang="en-IN" sz="1800" b="0" i="0" u="none" strike="noStrike" baseline="0" dirty="0">
                <a:latin typeface="Times New Roman" panose="02020603050405020304" pitchFamily="18" charset="0"/>
                <a:cs typeface="Times New Roman" panose="02020603050405020304" pitchFamily="18" charset="0"/>
              </a:rPr>
              <a:t>following sequence instead:</a:t>
            </a:r>
          </a:p>
          <a:p>
            <a:pPr algn="just"/>
            <a:r>
              <a:rPr lang="en-US" sz="1800" b="0" i="0" u="none" strike="noStrike" baseline="0" dirty="0">
                <a:latin typeface="Times New Roman" panose="02020603050405020304" pitchFamily="18" charset="0"/>
                <a:cs typeface="Times New Roman" panose="02020603050405020304" pitchFamily="18" charset="0"/>
              </a:rPr>
              <a:t>For the multiply to function optimally, the following </a:t>
            </a:r>
            <a:r>
              <a:rPr lang="en-IN" sz="1800" b="0" i="0" u="none" strike="noStrike" baseline="0" dirty="0">
                <a:latin typeface="Times New Roman" panose="02020603050405020304" pitchFamily="18" charset="0"/>
                <a:cs typeface="Times New Roman" panose="02020603050405020304" pitchFamily="18" charset="0"/>
              </a:rPr>
              <a:t>rules must be observed:</a:t>
            </a:r>
          </a:p>
          <a:p>
            <a:pPr algn="just"/>
            <a:r>
              <a:rPr lang="en-US" sz="1800" b="0" i="0" u="none" strike="noStrike" baseline="0" dirty="0">
                <a:latin typeface="Times New Roman" panose="02020603050405020304" pitchFamily="18" charset="0"/>
                <a:cs typeface="Times New Roman" panose="02020603050405020304" pitchFamily="18" charset="0"/>
              </a:rPr>
              <a:t>1. The </a:t>
            </a:r>
            <a:r>
              <a:rPr lang="en-US" sz="1800" b="0" i="0" u="none" strike="noStrike" baseline="0" dirty="0" err="1">
                <a:latin typeface="Times New Roman" panose="02020603050405020304" pitchFamily="18" charset="0"/>
                <a:cs typeface="Times New Roman" panose="02020603050405020304" pitchFamily="18" charset="0"/>
              </a:rPr>
              <a:t>mulhs</a:t>
            </a:r>
            <a:r>
              <a:rPr lang="en-US" sz="1800" b="0" i="0" u="none" strike="noStrike" baseline="0" dirty="0">
                <a:latin typeface="Times New Roman" panose="02020603050405020304" pitchFamily="18" charset="0"/>
                <a:cs typeface="Times New Roman" panose="02020603050405020304" pitchFamily="18" charset="0"/>
              </a:rPr>
              <a:t> or </a:t>
            </a:r>
            <a:r>
              <a:rPr lang="en-US" sz="1800" b="0" i="0" u="none" strike="noStrike" baseline="0" dirty="0" err="1">
                <a:latin typeface="Times New Roman" panose="02020603050405020304" pitchFamily="18" charset="0"/>
                <a:cs typeface="Times New Roman" panose="02020603050405020304" pitchFamily="18" charset="0"/>
              </a:rPr>
              <a:t>mulhu</a:t>
            </a:r>
            <a:r>
              <a:rPr lang="en-US" sz="1800" b="0" i="0" u="none" strike="noStrike" baseline="0" dirty="0">
                <a:latin typeface="Times New Roman" panose="02020603050405020304" pitchFamily="18" charset="0"/>
                <a:cs typeface="Times New Roman" panose="02020603050405020304" pitchFamily="18" charset="0"/>
              </a:rPr>
              <a:t> opcode must occur first.</a:t>
            </a:r>
          </a:p>
          <a:p>
            <a:pPr algn="just"/>
            <a:r>
              <a:rPr lang="en-US" sz="1800" b="0" i="0" u="none" strike="noStrike" baseline="0" dirty="0">
                <a:latin typeface="Times New Roman" panose="02020603050405020304" pitchFamily="18" charset="0"/>
                <a:cs typeface="Times New Roman" panose="02020603050405020304" pitchFamily="18" charset="0"/>
              </a:rPr>
              <a:t>2. The </a:t>
            </a:r>
            <a:r>
              <a:rPr lang="en-US" sz="1800" b="0" i="0" u="none" strike="noStrike" baseline="0" dirty="0" err="1">
                <a:latin typeface="Times New Roman" panose="02020603050405020304" pitchFamily="18" charset="0"/>
                <a:cs typeface="Times New Roman" panose="02020603050405020304" pitchFamily="18" charset="0"/>
              </a:rPr>
              <a:t>mul</a:t>
            </a:r>
            <a:r>
              <a:rPr lang="en-US" sz="1800" b="0" i="0" u="none" strike="noStrike" baseline="0" dirty="0">
                <a:latin typeface="Times New Roman" panose="02020603050405020304" pitchFamily="18" charset="0"/>
                <a:cs typeface="Times New Roman" panose="02020603050405020304" pitchFamily="18" charset="0"/>
              </a:rPr>
              <a:t> or </a:t>
            </a:r>
            <a:r>
              <a:rPr lang="en-US" sz="1800" b="0" i="0" u="none" strike="noStrike" baseline="0" dirty="0" err="1">
                <a:latin typeface="Times New Roman" panose="02020603050405020304" pitchFamily="18" charset="0"/>
                <a:cs typeface="Times New Roman" panose="02020603050405020304" pitchFamily="18" charset="0"/>
              </a:rPr>
              <a:t>mulu</a:t>
            </a:r>
            <a:r>
              <a:rPr lang="en-US" sz="1800" b="0" i="0" u="none" strike="noStrike" baseline="0" dirty="0">
                <a:latin typeface="Times New Roman" panose="02020603050405020304" pitchFamily="18" charset="0"/>
                <a:cs typeface="Times New Roman" panose="02020603050405020304" pitchFamily="18" charset="0"/>
              </a:rPr>
              <a:t> opcode must immediately follow.</a:t>
            </a:r>
          </a:p>
          <a:p>
            <a:pPr algn="just"/>
            <a:r>
              <a:rPr lang="en-US" sz="1800" b="0" i="0" u="none" strike="noStrike" baseline="0" dirty="0">
                <a:latin typeface="Times New Roman" panose="02020603050405020304" pitchFamily="18" charset="0"/>
                <a:cs typeface="Times New Roman" panose="02020603050405020304" pitchFamily="18" charset="0"/>
              </a:rPr>
              <a:t>3. Source registers rs1 and rs2 must be provided in the same order for both instructions.</a:t>
            </a:r>
          </a:p>
          <a:p>
            <a:pPr algn="just"/>
            <a:r>
              <a:rPr lang="en-US" sz="1800" b="0" i="0" u="none" strike="noStrike" baseline="0" dirty="0">
                <a:latin typeface="Times New Roman" panose="02020603050405020304" pitchFamily="18" charset="0"/>
                <a:cs typeface="Times New Roman" panose="02020603050405020304" pitchFamily="18" charset="0"/>
              </a:rPr>
              <a:t>4. And the destination register </a:t>
            </a:r>
            <a:r>
              <a:rPr lang="en-US" sz="1800" b="0" i="0" u="none" strike="noStrike" baseline="0" dirty="0" err="1">
                <a:latin typeface="Times New Roman" panose="02020603050405020304" pitchFamily="18" charset="0"/>
                <a:cs typeface="Times New Roman" panose="02020603050405020304" pitchFamily="18" charset="0"/>
              </a:rPr>
              <a:t>rdh</a:t>
            </a:r>
            <a:r>
              <a:rPr lang="en-US" sz="1800" b="0" i="0" u="none" strike="noStrike" baseline="0" dirty="0">
                <a:latin typeface="Times New Roman" panose="02020603050405020304" pitchFamily="18" charset="0"/>
                <a:cs typeface="Times New Roman" panose="02020603050405020304" pitchFamily="18" charset="0"/>
              </a:rPr>
              <a:t> cannot be rs1 or rs2. </a:t>
            </a:r>
            <a:r>
              <a:rPr lang="en-IN" sz="1800" b="0" i="0" u="none" strike="noStrike" baseline="0" dirty="0">
                <a:latin typeface="Times New Roman" panose="02020603050405020304" pitchFamily="18" charset="0"/>
                <a:cs typeface="Times New Roman" panose="02020603050405020304" pitchFamily="18" charset="0"/>
              </a:rPr>
              <a:t>Unsigned Factorial</a:t>
            </a:r>
            <a:endParaRPr lang="en-IN"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E0B8356C-8F00-B66A-A576-316821C55D65}"/>
              </a:ext>
            </a:extLst>
          </p:cNvPr>
          <p:cNvPicPr>
            <a:picLocks noChangeAspect="1"/>
          </p:cNvPicPr>
          <p:nvPr/>
        </p:nvPicPr>
        <p:blipFill>
          <a:blip r:embed="rId3"/>
          <a:stretch>
            <a:fillRect/>
          </a:stretch>
        </p:blipFill>
        <p:spPr>
          <a:xfrm>
            <a:off x="6265327" y="5546841"/>
            <a:ext cx="5290081" cy="549159"/>
          </a:xfrm>
          <a:prstGeom prst="rect">
            <a:avLst/>
          </a:prstGeom>
        </p:spPr>
      </p:pic>
      <p:cxnSp>
        <p:nvCxnSpPr>
          <p:cNvPr id="17" name="Straight Connector 16">
            <a:extLst>
              <a:ext uri="{FF2B5EF4-FFF2-40B4-BE49-F238E27FC236}">
                <a16:creationId xmlns:a16="http://schemas.microsoft.com/office/drawing/2014/main" id="{A9E5F380-A754-5760-211D-3E6D131B656F}"/>
              </a:ext>
            </a:extLst>
          </p:cNvPr>
          <p:cNvCxnSpPr/>
          <p:nvPr/>
        </p:nvCxnSpPr>
        <p:spPr>
          <a:xfrm>
            <a:off x="5800330" y="313267"/>
            <a:ext cx="0" cy="6096000"/>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1019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3828F-AB03-549D-3247-1086EFA87432}"/>
              </a:ext>
            </a:extLst>
          </p:cNvPr>
          <p:cNvSpPr>
            <a:spLocks noGrp="1"/>
          </p:cNvSpPr>
          <p:nvPr>
            <p:ph type="title"/>
          </p:nvPr>
        </p:nvSpPr>
        <p:spPr/>
        <p:txBody>
          <a:bodyPr>
            <a:normAutofit/>
          </a:bodyPr>
          <a:lstStyle/>
          <a:p>
            <a:pPr algn="just"/>
            <a:r>
              <a:rPr lang="en-IN" sz="4000" b="1" dirty="0">
                <a:latin typeface="Times New Roman" panose="02020603050405020304" pitchFamily="18" charset="0"/>
                <a:cs typeface="Times New Roman" panose="02020603050405020304" pitchFamily="18" charset="0"/>
              </a:rPr>
              <a:t>Unsigned Factorial</a:t>
            </a:r>
          </a:p>
        </p:txBody>
      </p:sp>
      <p:sp>
        <p:nvSpPr>
          <p:cNvPr id="3" name="Content Placeholder 2">
            <a:extLst>
              <a:ext uri="{FF2B5EF4-FFF2-40B4-BE49-F238E27FC236}">
                <a16:creationId xmlns:a16="http://schemas.microsoft.com/office/drawing/2014/main" id="{37F8A339-BCD1-4D70-B8D4-EEE5283B5701}"/>
              </a:ext>
            </a:extLst>
          </p:cNvPr>
          <p:cNvSpPr>
            <a:spLocks noGrp="1"/>
          </p:cNvSpPr>
          <p:nvPr>
            <p:ph idx="1"/>
          </p:nvPr>
        </p:nvSpPr>
        <p:spPr>
          <a:xfrm>
            <a:off x="906379" y="1690688"/>
            <a:ext cx="10379242" cy="4235116"/>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Exercise for the ESP32-C3 device, let's compute an unsigned factorial value of x! The ufact32() function computes the factorial without checking for overflow but is otherwise, designed to be as frugal as possible.</a:t>
            </a:r>
          </a:p>
          <a:p>
            <a:pPr marL="0" indent="0" algn="just">
              <a:buNone/>
            </a:pPr>
            <a:r>
              <a:rPr lang="en-IN" sz="2000" dirty="0">
                <a:latin typeface="Times New Roman" panose="02020603050405020304" pitchFamily="18" charset="0"/>
                <a:cs typeface="Times New Roman" panose="02020603050405020304" pitchFamily="18" charset="0"/>
              </a:rPr>
              <a:t>Unsigned factorial in: ~/</a:t>
            </a:r>
            <a:r>
              <a:rPr lang="en-IN" sz="2000" dirty="0" err="1">
                <a:latin typeface="Times New Roman" panose="02020603050405020304" pitchFamily="18" charset="0"/>
                <a:cs typeface="Times New Roman" panose="02020603050405020304" pitchFamily="18" charset="0"/>
              </a:rPr>
              <a:t>riscv</a:t>
            </a:r>
            <a:r>
              <a:rPr lang="en-IN" sz="2000" dirty="0">
                <a:latin typeface="Times New Roman" panose="02020603050405020304" pitchFamily="18" charset="0"/>
                <a:cs typeface="Times New Roman" panose="02020603050405020304" pitchFamily="18" charset="0"/>
              </a:rPr>
              <a:t>/repo/10/factorial/main/</a:t>
            </a:r>
            <a:r>
              <a:rPr lang="en-IN" sz="2000" dirty="0" err="1">
                <a:latin typeface="Times New Roman" panose="02020603050405020304" pitchFamily="18" charset="0"/>
                <a:cs typeface="Times New Roman" panose="02020603050405020304" pitchFamily="18" charset="0"/>
              </a:rPr>
              <a:t>factorial.S</a:t>
            </a:r>
            <a:r>
              <a:rPr lang="en-IN" sz="2000" dirty="0">
                <a:latin typeface="Times New Roman" panose="02020603050405020304" pitchFamily="18" charset="0"/>
                <a:cs typeface="Times New Roman" panose="02020603050405020304" pitchFamily="18" charset="0"/>
              </a:rPr>
              <a:t>.</a:t>
            </a:r>
          </a:p>
          <a:p>
            <a:pPr marL="0" indent="0" algn="just">
              <a:buNone/>
            </a:pPr>
            <a:r>
              <a:rPr lang="en-US" sz="2000" dirty="0">
                <a:latin typeface="Times New Roman" panose="02020603050405020304" pitchFamily="18" charset="0"/>
                <a:cs typeface="Times New Roman" panose="02020603050405020304" pitchFamily="18" charset="0"/>
              </a:rPr>
              <a:t>Main program for ufact32() in file: </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riscv</a:t>
            </a:r>
            <a:r>
              <a:rPr lang="en-IN" sz="2000" dirty="0">
                <a:latin typeface="Times New Roman" panose="02020603050405020304" pitchFamily="18" charset="0"/>
                <a:cs typeface="Times New Roman" panose="02020603050405020304" pitchFamily="18" charset="0"/>
              </a:rPr>
              <a:t>/repo/10/factorial/main/</a:t>
            </a:r>
            <a:r>
              <a:rPr lang="en-IN" sz="2000" dirty="0" err="1">
                <a:latin typeface="Times New Roman" panose="02020603050405020304" pitchFamily="18" charset="0"/>
                <a:cs typeface="Times New Roman" panose="02020603050405020304" pitchFamily="18" charset="0"/>
              </a:rPr>
              <a:t>main.c</a:t>
            </a:r>
            <a:r>
              <a:rPr lang="en-IN" sz="2000" dirty="0">
                <a:latin typeface="Times New Roman" panose="02020603050405020304" pitchFamily="18" charset="0"/>
                <a:cs typeface="Times New Roman" panose="02020603050405020304" pitchFamily="18" charset="0"/>
              </a:rPr>
              <a:t>.</a:t>
            </a:r>
          </a:p>
          <a:p>
            <a:pPr marL="0" indent="0" algn="just">
              <a:buNone/>
            </a:pPr>
            <a:r>
              <a:rPr lang="pt-BR" sz="2000" dirty="0">
                <a:latin typeface="Times New Roman" panose="02020603050405020304" pitchFamily="18" charset="0"/>
                <a:cs typeface="Times New Roman" panose="02020603050405020304" pitchFamily="18" charset="0"/>
              </a:rPr>
              <a:t>$ cd ~/riscv/repo/10/factorial</a:t>
            </a:r>
          </a:p>
          <a:p>
            <a:pPr marL="0" indent="0" algn="just">
              <a:buNone/>
            </a:pPr>
            <a:r>
              <a:rPr lang="en-IN" sz="2000" dirty="0">
                <a:latin typeface="Times New Roman" panose="02020603050405020304" pitchFamily="18" charset="0"/>
                <a:cs typeface="Times New Roman" panose="02020603050405020304" pitchFamily="18" charset="0"/>
              </a:rPr>
              <a:t>$ idf.py build</a:t>
            </a:r>
          </a:p>
          <a:p>
            <a:pPr marL="0" indent="0" algn="just">
              <a:buNone/>
            </a:pPr>
            <a:r>
              <a:rPr lang="en-IN" sz="2000" dirty="0" err="1">
                <a:latin typeface="Times New Roman" panose="02020603050405020304" pitchFamily="18" charset="0"/>
                <a:cs typeface="Times New Roman" panose="02020603050405020304" pitchFamily="18" charset="0"/>
              </a:rPr>
              <a:t>Modiy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main.c</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#include &lt;</a:t>
            </a:r>
            <a:r>
              <a:rPr lang="en-IN" sz="2000" dirty="0" err="1">
                <a:latin typeface="Times New Roman" panose="02020603050405020304" pitchFamily="18" charset="0"/>
                <a:cs typeface="Times New Roman" panose="02020603050405020304" pitchFamily="18" charset="0"/>
              </a:rPr>
              <a:t>inttypes.h</a:t>
            </a:r>
            <a:r>
              <a:rPr lang="en-IN" sz="2000" dirty="0">
                <a:latin typeface="Times New Roman" panose="02020603050405020304" pitchFamily="18" charset="0"/>
                <a:cs typeface="Times New Roman" panose="02020603050405020304" pitchFamily="18" charset="0"/>
              </a:rPr>
              <a:t>&gt;</a:t>
            </a:r>
          </a:p>
          <a:p>
            <a:pPr marL="0" indent="0" algn="just">
              <a:buNone/>
            </a:pP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("%2u ! =&gt; %" PRIu32 " 0x%08" PRIx32 "\n", </a:t>
            </a:r>
            <a:r>
              <a:rPr lang="en-IN" sz="2000" dirty="0" err="1">
                <a:latin typeface="Times New Roman" panose="02020603050405020304" pitchFamily="18" charset="0"/>
                <a:cs typeface="Times New Roman" panose="02020603050405020304" pitchFamily="18" charset="0"/>
              </a:rPr>
              <a:t>ux,f</a:t>
            </a:r>
            <a:r>
              <a:rPr lang="en-IN" sz="2000" dirty="0">
                <a:latin typeface="Times New Roman" panose="02020603050405020304" pitchFamily="18" charset="0"/>
                <a:cs typeface="Times New Roman" panose="02020603050405020304" pitchFamily="18" charset="0"/>
              </a:rPr>
              <a:t>, f);</a:t>
            </a:r>
          </a:p>
        </p:txBody>
      </p:sp>
    </p:spTree>
    <p:extLst>
      <p:ext uri="{BB962C8B-B14F-4D97-AF65-F5344CB8AC3E}">
        <p14:creationId xmlns:p14="http://schemas.microsoft.com/office/powerpoint/2010/main" val="657836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8302DF-A613-F9E1-01F7-11B6C6F8304C}"/>
              </a:ext>
            </a:extLst>
          </p:cNvPr>
          <p:cNvPicPr>
            <a:picLocks noGrp="1" noChangeAspect="1"/>
          </p:cNvPicPr>
          <p:nvPr>
            <p:ph idx="1"/>
          </p:nvPr>
        </p:nvPicPr>
        <p:blipFill>
          <a:blip r:embed="rId2"/>
          <a:stretch>
            <a:fillRect/>
          </a:stretch>
        </p:blipFill>
        <p:spPr>
          <a:xfrm>
            <a:off x="1524496" y="629276"/>
            <a:ext cx="9143008" cy="5599447"/>
          </a:xfrm>
        </p:spPr>
      </p:pic>
    </p:spTree>
    <p:extLst>
      <p:ext uri="{BB962C8B-B14F-4D97-AF65-F5344CB8AC3E}">
        <p14:creationId xmlns:p14="http://schemas.microsoft.com/office/powerpoint/2010/main" val="3069610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73AFBF-316A-F962-B3AC-70B99AE47CC6}"/>
              </a:ext>
            </a:extLst>
          </p:cNvPr>
          <p:cNvSpPr txBox="1"/>
          <p:nvPr/>
        </p:nvSpPr>
        <p:spPr>
          <a:xfrm>
            <a:off x="1215018" y="762290"/>
            <a:ext cx="9132139" cy="1323439"/>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The hexadecimal value was printed on the right so that you can visualize the limit of this calculation (eight </a:t>
            </a:r>
            <a:r>
              <a:rPr lang="en-IN" sz="2000" b="0" i="0" u="none" strike="noStrike" baseline="0" dirty="0">
                <a:latin typeface="Times New Roman" panose="02020603050405020304" pitchFamily="18" charset="0"/>
                <a:cs typeface="Times New Roman" panose="02020603050405020304" pitchFamily="18" charset="0"/>
              </a:rPr>
              <a:t>hexadecimal digits).</a:t>
            </a:r>
          </a:p>
          <a:p>
            <a:pPr algn="just"/>
            <a:r>
              <a:rPr lang="en-US" sz="2000" dirty="0">
                <a:latin typeface="Times New Roman" panose="02020603050405020304" pitchFamily="18" charset="0"/>
                <a:cs typeface="Times New Roman" panose="02020603050405020304" pitchFamily="18" charset="0"/>
              </a:rPr>
              <a:t>C</a:t>
            </a:r>
            <a:r>
              <a:rPr lang="en-US" sz="2000" b="0" i="0" u="none" strike="noStrike" baseline="0" dirty="0">
                <a:latin typeface="Times New Roman" panose="02020603050405020304" pitchFamily="18" charset="0"/>
                <a:cs typeface="Times New Roman" panose="02020603050405020304" pitchFamily="18" charset="0"/>
              </a:rPr>
              <a:t>an check this using the Linux </a:t>
            </a:r>
            <a:r>
              <a:rPr lang="en-US" sz="2000" b="0" i="0" u="none" strike="noStrike" baseline="0" dirty="0" err="1">
                <a:latin typeface="Times New Roman" panose="02020603050405020304" pitchFamily="18" charset="0"/>
                <a:cs typeface="Times New Roman" panose="02020603050405020304" pitchFamily="18" charset="0"/>
              </a:rPr>
              <a:t>bc</a:t>
            </a:r>
            <a:r>
              <a:rPr lang="en-US" sz="2000" b="0" i="0" u="none" strike="noStrike" baseline="0" dirty="0">
                <a:latin typeface="Times New Roman" panose="02020603050405020304" pitchFamily="18" charset="0"/>
                <a:cs typeface="Times New Roman" panose="02020603050405020304" pitchFamily="18" charset="0"/>
              </a:rPr>
              <a:t> command:</a:t>
            </a:r>
          </a:p>
          <a:p>
            <a:pPr algn="just"/>
            <a:r>
              <a:rPr lang="en-IN" sz="2000" b="0" i="0" u="none" strike="noStrike" baseline="0" dirty="0">
                <a:latin typeface="Times New Roman" panose="02020603050405020304" pitchFamily="18" charset="0"/>
                <a:cs typeface="Times New Roman" panose="02020603050405020304" pitchFamily="18" charset="0"/>
              </a:rPr>
              <a:t>$ </a:t>
            </a:r>
            <a:r>
              <a:rPr lang="en-IN" sz="2000" b="0" i="0" u="none" strike="noStrike" baseline="0" dirty="0" err="1">
                <a:latin typeface="Times New Roman" panose="02020603050405020304" pitchFamily="18" charset="0"/>
                <a:cs typeface="Times New Roman" panose="02020603050405020304" pitchFamily="18" charset="0"/>
              </a:rPr>
              <a:t>bc</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B2212A5-711E-CFCB-D3DA-AD14BC68F3CF}"/>
              </a:ext>
            </a:extLst>
          </p:cNvPr>
          <p:cNvPicPr>
            <a:picLocks noChangeAspect="1"/>
          </p:cNvPicPr>
          <p:nvPr/>
        </p:nvPicPr>
        <p:blipFill>
          <a:blip r:embed="rId2"/>
          <a:stretch>
            <a:fillRect/>
          </a:stretch>
        </p:blipFill>
        <p:spPr>
          <a:xfrm>
            <a:off x="1215018" y="2140477"/>
            <a:ext cx="9576596" cy="2828333"/>
          </a:xfrm>
          <a:prstGeom prst="rect">
            <a:avLst/>
          </a:prstGeom>
        </p:spPr>
      </p:pic>
      <p:sp>
        <p:nvSpPr>
          <p:cNvPr id="9" name="TextBox 8">
            <a:extLst>
              <a:ext uri="{FF2B5EF4-FFF2-40B4-BE49-F238E27FC236}">
                <a16:creationId xmlns:a16="http://schemas.microsoft.com/office/drawing/2014/main" id="{DA28BD5B-7DEE-99BE-CA26-858E68E237B3}"/>
              </a:ext>
            </a:extLst>
          </p:cNvPr>
          <p:cNvSpPr txBox="1"/>
          <p:nvPr/>
        </p:nvSpPr>
        <p:spPr>
          <a:xfrm>
            <a:off x="1215018" y="5195318"/>
            <a:ext cx="9132139" cy="707886"/>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The 12! result is indeed 479001600, but 13! Overflows 32-bits to the value 6227020800 (0x17328CC00).</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7947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09241D-C032-5FD4-236B-9A9C66949652}"/>
              </a:ext>
            </a:extLst>
          </p:cNvPr>
          <p:cNvSpPr txBox="1"/>
          <p:nvPr/>
        </p:nvSpPr>
        <p:spPr>
          <a:xfrm>
            <a:off x="1090863" y="412085"/>
            <a:ext cx="8534400" cy="1477328"/>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Opcode div/</a:t>
            </a:r>
            <a:r>
              <a:rPr lang="en-IN" sz="1800" b="1" i="0" u="none" strike="noStrike" baseline="0" dirty="0" err="1">
                <a:latin typeface="Times New Roman" panose="02020603050405020304" pitchFamily="18" charset="0"/>
                <a:cs typeface="Times New Roman" panose="02020603050405020304" pitchFamily="18" charset="0"/>
              </a:rPr>
              <a:t>divu</a:t>
            </a:r>
            <a:endParaRPr lang="en-IN" sz="1800" b="1"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Division is even more costly to evaluate than multiplication. It is therefore beneficial to have it included in the M extension. The following opcodes provide an operation that divides an XLEN-bit dividend value by an XLEN-bit divisor. Two opcodes provide for </a:t>
            </a:r>
            <a:r>
              <a:rPr lang="en-IN" sz="1800" b="0" i="0" u="none" strike="noStrike" baseline="0" dirty="0">
                <a:latin typeface="Times New Roman" panose="02020603050405020304" pitchFamily="18" charset="0"/>
                <a:cs typeface="Times New Roman" panose="02020603050405020304" pitchFamily="18" charset="0"/>
              </a:rPr>
              <a:t>signed and unsigned division: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7C9E35A-03AA-F6E1-1C70-611B13179555}"/>
              </a:ext>
            </a:extLst>
          </p:cNvPr>
          <p:cNvPicPr>
            <a:picLocks noChangeAspect="1"/>
          </p:cNvPicPr>
          <p:nvPr/>
        </p:nvPicPr>
        <p:blipFill>
          <a:blip r:embed="rId2"/>
          <a:stretch>
            <a:fillRect/>
          </a:stretch>
        </p:blipFill>
        <p:spPr>
          <a:xfrm>
            <a:off x="1090863" y="2029327"/>
            <a:ext cx="8586281" cy="1017431"/>
          </a:xfrm>
          <a:prstGeom prst="rect">
            <a:avLst/>
          </a:prstGeom>
        </p:spPr>
      </p:pic>
      <p:sp>
        <p:nvSpPr>
          <p:cNvPr id="9" name="TextBox 8">
            <a:extLst>
              <a:ext uri="{FF2B5EF4-FFF2-40B4-BE49-F238E27FC236}">
                <a16:creationId xmlns:a16="http://schemas.microsoft.com/office/drawing/2014/main" id="{6C695150-3A1B-1F49-1D32-3C596B9F759A}"/>
              </a:ext>
            </a:extLst>
          </p:cNvPr>
          <p:cNvSpPr txBox="1"/>
          <p:nvPr/>
        </p:nvSpPr>
        <p:spPr>
          <a:xfrm>
            <a:off x="1090862" y="3351345"/>
            <a:ext cx="8534399" cy="1200329"/>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Opcode rem/</a:t>
            </a:r>
            <a:r>
              <a:rPr lang="en-IN" sz="1800" b="1" i="0" u="none" strike="noStrike" baseline="0" dirty="0" err="1">
                <a:latin typeface="Times New Roman" panose="02020603050405020304" pitchFamily="18" charset="0"/>
                <a:cs typeface="Times New Roman" panose="02020603050405020304" pitchFamily="18" charset="0"/>
              </a:rPr>
              <a:t>remu</a:t>
            </a:r>
            <a:endParaRPr lang="en-IN" sz="1800" b="1"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In addition to division, a remainder is often required. The "rem" and "</a:t>
            </a:r>
            <a:r>
              <a:rPr lang="en-US" sz="1800" b="0" i="0" u="none" strike="noStrike" baseline="0" dirty="0" err="1">
                <a:latin typeface="Times New Roman" panose="02020603050405020304" pitchFamily="18" charset="0"/>
                <a:cs typeface="Times New Roman" panose="02020603050405020304" pitchFamily="18" charset="0"/>
              </a:rPr>
              <a:t>remu</a:t>
            </a:r>
            <a:r>
              <a:rPr lang="en-US" sz="1800" b="0" i="0" u="none" strike="noStrike" baseline="0" dirty="0">
                <a:latin typeface="Times New Roman" panose="02020603050405020304" pitchFamily="18" charset="0"/>
                <a:cs typeface="Times New Roman" panose="02020603050405020304" pitchFamily="18" charset="0"/>
              </a:rPr>
              <a:t>" opcodes pro vide the remainder after dividing an XLEN-bit dividend value by an XLEN-bit divisor, for signed and unsigned numbers respectively:</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3894A27-1E6A-848F-7789-9324A94CE0E0}"/>
              </a:ext>
            </a:extLst>
          </p:cNvPr>
          <p:cNvPicPr>
            <a:picLocks noChangeAspect="1"/>
          </p:cNvPicPr>
          <p:nvPr/>
        </p:nvPicPr>
        <p:blipFill>
          <a:blip r:embed="rId3"/>
          <a:stretch>
            <a:fillRect/>
          </a:stretch>
        </p:blipFill>
        <p:spPr>
          <a:xfrm>
            <a:off x="1090861" y="4693207"/>
            <a:ext cx="8534400" cy="1043189"/>
          </a:xfrm>
          <a:prstGeom prst="rect">
            <a:avLst/>
          </a:prstGeom>
        </p:spPr>
      </p:pic>
    </p:spTree>
    <p:extLst>
      <p:ext uri="{BB962C8B-B14F-4D97-AF65-F5344CB8AC3E}">
        <p14:creationId xmlns:p14="http://schemas.microsoft.com/office/powerpoint/2010/main" val="2811655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5D2048-FA42-1C84-DA53-46A9657C693B}"/>
              </a:ext>
            </a:extLst>
          </p:cNvPr>
          <p:cNvSpPr txBox="1"/>
          <p:nvPr/>
        </p:nvSpPr>
        <p:spPr>
          <a:xfrm>
            <a:off x="599701" y="732927"/>
            <a:ext cx="4759699" cy="2585323"/>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Optimized Divide</a:t>
            </a:r>
          </a:p>
          <a:p>
            <a:pPr algn="just"/>
            <a:endParaRPr lang="en-IN" sz="1800" b="1" i="0" u="none" strike="noStrike" baseline="0" dirty="0">
              <a:latin typeface="Times New Roman" panose="02020603050405020304" pitchFamily="18" charset="0"/>
              <a:cs typeface="Times New Roman" panose="02020603050405020304" pitchFamily="18" charset="0"/>
            </a:endParaRPr>
          </a:p>
          <a:p>
            <a:pPr algn="just"/>
            <a:r>
              <a:rPr lang="en-US" sz="1800" b="0" i="0" u="none" strike="noStrike" baseline="0" dirty="0">
                <a:latin typeface="Times New Roman" panose="02020603050405020304" pitchFamily="18" charset="0"/>
                <a:cs typeface="Times New Roman" panose="02020603050405020304" pitchFamily="18" charset="0"/>
              </a:rPr>
              <a:t>Algorithms frequently require both the quotient</a:t>
            </a:r>
          </a:p>
          <a:p>
            <a:pPr algn="just"/>
            <a:r>
              <a:rPr lang="en-US" sz="1800" b="0" i="0" u="none" strike="noStrike" baseline="0" dirty="0">
                <a:latin typeface="Times New Roman" panose="02020603050405020304" pitchFamily="18" charset="0"/>
                <a:cs typeface="Times New Roman" panose="02020603050405020304" pitchFamily="18" charset="0"/>
              </a:rPr>
              <a:t>and the remainder in a calculation. So why expend extra time</a:t>
            </a:r>
            <a:r>
              <a:rPr lang="en-US"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performing the operation twice? Like the optimized multiply operation, RISC-V permits an optimized divide if the programmer issues the instructions as a sequence</a:t>
            </a:r>
            <a:r>
              <a:rPr lang="en-US" dirty="0">
                <a:latin typeface="Times New Roman" panose="02020603050405020304" pitchFamily="18" charset="0"/>
                <a:cs typeface="Times New Roman" panose="02020603050405020304" pitchFamily="18" charset="0"/>
              </a:rPr>
              <a:t> </a:t>
            </a:r>
            <a:r>
              <a:rPr lang="en-IN" sz="1800" b="0" i="0" u="none" strike="noStrike" baseline="0" dirty="0">
                <a:latin typeface="Times New Roman" panose="02020603050405020304" pitchFamily="18" charset="0"/>
                <a:cs typeface="Times New Roman" panose="02020603050405020304" pitchFamily="18" charset="0"/>
              </a:rPr>
              <a:t>in a specific order.</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C3748B6-E434-BE18-3F57-D31871003C96}"/>
              </a:ext>
            </a:extLst>
          </p:cNvPr>
          <p:cNvPicPr>
            <a:picLocks noChangeAspect="1"/>
          </p:cNvPicPr>
          <p:nvPr/>
        </p:nvPicPr>
        <p:blipFill>
          <a:blip r:embed="rId2"/>
          <a:stretch>
            <a:fillRect/>
          </a:stretch>
        </p:blipFill>
        <p:spPr>
          <a:xfrm>
            <a:off x="448285" y="3595257"/>
            <a:ext cx="4911115" cy="2142067"/>
          </a:xfrm>
          <a:prstGeom prst="rect">
            <a:avLst/>
          </a:prstGeom>
        </p:spPr>
      </p:pic>
      <p:sp>
        <p:nvSpPr>
          <p:cNvPr id="9" name="TextBox 8">
            <a:extLst>
              <a:ext uri="{FF2B5EF4-FFF2-40B4-BE49-F238E27FC236}">
                <a16:creationId xmlns:a16="http://schemas.microsoft.com/office/drawing/2014/main" id="{68875E03-B137-E207-F975-77716B153A22}"/>
              </a:ext>
            </a:extLst>
          </p:cNvPr>
          <p:cNvSpPr txBox="1"/>
          <p:nvPr/>
        </p:nvSpPr>
        <p:spPr>
          <a:xfrm>
            <a:off x="5715000" y="474345"/>
            <a:ext cx="5816600" cy="5909310"/>
          </a:xfrm>
          <a:prstGeom prst="rect">
            <a:avLst/>
          </a:prstGeom>
          <a:noFill/>
        </p:spPr>
        <p:txBody>
          <a:bodyPr wrap="square">
            <a:spAutoFit/>
          </a:bodyPr>
          <a:lstStyle/>
          <a:p>
            <a:pPr algn="just"/>
            <a:r>
              <a:rPr lang="en-IN" sz="1800" b="1" i="0" u="none" strike="noStrike" baseline="0" dirty="0">
                <a:latin typeface="Times New Roman" panose="02020603050405020304" pitchFamily="18" charset="0"/>
                <a:cs typeface="Times New Roman" panose="02020603050405020304" pitchFamily="18" charset="0"/>
              </a:rPr>
              <a:t>Division By Zero</a:t>
            </a:r>
          </a:p>
          <a:p>
            <a:pPr algn="just"/>
            <a:r>
              <a:rPr lang="en-US" sz="1800" b="0" i="0" u="none" strike="noStrike" baseline="0" dirty="0">
                <a:latin typeface="Times New Roman" panose="02020603050405020304" pitchFamily="18" charset="0"/>
                <a:cs typeface="Times New Roman" panose="02020603050405020304" pitchFamily="18" charset="0"/>
              </a:rPr>
              <a:t>Division by zero has that mathematical quirk that there</a:t>
            </a:r>
          </a:p>
          <a:p>
            <a:pPr algn="just"/>
            <a:r>
              <a:rPr lang="en-US" sz="1800" b="0" i="0" u="none" strike="noStrike" baseline="0" dirty="0">
                <a:latin typeface="Times New Roman" panose="02020603050405020304" pitchFamily="18" charset="0"/>
                <a:cs typeface="Times New Roman" panose="02020603050405020304" pitchFamily="18" charset="0"/>
              </a:rPr>
              <a:t>is no defined answer. Some architectures raise an</a:t>
            </a:r>
            <a:r>
              <a:rPr lang="en-US"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exception when this is attempted. The designers of RISC-V felt it best to simply specify the result of such an operation instead since it is easy to test for this condition.</a:t>
            </a:r>
          </a:p>
          <a:p>
            <a:pPr algn="just"/>
            <a:r>
              <a:rPr lang="en-US" sz="1800" b="0" i="0" u="none" strike="noStrike" baseline="0" dirty="0">
                <a:latin typeface="Times New Roman" panose="02020603050405020304" pitchFamily="18" charset="0"/>
                <a:cs typeface="Times New Roman" panose="02020603050405020304" pitchFamily="18" charset="0"/>
              </a:rPr>
              <a:t>For signed division by zero, the following results apply:</a:t>
            </a:r>
          </a:p>
          <a:p>
            <a:pPr algn="just"/>
            <a:r>
              <a:rPr lang="en-IN" sz="1800" b="0" i="0" u="none" strike="noStrike" baseline="0" dirty="0">
                <a:latin typeface="Times New Roman" panose="02020603050405020304" pitchFamily="18" charset="0"/>
                <a:cs typeface="Times New Roman" panose="02020603050405020304" pitchFamily="18" charset="0"/>
              </a:rPr>
              <a:t>• x÷0→-1</a:t>
            </a:r>
          </a:p>
          <a:p>
            <a:pPr algn="just"/>
            <a:r>
              <a:rPr lang="en-IN" sz="1800" b="0" i="0" u="none" strike="noStrike" baseline="0" dirty="0">
                <a:latin typeface="Times New Roman" panose="02020603050405020304" pitchFamily="18" charset="0"/>
                <a:cs typeface="Times New Roman" panose="02020603050405020304" pitchFamily="18" charset="0"/>
              </a:rPr>
              <a:t>• x% 0→0</a:t>
            </a:r>
          </a:p>
          <a:p>
            <a:pPr algn="just"/>
            <a:r>
              <a:rPr lang="en-US" sz="1800" b="0" i="0" u="none" strike="noStrike" baseline="0" dirty="0">
                <a:latin typeface="Times New Roman" panose="02020603050405020304" pitchFamily="18" charset="0"/>
                <a:cs typeface="Times New Roman" panose="02020603050405020304" pitchFamily="18" charset="0"/>
              </a:rPr>
              <a:t>For unsigned division, the following results apply:</a:t>
            </a:r>
          </a:p>
          <a:p>
            <a:pPr algn="just"/>
            <a:r>
              <a:rPr lang="en-IN" sz="1800" b="0" i="0" u="none" strike="noStrike" baseline="0" dirty="0">
                <a:latin typeface="Times New Roman" panose="02020603050405020304" pitchFamily="18" charset="0"/>
                <a:cs typeface="Times New Roman" panose="02020603050405020304" pitchFamily="18" charset="0"/>
              </a:rPr>
              <a:t>• x÷0→2XLEN-1</a:t>
            </a:r>
          </a:p>
          <a:p>
            <a:pPr algn="just"/>
            <a:r>
              <a:rPr lang="en-IN" sz="1800" b="0" i="0" u="none" strike="noStrike" baseline="0" dirty="0">
                <a:latin typeface="Times New Roman" panose="02020603050405020304" pitchFamily="18" charset="0"/>
                <a:cs typeface="Times New Roman" panose="02020603050405020304" pitchFamily="18" charset="0"/>
              </a:rPr>
              <a:t>• x% 0→x</a:t>
            </a:r>
          </a:p>
          <a:p>
            <a:pPr algn="just"/>
            <a:r>
              <a:rPr lang="en-IN" sz="1800" b="1" i="0" u="none" strike="noStrike" baseline="0" dirty="0">
                <a:latin typeface="Times New Roman" panose="02020603050405020304" pitchFamily="18" charset="0"/>
                <a:cs typeface="Times New Roman" panose="02020603050405020304" pitchFamily="18" charset="0"/>
              </a:rPr>
              <a:t>Divide Overflow</a:t>
            </a:r>
          </a:p>
          <a:p>
            <a:pPr algn="just"/>
            <a:r>
              <a:rPr lang="en-US" sz="1800" b="0" i="0" u="none" strike="noStrike" baseline="0" dirty="0">
                <a:latin typeface="Times New Roman" panose="02020603050405020304" pitchFamily="18" charset="0"/>
                <a:cs typeface="Times New Roman" panose="02020603050405020304" pitchFamily="18" charset="0"/>
              </a:rPr>
              <a:t>Division of signed integer numbers also has the quirk</a:t>
            </a:r>
          </a:p>
          <a:p>
            <a:pPr algn="just"/>
            <a:r>
              <a:rPr lang="en-US" sz="1800" b="0" i="0" u="none" strike="noStrike" baseline="0" dirty="0">
                <a:latin typeface="Times New Roman" panose="02020603050405020304" pitchFamily="18" charset="0"/>
                <a:cs typeface="Times New Roman" panose="02020603050405020304" pitchFamily="18" charset="0"/>
              </a:rPr>
              <a:t>that an overflow is possible in one specific case. Like the</a:t>
            </a:r>
          </a:p>
          <a:p>
            <a:pPr algn="just"/>
            <a:r>
              <a:rPr lang="en-US" sz="1800" b="0" i="0" u="none" strike="noStrike" baseline="0" dirty="0">
                <a:latin typeface="Times New Roman" panose="02020603050405020304" pitchFamily="18" charset="0"/>
                <a:cs typeface="Times New Roman" panose="02020603050405020304" pitchFamily="18" charset="0"/>
              </a:rPr>
              <a:t>negate operation, the signed divide overflows when the</a:t>
            </a:r>
          </a:p>
          <a:p>
            <a:pPr algn="just"/>
            <a:r>
              <a:rPr lang="en-US" sz="1800" b="0" i="0" u="none" strike="noStrike" baseline="0" dirty="0">
                <a:latin typeface="Times New Roman" panose="02020603050405020304" pitchFamily="18" charset="0"/>
                <a:cs typeface="Times New Roman" panose="02020603050405020304" pitchFamily="18" charset="0"/>
              </a:rPr>
              <a:t>most negative number of XLEN bits is divided by a</a:t>
            </a:r>
          </a:p>
          <a:p>
            <a:pPr algn="just"/>
            <a:r>
              <a:rPr lang="en-IN" sz="1800" b="0" i="0" u="none" strike="noStrike" baseline="0" dirty="0">
                <a:latin typeface="Times New Roman" panose="02020603050405020304" pitchFamily="18" charset="0"/>
                <a:cs typeface="Times New Roman" panose="02020603050405020304" pitchFamily="18" charset="0"/>
              </a:rPr>
              <a:t>negative one.</a:t>
            </a:r>
          </a:p>
          <a:p>
            <a:pPr algn="just"/>
            <a:r>
              <a:rPr lang="en-US" sz="1800" b="0" i="0" u="none" strike="noStrike" baseline="0" dirty="0">
                <a:latin typeface="Times New Roman" panose="02020603050405020304" pitchFamily="18" charset="0"/>
                <a:cs typeface="Times New Roman" panose="02020603050405020304" pitchFamily="18" charset="0"/>
              </a:rPr>
              <a:t>RISC-V defines the following results for overflow:</a:t>
            </a:r>
          </a:p>
          <a:p>
            <a:pPr algn="just"/>
            <a:r>
              <a:rPr lang="en-IN" sz="1800" b="0" i="0" u="none" strike="noStrike" baseline="0" dirty="0">
                <a:latin typeface="Times New Roman" panose="02020603050405020304" pitchFamily="18" charset="0"/>
                <a:cs typeface="Times New Roman" panose="02020603050405020304" pitchFamily="18" charset="0"/>
              </a:rPr>
              <a:t>• 2XLEN/-1→2XLEN-1</a:t>
            </a:r>
          </a:p>
          <a:p>
            <a:pPr algn="just"/>
            <a:r>
              <a:rPr lang="en-IN" sz="1800" b="0" i="0" u="none" strike="noStrike" baseline="0" dirty="0">
                <a:latin typeface="Times New Roman" panose="02020603050405020304" pitchFamily="18" charset="0"/>
                <a:cs typeface="Times New Roman" panose="02020603050405020304" pitchFamily="18" charset="0"/>
              </a:rPr>
              <a:t>• 2XLEN-1mod-1→0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306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70EA-54CD-2D35-72F6-D61950F8F65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Safe Division</a:t>
            </a:r>
          </a:p>
        </p:txBody>
      </p:sp>
      <p:sp>
        <p:nvSpPr>
          <p:cNvPr id="3" name="Content Placeholder 2">
            <a:extLst>
              <a:ext uri="{FF2B5EF4-FFF2-40B4-BE49-F238E27FC236}">
                <a16:creationId xmlns:a16="http://schemas.microsoft.com/office/drawing/2014/main" id="{C96C0C31-56B1-0E4F-96EF-EE92F66BF231}"/>
              </a:ext>
            </a:extLst>
          </p:cNvPr>
          <p:cNvSpPr>
            <a:spLocks noGrp="1"/>
          </p:cNvSpPr>
          <p:nvPr>
            <p:ph idx="1"/>
          </p:nvPr>
        </p:nvSpPr>
        <p:spPr>
          <a:xfrm>
            <a:off x="347134" y="1690688"/>
            <a:ext cx="55118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example illustrates the function </a:t>
            </a:r>
            <a:r>
              <a:rPr lang="en-US" sz="2400" dirty="0" err="1">
                <a:latin typeface="Times New Roman" panose="02020603050405020304" pitchFamily="18" charset="0"/>
                <a:cs typeface="Times New Roman" panose="02020603050405020304" pitchFamily="18" charset="0"/>
              </a:rPr>
              <a:t>safediv</a:t>
            </a:r>
            <a:r>
              <a:rPr lang="en-US" sz="2400" dirty="0">
                <a:latin typeface="Times New Roman" panose="02020603050405020304" pitchFamily="18" charset="0"/>
                <a:cs typeface="Times New Roman" panose="02020603050405020304" pitchFamily="18" charset="0"/>
              </a:rPr>
              <a:t>(), which returns both quotient and remainder, as well as flags indicating a divide-by-zero and overflow conditions.</a:t>
            </a:r>
          </a:p>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safediv</a:t>
            </a:r>
            <a:r>
              <a:rPr lang="en-US" sz="2400" dirty="0">
                <a:latin typeface="Times New Roman" panose="02020603050405020304" pitchFamily="18" charset="0"/>
                <a:cs typeface="Times New Roman" panose="02020603050405020304" pitchFamily="18" charset="0"/>
              </a:rPr>
              <a:t>() function in file: </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riscv</a:t>
            </a:r>
            <a:r>
              <a:rPr lang="en-IN" sz="2400" dirty="0">
                <a:latin typeface="Times New Roman" panose="02020603050405020304" pitchFamily="18" charset="0"/>
                <a:cs typeface="Times New Roman" panose="02020603050405020304" pitchFamily="18" charset="0"/>
              </a:rPr>
              <a:t>/repo/10/</a:t>
            </a:r>
            <a:r>
              <a:rPr lang="en-IN" sz="2400" dirty="0" err="1">
                <a:latin typeface="Times New Roman" panose="02020603050405020304" pitchFamily="18" charset="0"/>
                <a:cs typeface="Times New Roman" panose="02020603050405020304" pitchFamily="18" charset="0"/>
              </a:rPr>
              <a:t>safediv</a:t>
            </a:r>
            <a:r>
              <a:rPr lang="en-IN" sz="2400" dirty="0">
                <a:latin typeface="Times New Roman" panose="02020603050405020304" pitchFamily="18" charset="0"/>
                <a:cs typeface="Times New Roman" panose="02020603050405020304" pitchFamily="18" charset="0"/>
              </a:rPr>
              <a:t>/main/</a:t>
            </a:r>
            <a:r>
              <a:rPr lang="en-IN" sz="2400" dirty="0" err="1">
                <a:latin typeface="Times New Roman" panose="02020603050405020304" pitchFamily="18" charset="0"/>
                <a:cs typeface="Times New Roman" panose="02020603050405020304" pitchFamily="18" charset="0"/>
              </a:rPr>
              <a:t>safediv.S</a:t>
            </a:r>
            <a:r>
              <a:rPr lang="en-IN"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Build, flash and run the program on your ESP32-C3</a:t>
            </a:r>
          </a:p>
          <a:p>
            <a:pPr marL="0" indent="0">
              <a:buNone/>
            </a:pPr>
            <a:r>
              <a:rPr lang="en-IN" sz="2400" dirty="0">
                <a:latin typeface="Times New Roman" panose="02020603050405020304" pitchFamily="18" charset="0"/>
                <a:cs typeface="Times New Roman" panose="02020603050405020304" pitchFamily="18" charset="0"/>
              </a:rPr>
              <a:t>as follows:</a:t>
            </a:r>
          </a:p>
          <a:p>
            <a:pPr marL="0" indent="0">
              <a:buNone/>
            </a:pPr>
            <a:r>
              <a:rPr lang="it-IT" sz="2400" dirty="0">
                <a:latin typeface="Times New Roman" panose="02020603050405020304" pitchFamily="18" charset="0"/>
                <a:cs typeface="Times New Roman" panose="02020603050405020304" pitchFamily="18" charset="0"/>
              </a:rPr>
              <a:t>$ cd ~/riscv/repo/10/safediv</a:t>
            </a:r>
          </a:p>
          <a:p>
            <a:pPr marL="0" indent="0">
              <a:buNone/>
            </a:pPr>
            <a:r>
              <a:rPr lang="en-IN" sz="2400" dirty="0">
                <a:latin typeface="Times New Roman" panose="02020603050405020304" pitchFamily="18" charset="0"/>
                <a:cs typeface="Times New Roman" panose="02020603050405020304" pitchFamily="18" charset="0"/>
              </a:rPr>
              <a:t>$ idf.py build</a:t>
            </a:r>
          </a:p>
        </p:txBody>
      </p:sp>
      <p:sp>
        <p:nvSpPr>
          <p:cNvPr id="5" name="TextBox 4">
            <a:extLst>
              <a:ext uri="{FF2B5EF4-FFF2-40B4-BE49-F238E27FC236}">
                <a16:creationId xmlns:a16="http://schemas.microsoft.com/office/drawing/2014/main" id="{33E3E959-B2CE-3CD0-9EC3-3A6E747A7CA7}"/>
              </a:ext>
            </a:extLst>
          </p:cNvPr>
          <p:cNvSpPr txBox="1"/>
          <p:nvPr/>
        </p:nvSpPr>
        <p:spPr>
          <a:xfrm>
            <a:off x="6722533" y="2274838"/>
            <a:ext cx="4783667" cy="2308324"/>
          </a:xfrm>
          <a:prstGeom prst="rect">
            <a:avLst/>
          </a:prstGeom>
          <a:noFill/>
        </p:spPr>
        <p:txBody>
          <a:bodyPr wrap="square">
            <a:spAutoFit/>
          </a:bodyPr>
          <a:lstStyle/>
          <a:p>
            <a:pPr marL="0" indent="0">
              <a:buNone/>
            </a:pPr>
            <a:r>
              <a:rPr lang="en-IN" dirty="0">
                <a:highlight>
                  <a:srgbClr val="FFFF00"/>
                </a:highlight>
              </a:rPr>
              <a:t>Modify </a:t>
            </a:r>
            <a:r>
              <a:rPr lang="en-IN" dirty="0" err="1">
                <a:highlight>
                  <a:srgbClr val="FFFF00"/>
                </a:highlight>
              </a:rPr>
              <a:t>main.c</a:t>
            </a:r>
            <a:endParaRPr lang="en-IN" dirty="0">
              <a:highlight>
                <a:srgbClr val="FFFF00"/>
              </a:highlight>
            </a:endParaRPr>
          </a:p>
          <a:p>
            <a:pPr marL="0" indent="0">
              <a:buNone/>
            </a:pPr>
            <a:r>
              <a:rPr lang="en-IN" dirty="0"/>
              <a:t>#include &lt;</a:t>
            </a:r>
            <a:r>
              <a:rPr lang="en-IN" dirty="0" err="1"/>
              <a:t>inttypes.h</a:t>
            </a:r>
            <a:r>
              <a:rPr lang="en-IN" dirty="0"/>
              <a:t>&gt;</a:t>
            </a:r>
          </a:p>
          <a:p>
            <a:pPr marL="0" indent="0">
              <a:buNone/>
            </a:pPr>
            <a:r>
              <a:rPr lang="en-IN" dirty="0" err="1"/>
              <a:t>printf</a:t>
            </a:r>
            <a:r>
              <a:rPr lang="en-IN" dirty="0"/>
              <a:t>("%" PRId32 " / %" PRId32 " =&gt; %" PRId32 "</a:t>
            </a:r>
          </a:p>
          <a:p>
            <a:pPr marL="0" indent="0">
              <a:buNone/>
            </a:pPr>
            <a:r>
              <a:rPr lang="en-IN" dirty="0"/>
              <a:t>remainder %" PRId32 "; "</a:t>
            </a:r>
          </a:p>
          <a:p>
            <a:pPr marL="0" indent="0">
              <a:buNone/>
            </a:pPr>
            <a:r>
              <a:rPr lang="pt-BR" dirty="0"/>
              <a:t>"divbyzero=%d, overflow=%d\n",</a:t>
            </a:r>
          </a:p>
          <a:p>
            <a:pPr marL="0" indent="0">
              <a:buNone/>
            </a:pPr>
            <a:r>
              <a:rPr lang="en-IN" dirty="0"/>
              <a:t>dividend, divisor, quotient, remainder,</a:t>
            </a:r>
          </a:p>
          <a:p>
            <a:pPr marL="0" indent="0">
              <a:buNone/>
            </a:pPr>
            <a:r>
              <a:rPr lang="en-IN" dirty="0" err="1"/>
              <a:t>divbyzero</a:t>
            </a:r>
            <a:r>
              <a:rPr lang="en-IN" dirty="0"/>
              <a:t>, overflow);</a:t>
            </a:r>
          </a:p>
        </p:txBody>
      </p:sp>
    </p:spTree>
    <p:extLst>
      <p:ext uri="{BB962C8B-B14F-4D97-AF65-F5344CB8AC3E}">
        <p14:creationId xmlns:p14="http://schemas.microsoft.com/office/powerpoint/2010/main" val="287661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124188-10EB-9E5C-A376-C22587DEBA00}"/>
              </a:ext>
            </a:extLst>
          </p:cNvPr>
          <p:cNvPicPr>
            <a:picLocks noChangeAspect="1"/>
          </p:cNvPicPr>
          <p:nvPr/>
        </p:nvPicPr>
        <p:blipFill>
          <a:blip r:embed="rId2"/>
          <a:stretch>
            <a:fillRect/>
          </a:stretch>
        </p:blipFill>
        <p:spPr>
          <a:xfrm>
            <a:off x="1884947" y="631226"/>
            <a:ext cx="8422105" cy="3222605"/>
          </a:xfrm>
          <a:prstGeom prst="rect">
            <a:avLst/>
          </a:prstGeom>
        </p:spPr>
      </p:pic>
      <p:sp>
        <p:nvSpPr>
          <p:cNvPr id="5" name="TextBox 4">
            <a:extLst>
              <a:ext uri="{FF2B5EF4-FFF2-40B4-BE49-F238E27FC236}">
                <a16:creationId xmlns:a16="http://schemas.microsoft.com/office/drawing/2014/main" id="{9C2440A8-FF38-3567-E68C-51685EBCF695}"/>
              </a:ext>
            </a:extLst>
          </p:cNvPr>
          <p:cNvSpPr txBox="1"/>
          <p:nvPr/>
        </p:nvSpPr>
        <p:spPr>
          <a:xfrm>
            <a:off x="1884947" y="3963898"/>
            <a:ext cx="8342786" cy="2031325"/>
          </a:xfrm>
          <a:prstGeom prst="rect">
            <a:avLst/>
          </a:prstGeom>
          <a:noFill/>
        </p:spPr>
        <p:txBody>
          <a:bodyPr wrap="square">
            <a:spAutoFit/>
          </a:bodyPr>
          <a:lstStyle/>
          <a:p>
            <a:pPr algn="just"/>
            <a:r>
              <a:rPr lang="en-US" b="0" i="0" u="none" strike="noStrike" baseline="0" dirty="0">
                <a:latin typeface="Times New Roman" panose="02020603050405020304" pitchFamily="18" charset="0"/>
                <a:cs typeface="Times New Roman" panose="02020603050405020304" pitchFamily="18" charset="0"/>
              </a:rPr>
              <a:t>In the resulting output, the first two lines report valid quotient and remainders with no divide-by-zero or overflow flags set. The third line does, however, report a divide-by-zero failure (and also confirms the quotient result of -1 and a remainder of 46, which was the dividend). The second to last line reported an overflow.</a:t>
            </a:r>
          </a:p>
          <a:p>
            <a:pPr algn="just"/>
            <a:r>
              <a:rPr lang="en-US" b="0" i="0" u="none" strike="noStrike" baseline="0" dirty="0">
                <a:latin typeface="Times New Roman" panose="02020603050405020304" pitchFamily="18" charset="0"/>
                <a:cs typeface="Times New Roman" panose="02020603050405020304" pitchFamily="18" charset="0"/>
              </a:rPr>
              <a:t>This is correct because a maximally negative 32-bit number (-2147483648) divided by -1, should be the positive value +2147483648, which cannot be represented by a signed 32-bit number.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049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DE90-CE1C-9C20-1AF4-FC52B050E8C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Greatest Common Divisor</a:t>
            </a:r>
          </a:p>
        </p:txBody>
      </p:sp>
      <p:sp>
        <p:nvSpPr>
          <p:cNvPr id="5" name="TextBox 4">
            <a:extLst>
              <a:ext uri="{FF2B5EF4-FFF2-40B4-BE49-F238E27FC236}">
                <a16:creationId xmlns:a16="http://schemas.microsoft.com/office/drawing/2014/main" id="{7B78D784-888E-EE01-3801-EA2A012E2249}"/>
              </a:ext>
            </a:extLst>
          </p:cNvPr>
          <p:cNvSpPr txBox="1"/>
          <p:nvPr/>
        </p:nvSpPr>
        <p:spPr>
          <a:xfrm>
            <a:off x="838200" y="2005648"/>
            <a:ext cx="9179560" cy="3785652"/>
          </a:xfrm>
          <a:prstGeom prst="rect">
            <a:avLst/>
          </a:prstGeom>
          <a:noFill/>
        </p:spPr>
        <p:txBody>
          <a:bodyPr wrap="square">
            <a:spAutoFit/>
          </a:bodyPr>
          <a:lstStyle/>
          <a:p>
            <a:pPr marL="0" indent="0">
              <a:buNone/>
            </a:pPr>
            <a:r>
              <a:rPr lang="en-US" sz="2000" dirty="0">
                <a:latin typeface="Times New Roman" panose="02020603050405020304" pitchFamily="18" charset="0"/>
                <a:cs typeface="Times New Roman" panose="02020603050405020304" pitchFamily="18" charset="0"/>
              </a:rPr>
              <a:t>Let's implement a function named gcd64(), which will calculate the greatest common divisor between two </a:t>
            </a:r>
            <a:r>
              <a:rPr lang="en-IN" sz="2000" dirty="0">
                <a:latin typeface="Times New Roman" panose="02020603050405020304" pitchFamily="18" charset="0"/>
                <a:cs typeface="Times New Roman" panose="02020603050405020304" pitchFamily="18" charset="0"/>
              </a:rPr>
              <a:t>integers</a:t>
            </a:r>
          </a:p>
          <a:p>
            <a:pPr marL="0" indent="0">
              <a:buNone/>
            </a:pPr>
            <a:r>
              <a:rPr lang="en-IN" sz="2000" b="1" dirty="0">
                <a:latin typeface="Times New Roman" panose="02020603050405020304" pitchFamily="18" charset="0"/>
                <a:cs typeface="Times New Roman" panose="02020603050405020304" pitchFamily="18" charset="0"/>
              </a:rPr>
              <a:t>Use under Fedora Linux (QEMU).</a:t>
            </a:r>
          </a:p>
          <a:p>
            <a:pPr marL="0" indent="0">
              <a:buNone/>
            </a:pPr>
            <a:r>
              <a:rPr lang="en-US" sz="2000" dirty="0">
                <a:latin typeface="Times New Roman" panose="02020603050405020304" pitchFamily="18" charset="0"/>
                <a:cs typeface="Times New Roman" panose="02020603050405020304" pitchFamily="18" charset="0"/>
              </a:rPr>
              <a:t>The function is based upon the following algorithm:</a:t>
            </a:r>
          </a:p>
          <a:p>
            <a:pPr marL="0" indent="0">
              <a:buNone/>
            </a:pPr>
            <a:r>
              <a:rPr lang="en-US" sz="2000" dirty="0">
                <a:latin typeface="Times New Roman" panose="02020603050405020304" pitchFamily="18" charset="0"/>
                <a:cs typeface="Times New Roman" panose="02020603050405020304" pitchFamily="18" charset="0"/>
              </a:rPr>
              <a:t>1. If a = 0 in GCD(</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 then return b (GCD(0,b) = b).</a:t>
            </a:r>
          </a:p>
          <a:p>
            <a:pPr marL="0" indent="0">
              <a:buNone/>
            </a:pPr>
            <a:r>
              <a:rPr lang="en-US" sz="2000" dirty="0">
                <a:latin typeface="Times New Roman" panose="02020603050405020304" pitchFamily="18" charset="0"/>
                <a:cs typeface="Times New Roman" panose="02020603050405020304" pitchFamily="18" charset="0"/>
              </a:rPr>
              <a:t>2. If b = 0 in GCD(</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 then return a (GCD(a,0) = a).</a:t>
            </a:r>
          </a:p>
          <a:p>
            <a:pPr marL="0" indent="0">
              <a:buNone/>
            </a:pPr>
            <a:r>
              <a:rPr lang="en-US" sz="2000" dirty="0">
                <a:latin typeface="Times New Roman" panose="02020603050405020304" pitchFamily="18" charset="0"/>
                <a:cs typeface="Times New Roman" panose="02020603050405020304" pitchFamily="18" charset="0"/>
              </a:rPr>
              <a:t>3. If b &gt; a then swap a and b.</a:t>
            </a:r>
          </a:p>
          <a:p>
            <a:pPr marL="0" indent="0">
              <a:buNone/>
            </a:pPr>
            <a:r>
              <a:rPr lang="en-US" sz="2000" dirty="0">
                <a:latin typeface="Times New Roman" panose="02020603050405020304" pitchFamily="18" charset="0"/>
                <a:cs typeface="Times New Roman" panose="02020603050405020304" pitchFamily="18" charset="0"/>
              </a:rPr>
              <a:t>4. Otherwise, we compute r = a % b, to satisfy the equation a = b q + r.</a:t>
            </a:r>
          </a:p>
          <a:p>
            <a:pPr marL="0" indent="0">
              <a:buNone/>
            </a:pPr>
            <a:r>
              <a:rPr lang="en-US" sz="2000" dirty="0">
                <a:latin typeface="Times New Roman" panose="02020603050405020304" pitchFamily="18" charset="0"/>
                <a:cs typeface="Times New Roman" panose="02020603050405020304" pitchFamily="18" charset="0"/>
              </a:rPr>
              <a:t>5. Set a = b and b = r to e </a:t>
            </a:r>
            <a:r>
              <a:rPr lang="en-US" sz="2000" dirty="0" err="1">
                <a:latin typeface="Times New Roman" panose="02020603050405020304" pitchFamily="18" charset="0"/>
                <a:cs typeface="Times New Roman" panose="02020603050405020304" pitchFamily="18" charset="0"/>
              </a:rPr>
              <a:t>ectively</a:t>
            </a:r>
            <a:r>
              <a:rPr lang="en-US" sz="2000" dirty="0">
                <a:latin typeface="Times New Roman" panose="02020603050405020304" pitchFamily="18" charset="0"/>
                <a:cs typeface="Times New Roman" panose="02020603050405020304" pitchFamily="18" charset="0"/>
              </a:rPr>
              <a:t> call GCD(</a:t>
            </a:r>
            <a:r>
              <a:rPr lang="en-US" sz="2000" dirty="0" err="1">
                <a:latin typeface="Times New Roman" panose="02020603050405020304" pitchFamily="18" charset="0"/>
                <a:cs typeface="Times New Roman" panose="02020603050405020304" pitchFamily="18" charset="0"/>
              </a:rPr>
              <a:t>b,r</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6. Repeat from step 1.</a:t>
            </a:r>
          </a:p>
          <a:p>
            <a:pPr marL="0" indent="0">
              <a:buNone/>
            </a:pPr>
            <a:r>
              <a:rPr lang="en-IN" sz="2000" dirty="0">
                <a:latin typeface="Times New Roman" panose="02020603050405020304" pitchFamily="18" charset="0"/>
                <a:cs typeface="Times New Roman" panose="02020603050405020304" pitchFamily="18" charset="0"/>
              </a:rPr>
              <a:t>The gcd64() function in</a:t>
            </a:r>
          </a:p>
          <a:p>
            <a:pPr marL="0" indent="0">
              <a:buNone/>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riscv</a:t>
            </a:r>
            <a:r>
              <a:rPr lang="en-IN" sz="2000" dirty="0">
                <a:latin typeface="Times New Roman" panose="02020603050405020304" pitchFamily="18" charset="0"/>
                <a:cs typeface="Times New Roman" panose="02020603050405020304" pitchFamily="18" charset="0"/>
              </a:rPr>
              <a:t>/repo/10/</a:t>
            </a:r>
            <a:r>
              <a:rPr lang="en-IN" sz="2000" dirty="0" err="1">
                <a:latin typeface="Times New Roman" panose="02020603050405020304" pitchFamily="18" charset="0"/>
                <a:cs typeface="Times New Roman" panose="02020603050405020304" pitchFamily="18" charset="0"/>
              </a:rPr>
              <a:t>gcd</a:t>
            </a:r>
            <a:r>
              <a:rPr lang="en-IN" sz="2000" dirty="0">
                <a:latin typeface="Times New Roman" panose="02020603050405020304" pitchFamily="18" charset="0"/>
                <a:cs typeface="Times New Roman" panose="02020603050405020304" pitchFamily="18" charset="0"/>
              </a:rPr>
              <a:t>/qemu64/gcd64.S.</a:t>
            </a:r>
          </a:p>
        </p:txBody>
      </p:sp>
    </p:spTree>
    <p:extLst>
      <p:ext uri="{BB962C8B-B14F-4D97-AF65-F5344CB8AC3E}">
        <p14:creationId xmlns:p14="http://schemas.microsoft.com/office/powerpoint/2010/main" val="4230585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22CBA3-5818-7FE9-9289-13F02C317194}"/>
              </a:ext>
            </a:extLst>
          </p:cNvPr>
          <p:cNvSpPr txBox="1"/>
          <p:nvPr/>
        </p:nvSpPr>
        <p:spPr>
          <a:xfrm>
            <a:off x="1074820" y="1187840"/>
            <a:ext cx="6961739" cy="1569660"/>
          </a:xfrm>
          <a:prstGeom prst="rect">
            <a:avLst/>
          </a:prstGeom>
          <a:noFill/>
        </p:spPr>
        <p:txBody>
          <a:bodyPr wrap="square">
            <a:spAutoFit/>
          </a:bodyPr>
          <a:lstStyle/>
          <a:p>
            <a:pPr algn="l"/>
            <a:r>
              <a:rPr lang="en-IN" sz="2400" b="0" i="0" u="none" strike="noStrike" baseline="0" dirty="0">
                <a:latin typeface="Times New Roman" panose="02020603050405020304" pitchFamily="18" charset="0"/>
                <a:cs typeface="Times New Roman" panose="02020603050405020304" pitchFamily="18" charset="0"/>
              </a:rPr>
              <a:t>Main driver program ~/</a:t>
            </a:r>
            <a:r>
              <a:rPr lang="en-IN" sz="2400" b="0" i="0" u="none" strike="noStrike" baseline="0" dirty="0" err="1">
                <a:latin typeface="Times New Roman" panose="02020603050405020304" pitchFamily="18" charset="0"/>
                <a:cs typeface="Times New Roman" panose="02020603050405020304" pitchFamily="18" charset="0"/>
              </a:rPr>
              <a:t>riscv</a:t>
            </a:r>
            <a:r>
              <a:rPr lang="en-IN" sz="2400" b="0" i="0" u="none" strike="noStrike" baseline="0" dirty="0">
                <a:latin typeface="Times New Roman" panose="02020603050405020304" pitchFamily="18" charset="0"/>
                <a:cs typeface="Times New Roman" panose="02020603050405020304" pitchFamily="18" charset="0"/>
              </a:rPr>
              <a:t>/repo/10/qemu64/</a:t>
            </a:r>
            <a:r>
              <a:rPr lang="en-IN" sz="2400" b="0" i="0" u="none" strike="noStrike" baseline="0" dirty="0" err="1">
                <a:latin typeface="Times New Roman" panose="02020603050405020304" pitchFamily="18" charset="0"/>
                <a:cs typeface="Times New Roman" panose="02020603050405020304" pitchFamily="18" charset="0"/>
              </a:rPr>
              <a:t>main.c</a:t>
            </a:r>
            <a:r>
              <a:rPr lang="en-IN" sz="2400" b="0" i="0" u="none" strike="noStrike" baseline="0" dirty="0">
                <a:latin typeface="Times New Roman" panose="02020603050405020304" pitchFamily="18" charset="0"/>
                <a:cs typeface="Times New Roman" panose="02020603050405020304" pitchFamily="18" charset="0"/>
              </a:rPr>
              <a:t>.</a:t>
            </a:r>
          </a:p>
          <a:p>
            <a:pPr algn="l"/>
            <a:r>
              <a:rPr lang="en-IN" sz="2400" b="0" i="0" u="none" strike="noStrike" baseline="0" dirty="0">
                <a:latin typeface="Times New Roman" panose="02020603050405020304" pitchFamily="18" charset="0"/>
                <a:cs typeface="Times New Roman" panose="02020603050405020304" pitchFamily="18" charset="0"/>
              </a:rPr>
              <a:t>$ cd ~/</a:t>
            </a:r>
            <a:r>
              <a:rPr lang="en-IN" sz="2400" b="0" i="0" u="none" strike="noStrike" baseline="0" dirty="0" err="1">
                <a:latin typeface="Times New Roman" panose="02020603050405020304" pitchFamily="18" charset="0"/>
                <a:cs typeface="Times New Roman" panose="02020603050405020304" pitchFamily="18" charset="0"/>
              </a:rPr>
              <a:t>riscv</a:t>
            </a:r>
            <a:r>
              <a:rPr lang="en-IN" sz="2400" b="0" i="0" u="none" strike="noStrike" baseline="0" dirty="0">
                <a:latin typeface="Times New Roman" panose="02020603050405020304" pitchFamily="18" charset="0"/>
                <a:cs typeface="Times New Roman" panose="02020603050405020304" pitchFamily="18" charset="0"/>
              </a:rPr>
              <a:t>/repo/10/</a:t>
            </a:r>
            <a:r>
              <a:rPr lang="en-IN" sz="2400" b="0" i="0" u="none" strike="noStrike" baseline="0" dirty="0" err="1">
                <a:latin typeface="Times New Roman" panose="02020603050405020304" pitchFamily="18" charset="0"/>
                <a:cs typeface="Times New Roman" panose="02020603050405020304" pitchFamily="18" charset="0"/>
              </a:rPr>
              <a:t>gcd</a:t>
            </a:r>
            <a:r>
              <a:rPr lang="en-IN" sz="2400" b="0" i="0" u="none" strike="noStrike" baseline="0" dirty="0">
                <a:latin typeface="Times New Roman" panose="02020603050405020304" pitchFamily="18" charset="0"/>
                <a:cs typeface="Times New Roman" panose="02020603050405020304" pitchFamily="18" charset="0"/>
              </a:rPr>
              <a:t>/qemu64</a:t>
            </a:r>
          </a:p>
          <a:p>
            <a:pPr algn="l"/>
            <a:r>
              <a:rPr lang="en-US" sz="2400" b="0" i="0"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err="1">
                <a:latin typeface="Times New Roman" panose="02020603050405020304" pitchFamily="18" charset="0"/>
                <a:cs typeface="Times New Roman" panose="02020603050405020304" pitchFamily="18" charset="0"/>
              </a:rPr>
              <a:t>gcc</a:t>
            </a:r>
            <a:r>
              <a:rPr lang="en-US" sz="2400" b="0" i="0" u="none" strike="noStrike" baseline="0" dirty="0">
                <a:latin typeface="Times New Roman" panose="02020603050405020304" pitchFamily="18" charset="0"/>
                <a:cs typeface="Times New Roman" panose="02020603050405020304" pitchFamily="18" charset="0"/>
              </a:rPr>
              <a:t> -g gcd64.S </a:t>
            </a:r>
            <a:r>
              <a:rPr lang="en-US" sz="2400" b="0" i="0" u="none" strike="noStrike" baseline="0" dirty="0" err="1">
                <a:latin typeface="Times New Roman" panose="02020603050405020304" pitchFamily="18" charset="0"/>
                <a:cs typeface="Times New Roman" panose="02020603050405020304" pitchFamily="18" charset="0"/>
              </a:rPr>
              <a:t>main.c</a:t>
            </a:r>
            <a:endParaRPr lang="en-US" sz="2400" b="0" i="0" u="none" strike="noStrike" baseline="0" dirty="0">
              <a:latin typeface="Times New Roman" panose="02020603050405020304" pitchFamily="18" charset="0"/>
              <a:cs typeface="Times New Roman" panose="02020603050405020304" pitchFamily="18" charset="0"/>
            </a:endParaRPr>
          </a:p>
          <a:p>
            <a:pPr algn="l"/>
            <a:r>
              <a:rPr lang="en-IN" sz="2400" b="0" i="0" u="none" strike="noStrike" baseline="0" dirty="0">
                <a:latin typeface="Times New Roman" panose="02020603050405020304" pitchFamily="18" charset="0"/>
                <a:cs typeface="Times New Roman" panose="02020603050405020304" pitchFamily="18" charset="0"/>
              </a:rPr>
              <a:t>$ ./</a:t>
            </a:r>
            <a:r>
              <a:rPr lang="en-IN" sz="2400" b="0" i="0" u="none" strike="noStrike" baseline="0" dirty="0" err="1">
                <a:latin typeface="Times New Roman" panose="02020603050405020304" pitchFamily="18" charset="0"/>
                <a:cs typeface="Times New Roman" panose="02020603050405020304" pitchFamily="18" charset="0"/>
              </a:rPr>
              <a:t>a.out</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2775846-2500-BB86-EB0C-B11E87BDB318}"/>
              </a:ext>
            </a:extLst>
          </p:cNvPr>
          <p:cNvPicPr>
            <a:picLocks noChangeAspect="1"/>
          </p:cNvPicPr>
          <p:nvPr/>
        </p:nvPicPr>
        <p:blipFill>
          <a:blip r:embed="rId2"/>
          <a:stretch>
            <a:fillRect/>
          </a:stretch>
        </p:blipFill>
        <p:spPr>
          <a:xfrm>
            <a:off x="1074821" y="3095153"/>
            <a:ext cx="9561095" cy="2575007"/>
          </a:xfrm>
          <a:prstGeom prst="rect">
            <a:avLst/>
          </a:prstGeom>
        </p:spPr>
      </p:pic>
    </p:spTree>
    <p:extLst>
      <p:ext uri="{BB962C8B-B14F-4D97-AF65-F5344CB8AC3E}">
        <p14:creationId xmlns:p14="http://schemas.microsoft.com/office/powerpoint/2010/main" val="3793426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7C223-5BDE-C9A9-26AA-AC456BD6FBD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Combinations</a:t>
            </a:r>
          </a:p>
        </p:txBody>
      </p:sp>
      <p:sp>
        <p:nvSpPr>
          <p:cNvPr id="7" name="TextBox 6">
            <a:extLst>
              <a:ext uri="{FF2B5EF4-FFF2-40B4-BE49-F238E27FC236}">
                <a16:creationId xmlns:a16="http://schemas.microsoft.com/office/drawing/2014/main" id="{1AB90E63-AD7C-7E35-49B8-620CC06F6E08}"/>
              </a:ext>
            </a:extLst>
          </p:cNvPr>
          <p:cNvSpPr txBox="1"/>
          <p:nvPr/>
        </p:nvSpPr>
        <p:spPr>
          <a:xfrm>
            <a:off x="629978" y="1690688"/>
            <a:ext cx="6096000" cy="1015663"/>
          </a:xfrm>
          <a:prstGeom prst="rect">
            <a:avLst/>
          </a:prstGeom>
          <a:noFill/>
        </p:spPr>
        <p:txBody>
          <a:bodyPr wrap="square">
            <a:spAutoFit/>
          </a:bodyPr>
          <a:lstStyle/>
          <a:p>
            <a:pPr algn="just"/>
            <a:r>
              <a:rPr lang="en-US" sz="2000" b="0" i="0" u="none" strike="noStrike" baseline="0" dirty="0">
                <a:latin typeface="Times New Roman" panose="02020603050405020304" pitchFamily="18" charset="0"/>
                <a:cs typeface="Times New Roman" panose="02020603050405020304" pitchFamily="18" charset="0"/>
              </a:rPr>
              <a:t>Let's compute a combination C(</a:t>
            </a:r>
            <a:r>
              <a:rPr lang="en-US" sz="2000" b="0" i="0" u="none" strike="noStrike" baseline="0" dirty="0" err="1">
                <a:latin typeface="Times New Roman" panose="02020603050405020304" pitchFamily="18" charset="0"/>
                <a:cs typeface="Times New Roman" panose="02020603050405020304" pitchFamily="18" charset="0"/>
              </a:rPr>
              <a:t>n,r</a:t>
            </a:r>
            <a:r>
              <a:rPr lang="en-US" sz="2000" b="0" i="0" u="none" strike="noStrike" baseline="0" dirty="0">
                <a:latin typeface="Times New Roman" panose="02020603050405020304" pitchFamily="18" charset="0"/>
                <a:cs typeface="Times New Roman" panose="02020603050405020304" pitchFamily="18" charset="0"/>
              </a:rPr>
              <a:t>) function such that out of n objects, determine how many unique samples of size r, can be obtained. This is calculated with the </a:t>
            </a:r>
            <a:r>
              <a:rPr lang="en-IN" sz="2000" b="0" i="0" u="none" strike="noStrike" baseline="0" dirty="0">
                <a:latin typeface="Times New Roman" panose="02020603050405020304" pitchFamily="18" charset="0"/>
                <a:cs typeface="Times New Roman" panose="02020603050405020304" pitchFamily="18" charset="0"/>
              </a:rPr>
              <a:t>formula:</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9D6F8E8-83CC-27E2-F1C6-BE8B5CDB918A}"/>
              </a:ext>
            </a:extLst>
          </p:cNvPr>
          <p:cNvPicPr>
            <a:picLocks noChangeAspect="1"/>
          </p:cNvPicPr>
          <p:nvPr/>
        </p:nvPicPr>
        <p:blipFill>
          <a:blip r:embed="rId3"/>
          <a:stretch>
            <a:fillRect/>
          </a:stretch>
        </p:blipFill>
        <p:spPr>
          <a:xfrm>
            <a:off x="7558982" y="1513318"/>
            <a:ext cx="3901440" cy="1261832"/>
          </a:xfrm>
          <a:prstGeom prst="rect">
            <a:avLst/>
          </a:prstGeom>
        </p:spPr>
      </p:pic>
      <p:sp>
        <p:nvSpPr>
          <p:cNvPr id="11" name="TextBox 10">
            <a:extLst>
              <a:ext uri="{FF2B5EF4-FFF2-40B4-BE49-F238E27FC236}">
                <a16:creationId xmlns:a16="http://schemas.microsoft.com/office/drawing/2014/main" id="{AA6F5580-FB01-8412-1018-A1AB3344F62D}"/>
              </a:ext>
            </a:extLst>
          </p:cNvPr>
          <p:cNvSpPr txBox="1"/>
          <p:nvPr/>
        </p:nvSpPr>
        <p:spPr>
          <a:xfrm>
            <a:off x="629978" y="3978378"/>
            <a:ext cx="4231582" cy="1938992"/>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a:t>
            </a:r>
            <a:r>
              <a:rPr lang="en-US" sz="2000" b="0" i="0" u="none" strike="noStrike" baseline="0" dirty="0" err="1">
                <a:latin typeface="Times New Roman" panose="02020603050405020304" pitchFamily="18" charset="0"/>
                <a:cs typeface="Times New Roman" panose="02020603050405020304" pitchFamily="18" charset="0"/>
              </a:rPr>
              <a:t>nCr</a:t>
            </a:r>
            <a:r>
              <a:rPr lang="en-US" sz="2000" b="0" i="0" u="none" strike="noStrike" baseline="0" dirty="0">
                <a:latin typeface="Times New Roman" panose="02020603050405020304" pitchFamily="18" charset="0"/>
                <a:cs typeface="Times New Roman" panose="02020603050405020304" pitchFamily="18" charset="0"/>
              </a:rPr>
              <a:t>() function found in file</a:t>
            </a:r>
          </a:p>
          <a:p>
            <a:pPr algn="l"/>
            <a:r>
              <a:rPr lang="en-IN" sz="2000" b="0" i="0" u="none" strike="noStrike" baseline="0" dirty="0">
                <a:latin typeface="Times New Roman" panose="02020603050405020304" pitchFamily="18" charset="0"/>
                <a:cs typeface="Times New Roman" panose="02020603050405020304" pitchFamily="18" charset="0"/>
              </a:rPr>
              <a:t>~/</a:t>
            </a:r>
            <a:r>
              <a:rPr lang="en-IN" sz="2000" b="0" i="0" u="none" strike="noStrike" baseline="0" dirty="0" err="1">
                <a:latin typeface="Times New Roman" panose="02020603050405020304" pitchFamily="18" charset="0"/>
                <a:cs typeface="Times New Roman" panose="02020603050405020304" pitchFamily="18" charset="0"/>
              </a:rPr>
              <a:t>riscv</a:t>
            </a:r>
            <a:r>
              <a:rPr lang="en-IN" sz="2000" b="0" i="0" u="none" strike="noStrike" baseline="0" dirty="0">
                <a:latin typeface="Times New Roman" panose="02020603050405020304" pitchFamily="18" charset="0"/>
                <a:cs typeface="Times New Roman" panose="02020603050405020304" pitchFamily="18" charset="0"/>
              </a:rPr>
              <a:t>/repo/10/</a:t>
            </a:r>
            <a:r>
              <a:rPr lang="en-IN" sz="2000" b="0" i="0" u="none" strike="noStrike" baseline="0" dirty="0" err="1">
                <a:latin typeface="Times New Roman" panose="02020603050405020304" pitchFamily="18" charset="0"/>
                <a:cs typeface="Times New Roman" panose="02020603050405020304" pitchFamily="18" charset="0"/>
              </a:rPr>
              <a:t>nCr</a:t>
            </a:r>
            <a:r>
              <a:rPr lang="en-IN" sz="2000" b="0" i="0" u="none" strike="noStrike" baseline="0" dirty="0">
                <a:latin typeface="Times New Roman" panose="02020603050405020304" pitchFamily="18" charset="0"/>
                <a:cs typeface="Times New Roman" panose="02020603050405020304" pitchFamily="18" charset="0"/>
              </a:rPr>
              <a:t>/qemu64/</a:t>
            </a:r>
            <a:r>
              <a:rPr lang="en-IN" sz="2000" b="0" i="0" u="none" strike="noStrike" baseline="0" dirty="0" err="1">
                <a:latin typeface="Times New Roman" panose="02020603050405020304" pitchFamily="18" charset="0"/>
                <a:cs typeface="Times New Roman" panose="02020603050405020304" pitchFamily="18" charset="0"/>
              </a:rPr>
              <a:t>ncr.S</a:t>
            </a:r>
            <a:r>
              <a:rPr lang="en-IN" sz="2000" b="0" i="0" u="none" strike="noStrike" baseline="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Compile and run the test under Fedora Linux as follows:</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gcc</a:t>
            </a:r>
            <a:r>
              <a:rPr lang="en-IN" sz="2000" dirty="0">
                <a:latin typeface="Times New Roman" panose="02020603050405020304" pitchFamily="18" charset="0"/>
                <a:cs typeface="Times New Roman" panose="02020603050405020304" pitchFamily="18" charset="0"/>
              </a:rPr>
              <a:t> -g </a:t>
            </a:r>
            <a:r>
              <a:rPr lang="en-IN" sz="2000" dirty="0" err="1">
                <a:latin typeface="Times New Roman" panose="02020603050405020304" pitchFamily="18" charset="0"/>
                <a:cs typeface="Times New Roman" panose="02020603050405020304" pitchFamily="18" charset="0"/>
              </a:rPr>
              <a:t>ncr.S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main.c</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a.out</a:t>
            </a:r>
            <a:endParaRPr lang="en-IN" sz="20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CEE89E1-4D08-507B-FAF1-AE23035CCCA3}"/>
              </a:ext>
            </a:extLst>
          </p:cNvPr>
          <p:cNvPicPr>
            <a:picLocks noChangeAspect="1"/>
          </p:cNvPicPr>
          <p:nvPr/>
        </p:nvPicPr>
        <p:blipFill>
          <a:blip r:embed="rId4"/>
          <a:stretch>
            <a:fillRect/>
          </a:stretch>
        </p:blipFill>
        <p:spPr>
          <a:xfrm>
            <a:off x="5182774" y="3859612"/>
            <a:ext cx="6724688" cy="1991858"/>
          </a:xfrm>
          <a:prstGeom prst="rect">
            <a:avLst/>
          </a:prstGeom>
        </p:spPr>
      </p:pic>
    </p:spTree>
    <p:extLst>
      <p:ext uri="{BB962C8B-B14F-4D97-AF65-F5344CB8AC3E}">
        <p14:creationId xmlns:p14="http://schemas.microsoft.com/office/powerpoint/2010/main" val="3446689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624AF-5B6F-DD1D-8789-A7D4F8E71222}"/>
              </a:ext>
            </a:extLst>
          </p:cNvPr>
          <p:cNvSpPr>
            <a:spLocks noGrp="1"/>
          </p:cNvSpPr>
          <p:nvPr>
            <p:ph type="title"/>
          </p:nvPr>
        </p:nvSpPr>
        <p:spPr>
          <a:xfrm>
            <a:off x="645694" y="735699"/>
            <a:ext cx="4885624" cy="923330"/>
          </a:xfrm>
        </p:spPr>
        <p:txBody>
          <a:bodyPr/>
          <a:lstStyle/>
          <a:p>
            <a:r>
              <a:rPr lang="en-US" dirty="0">
                <a:latin typeface="Times New Roman" panose="02020603050405020304" pitchFamily="18" charset="0"/>
                <a:cs typeface="Times New Roman" panose="02020603050405020304" pitchFamily="18" charset="0"/>
              </a:rPr>
              <a:t>Summary</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E8F6145-346D-AF13-85BC-D7DCB42086D2}"/>
              </a:ext>
            </a:extLst>
          </p:cNvPr>
          <p:cNvSpPr txBox="1"/>
          <p:nvPr/>
        </p:nvSpPr>
        <p:spPr>
          <a:xfrm>
            <a:off x="645694" y="2013937"/>
            <a:ext cx="10375232" cy="1815882"/>
          </a:xfrm>
          <a:prstGeom prst="rect">
            <a:avLst/>
          </a:prstGeom>
          <a:noFill/>
        </p:spPr>
        <p:txBody>
          <a:bodyPr wrap="square">
            <a:spAutoFit/>
          </a:bodyPr>
          <a:lstStyle/>
          <a:p>
            <a:pPr algn="just"/>
            <a:r>
              <a:rPr lang="en-US" sz="2800" b="0" i="0" u="none" strike="noStrike" baseline="0" dirty="0">
                <a:latin typeface="Times New Roman" panose="02020603050405020304" pitchFamily="18" charset="0"/>
                <a:cs typeface="Times New Roman" panose="02020603050405020304" pitchFamily="18" charset="0"/>
              </a:rPr>
              <a:t>This chapter has shown the utility and use of the multiply and division operations provided by the RISC-V extension M. When this extension is not provided, execution time suers considerably because these operations must be performed in software.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829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6A12B-0CC7-552E-4352-C1AB378AE4C5}"/>
              </a:ext>
            </a:extLst>
          </p:cNvPr>
          <p:cNvSpPr>
            <a:spLocks noGrp="1"/>
          </p:cNvSpPr>
          <p:nvPr>
            <p:ph type="title"/>
          </p:nvPr>
        </p:nvSpPr>
        <p:spPr>
          <a:xfrm>
            <a:off x="4317331" y="2825499"/>
            <a:ext cx="3557337" cy="1207001"/>
          </a:xfrm>
        </p:spPr>
        <p:txBody>
          <a:bodyPr/>
          <a:lstStyle/>
          <a:p>
            <a:r>
              <a:rPr lang="en-US"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118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1692</Words>
  <Application>Microsoft Office PowerPoint</Application>
  <PresentationFormat>Widescreen</PresentationFormat>
  <Paragraphs>122</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PowerPoint Presentation</vt:lpstr>
      <vt:lpstr>Multiplication Operations</vt:lpstr>
      <vt:lpstr>Signed Multiplication</vt:lpstr>
      <vt:lpstr>Division Operations</vt:lpstr>
      <vt:lpstr>PowerPoint Presentation</vt:lpstr>
      <vt:lpstr>Unsigned Factorial</vt:lpstr>
      <vt:lpstr>PowerPoint Presentation</vt:lpstr>
      <vt:lpstr>PowerPoint Presentation</vt:lpstr>
      <vt:lpstr>PowerPoint Presentation</vt:lpstr>
      <vt:lpstr>PowerPoint Presentation</vt:lpstr>
      <vt:lpstr>Safe Division</vt:lpstr>
      <vt:lpstr>PowerPoint Presentation</vt:lpstr>
      <vt:lpstr>Greatest Common Divisor</vt:lpstr>
      <vt:lpstr>PowerPoint Presentation</vt:lpstr>
      <vt:lpstr>Combinations</vt:lpstr>
      <vt:lpstr>Summary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雷迪</dc:creator>
  <cp:lastModifiedBy>雷迪</cp:lastModifiedBy>
  <cp:revision>1</cp:revision>
  <dcterms:created xsi:type="dcterms:W3CDTF">2025-08-01T09:50:17Z</dcterms:created>
  <dcterms:modified xsi:type="dcterms:W3CDTF">2025-08-01T10:34:30Z</dcterms:modified>
</cp:coreProperties>
</file>