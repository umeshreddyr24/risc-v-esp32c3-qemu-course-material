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p:scale>
          <a:sx n="75" d="100"/>
          <a:sy n="75" d="100"/>
        </p:scale>
        <p:origin x="965" y="3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D63F74-8BB4-4A24-A4C2-ABC7605C2E4C}" type="datetimeFigureOut">
              <a:rPr lang="en-IN" smtClean="0"/>
              <a:t>31-07-2025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438AC4-6E67-438D-966B-F0AD6F6C6768}" type="slidenum">
              <a:rPr lang="en-IN" smtClean="0"/>
              <a:t>‹#›</a:t>
            </a:fld>
            <a:endParaRPr lang="en-IN"/>
          </a:p>
        </p:txBody>
      </p:sp>
    </p:spTree>
    <p:extLst>
      <p:ext uri="{BB962C8B-B14F-4D97-AF65-F5344CB8AC3E}">
        <p14:creationId xmlns:p14="http://schemas.microsoft.com/office/powerpoint/2010/main" val="3259646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Notice that RV32I does not have a "</a:t>
            </a:r>
            <a:r>
              <a:rPr lang="en-US" sz="1200" b="0" i="0" u="none" strike="noStrike" kern="1200" baseline="0" dirty="0" err="1">
                <a:solidFill>
                  <a:schemeClr val="tx1"/>
                </a:solidFill>
                <a:latin typeface="+mn-lt"/>
                <a:ea typeface="+mn-ea"/>
                <a:cs typeface="+mn-cs"/>
              </a:rPr>
              <a:t>lwu</a:t>
            </a:r>
            <a:r>
              <a:rPr lang="en-US" sz="1200" b="0" i="0" u="none" strike="noStrike" kern="1200" baseline="0" dirty="0">
                <a:solidFill>
                  <a:schemeClr val="tx1"/>
                </a:solidFill>
                <a:latin typeface="+mn-lt"/>
                <a:ea typeface="+mn-ea"/>
                <a:cs typeface="+mn-cs"/>
              </a:rPr>
              <a:t>" instruction</a:t>
            </a:r>
          </a:p>
          <a:p>
            <a:r>
              <a:rPr lang="en-US" sz="1200" b="0" i="0" u="none" strike="noStrike" kern="1200" baseline="0" dirty="0">
                <a:solidFill>
                  <a:schemeClr val="tx1"/>
                </a:solidFill>
                <a:latin typeface="+mn-lt"/>
                <a:ea typeface="+mn-ea"/>
                <a:cs typeface="+mn-cs"/>
              </a:rPr>
              <a:t>because there is no need for it. The register is only 32-</a:t>
            </a:r>
          </a:p>
          <a:p>
            <a:r>
              <a:rPr lang="en-US" sz="1200" b="0" i="0" u="none" strike="noStrike" kern="1200" baseline="0" dirty="0">
                <a:solidFill>
                  <a:schemeClr val="tx1"/>
                </a:solidFill>
                <a:latin typeface="+mn-lt"/>
                <a:ea typeface="+mn-ea"/>
                <a:cs typeface="+mn-cs"/>
              </a:rPr>
              <a:t>bits in size so there is no sign extension involved. But for</a:t>
            </a:r>
          </a:p>
          <a:p>
            <a:r>
              <a:rPr lang="en-US" sz="1200" b="0" i="0" u="none" strike="noStrike" kern="1200" baseline="0" dirty="0">
                <a:solidFill>
                  <a:schemeClr val="tx1"/>
                </a:solidFill>
                <a:latin typeface="+mn-lt"/>
                <a:ea typeface="+mn-ea"/>
                <a:cs typeface="+mn-cs"/>
              </a:rPr>
              <a:t>RV64I, there is indeed a need because its registers are 64</a:t>
            </a:r>
          </a:p>
          <a:p>
            <a:r>
              <a:rPr lang="en-US" sz="1200" b="0" i="0" u="none" strike="noStrike" kern="1200" baseline="0" dirty="0">
                <a:solidFill>
                  <a:schemeClr val="tx1"/>
                </a:solidFill>
                <a:latin typeface="+mn-lt"/>
                <a:ea typeface="+mn-ea"/>
                <a:cs typeface="+mn-cs"/>
              </a:rPr>
              <a:t>bits wide. Loading a 32-bit value can be sign extended</a:t>
            </a:r>
          </a:p>
          <a:p>
            <a:r>
              <a:rPr lang="en-US" sz="1200" b="0" i="0" u="none" strike="noStrike" kern="1200" baseline="0" dirty="0">
                <a:solidFill>
                  <a:schemeClr val="tx1"/>
                </a:solidFill>
                <a:latin typeface="+mn-lt"/>
                <a:ea typeface="+mn-ea"/>
                <a:cs typeface="+mn-cs"/>
              </a:rPr>
              <a:t>(</a:t>
            </a:r>
            <a:r>
              <a:rPr lang="en-US" sz="1200" b="0" i="0" u="none" strike="noStrike" kern="1200" baseline="0" dirty="0" err="1">
                <a:solidFill>
                  <a:schemeClr val="tx1"/>
                </a:solidFill>
                <a:latin typeface="+mn-lt"/>
                <a:ea typeface="+mn-ea"/>
                <a:cs typeface="+mn-cs"/>
              </a:rPr>
              <a:t>lw</a:t>
            </a:r>
            <a:r>
              <a:rPr lang="en-US" sz="1200" b="0" i="0" u="none" strike="noStrike" kern="1200" baseline="0" dirty="0">
                <a:solidFill>
                  <a:schemeClr val="tx1"/>
                </a:solidFill>
                <a:latin typeface="+mn-lt"/>
                <a:ea typeface="+mn-ea"/>
                <a:cs typeface="+mn-cs"/>
              </a:rPr>
              <a:t>) or not (</a:t>
            </a:r>
            <a:r>
              <a:rPr lang="en-US" sz="1200" b="0" i="0" u="none" strike="noStrike" kern="1200" baseline="0" dirty="0" err="1">
                <a:solidFill>
                  <a:schemeClr val="tx1"/>
                </a:solidFill>
                <a:latin typeface="+mn-lt"/>
                <a:ea typeface="+mn-ea"/>
                <a:cs typeface="+mn-cs"/>
              </a:rPr>
              <a:t>lwu</a:t>
            </a:r>
            <a:r>
              <a:rPr lang="en-US" sz="1200" b="0" i="0" u="none" strike="noStrike" kern="1200" baseline="0" dirty="0">
                <a:solidFill>
                  <a:schemeClr val="tx1"/>
                </a:solidFill>
                <a:latin typeface="+mn-lt"/>
                <a:ea typeface="+mn-ea"/>
                <a:cs typeface="+mn-cs"/>
              </a:rPr>
              <a:t>) for RV64I</a:t>
            </a:r>
            <a:endParaRPr lang="en-IN" dirty="0"/>
          </a:p>
        </p:txBody>
      </p:sp>
      <p:sp>
        <p:nvSpPr>
          <p:cNvPr id="4" name="Slide Number Placeholder 3"/>
          <p:cNvSpPr>
            <a:spLocks noGrp="1"/>
          </p:cNvSpPr>
          <p:nvPr>
            <p:ph type="sldNum" sz="quarter" idx="5"/>
          </p:nvPr>
        </p:nvSpPr>
        <p:spPr/>
        <p:txBody>
          <a:bodyPr/>
          <a:lstStyle/>
          <a:p>
            <a:fld id="{4A438AC4-6E67-438D-966B-F0AD6F6C6768}" type="slidenum">
              <a:rPr lang="en-IN" smtClean="0"/>
              <a:t>6</a:t>
            </a:fld>
            <a:endParaRPr lang="en-IN"/>
          </a:p>
        </p:txBody>
      </p:sp>
    </p:spTree>
    <p:extLst>
      <p:ext uri="{BB962C8B-B14F-4D97-AF65-F5344CB8AC3E}">
        <p14:creationId xmlns:p14="http://schemas.microsoft.com/office/powerpoint/2010/main" val="4104260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4057A-9256-AFF9-7497-1BFCE6215A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749B3F8-8D00-D7A8-D86A-496077F7A3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5BD7CFC-C711-EE59-115B-9E825A49BF6B}"/>
              </a:ext>
            </a:extLst>
          </p:cNvPr>
          <p:cNvSpPr>
            <a:spLocks noGrp="1"/>
          </p:cNvSpPr>
          <p:nvPr>
            <p:ph type="dt" sz="half" idx="10"/>
          </p:nvPr>
        </p:nvSpPr>
        <p:spPr/>
        <p:txBody>
          <a:bodyPr/>
          <a:lstStyle/>
          <a:p>
            <a:fld id="{567AC823-4E9B-4A12-8750-6B5E63D58035}" type="datetimeFigureOut">
              <a:rPr lang="en-IN" smtClean="0"/>
              <a:t>31-07-2025</a:t>
            </a:fld>
            <a:endParaRPr lang="en-IN"/>
          </a:p>
        </p:txBody>
      </p:sp>
      <p:sp>
        <p:nvSpPr>
          <p:cNvPr id="5" name="Footer Placeholder 4">
            <a:extLst>
              <a:ext uri="{FF2B5EF4-FFF2-40B4-BE49-F238E27FC236}">
                <a16:creationId xmlns:a16="http://schemas.microsoft.com/office/drawing/2014/main" id="{F5A760B3-EBF5-630F-969B-FF83922BC0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B7990F-6449-802A-117D-5F9FD4E2C222}"/>
              </a:ext>
            </a:extLst>
          </p:cNvPr>
          <p:cNvSpPr>
            <a:spLocks noGrp="1"/>
          </p:cNvSpPr>
          <p:nvPr>
            <p:ph type="sldNum" sz="quarter" idx="12"/>
          </p:nvPr>
        </p:nvSpPr>
        <p:spPr/>
        <p:txBody>
          <a:bodyPr/>
          <a:lstStyle/>
          <a:p>
            <a:fld id="{80B91952-F004-475C-9088-46A87EFB8C8B}" type="slidenum">
              <a:rPr lang="en-IN" smtClean="0"/>
              <a:t>‹#›</a:t>
            </a:fld>
            <a:endParaRPr lang="en-IN"/>
          </a:p>
        </p:txBody>
      </p:sp>
    </p:spTree>
    <p:extLst>
      <p:ext uri="{BB962C8B-B14F-4D97-AF65-F5344CB8AC3E}">
        <p14:creationId xmlns:p14="http://schemas.microsoft.com/office/powerpoint/2010/main" val="972652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4CCB5-27CC-3CFF-2A54-81E14728D0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E57BFB7-3E80-55B2-5CE7-134BE04851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AFDC93-249F-3E42-3447-E1F928974466}"/>
              </a:ext>
            </a:extLst>
          </p:cNvPr>
          <p:cNvSpPr>
            <a:spLocks noGrp="1"/>
          </p:cNvSpPr>
          <p:nvPr>
            <p:ph type="dt" sz="half" idx="10"/>
          </p:nvPr>
        </p:nvSpPr>
        <p:spPr/>
        <p:txBody>
          <a:bodyPr/>
          <a:lstStyle/>
          <a:p>
            <a:fld id="{567AC823-4E9B-4A12-8750-6B5E63D58035}" type="datetimeFigureOut">
              <a:rPr lang="en-IN" smtClean="0"/>
              <a:t>31-07-2025</a:t>
            </a:fld>
            <a:endParaRPr lang="en-IN"/>
          </a:p>
        </p:txBody>
      </p:sp>
      <p:sp>
        <p:nvSpPr>
          <p:cNvPr id="5" name="Footer Placeholder 4">
            <a:extLst>
              <a:ext uri="{FF2B5EF4-FFF2-40B4-BE49-F238E27FC236}">
                <a16:creationId xmlns:a16="http://schemas.microsoft.com/office/drawing/2014/main" id="{37D77B3D-323C-FDF4-E166-39FC6E7EC1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3537F8-FBD8-A470-F563-C51D652D2BEB}"/>
              </a:ext>
            </a:extLst>
          </p:cNvPr>
          <p:cNvSpPr>
            <a:spLocks noGrp="1"/>
          </p:cNvSpPr>
          <p:nvPr>
            <p:ph type="sldNum" sz="quarter" idx="12"/>
          </p:nvPr>
        </p:nvSpPr>
        <p:spPr/>
        <p:txBody>
          <a:bodyPr/>
          <a:lstStyle/>
          <a:p>
            <a:fld id="{80B91952-F004-475C-9088-46A87EFB8C8B}" type="slidenum">
              <a:rPr lang="en-IN" smtClean="0"/>
              <a:t>‹#›</a:t>
            </a:fld>
            <a:endParaRPr lang="en-IN"/>
          </a:p>
        </p:txBody>
      </p:sp>
    </p:spTree>
    <p:extLst>
      <p:ext uri="{BB962C8B-B14F-4D97-AF65-F5344CB8AC3E}">
        <p14:creationId xmlns:p14="http://schemas.microsoft.com/office/powerpoint/2010/main" val="548007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139F1-3763-3630-BB3C-164A410864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1B9529A-B8CA-B924-8F66-4D8685AF23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4B5F20-927F-F302-5993-B6411C30EA25}"/>
              </a:ext>
            </a:extLst>
          </p:cNvPr>
          <p:cNvSpPr>
            <a:spLocks noGrp="1"/>
          </p:cNvSpPr>
          <p:nvPr>
            <p:ph type="dt" sz="half" idx="10"/>
          </p:nvPr>
        </p:nvSpPr>
        <p:spPr/>
        <p:txBody>
          <a:bodyPr/>
          <a:lstStyle/>
          <a:p>
            <a:fld id="{567AC823-4E9B-4A12-8750-6B5E63D58035}" type="datetimeFigureOut">
              <a:rPr lang="en-IN" smtClean="0"/>
              <a:t>31-07-2025</a:t>
            </a:fld>
            <a:endParaRPr lang="en-IN"/>
          </a:p>
        </p:txBody>
      </p:sp>
      <p:sp>
        <p:nvSpPr>
          <p:cNvPr id="5" name="Footer Placeholder 4">
            <a:extLst>
              <a:ext uri="{FF2B5EF4-FFF2-40B4-BE49-F238E27FC236}">
                <a16:creationId xmlns:a16="http://schemas.microsoft.com/office/drawing/2014/main" id="{D538023F-28C3-B6C6-A90C-B3ABEC7DA9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FEBD42-53BC-5967-D759-915AD3A3C356}"/>
              </a:ext>
            </a:extLst>
          </p:cNvPr>
          <p:cNvSpPr>
            <a:spLocks noGrp="1"/>
          </p:cNvSpPr>
          <p:nvPr>
            <p:ph type="sldNum" sz="quarter" idx="12"/>
          </p:nvPr>
        </p:nvSpPr>
        <p:spPr/>
        <p:txBody>
          <a:bodyPr/>
          <a:lstStyle/>
          <a:p>
            <a:fld id="{80B91952-F004-475C-9088-46A87EFB8C8B}" type="slidenum">
              <a:rPr lang="en-IN" smtClean="0"/>
              <a:t>‹#›</a:t>
            </a:fld>
            <a:endParaRPr lang="en-IN"/>
          </a:p>
        </p:txBody>
      </p:sp>
    </p:spTree>
    <p:extLst>
      <p:ext uri="{BB962C8B-B14F-4D97-AF65-F5344CB8AC3E}">
        <p14:creationId xmlns:p14="http://schemas.microsoft.com/office/powerpoint/2010/main" val="277273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B268D-4DDF-D669-2648-F53869CB0E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A312D0-5264-A6BE-6134-3945983259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BB25FB-8EA3-9F42-5B2B-F28297E33B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044E42-8028-166E-C93D-FF188D8F59E9}"/>
              </a:ext>
            </a:extLst>
          </p:cNvPr>
          <p:cNvSpPr>
            <a:spLocks noGrp="1"/>
          </p:cNvSpPr>
          <p:nvPr>
            <p:ph type="dt" sz="half" idx="10"/>
          </p:nvPr>
        </p:nvSpPr>
        <p:spPr/>
        <p:txBody>
          <a:bodyPr/>
          <a:lstStyle/>
          <a:p>
            <a:fld id="{567AC823-4E9B-4A12-8750-6B5E63D58035}" type="datetimeFigureOut">
              <a:rPr lang="en-IN" smtClean="0"/>
              <a:t>31-07-2025</a:t>
            </a:fld>
            <a:endParaRPr lang="en-IN"/>
          </a:p>
        </p:txBody>
      </p:sp>
      <p:sp>
        <p:nvSpPr>
          <p:cNvPr id="6" name="Footer Placeholder 5">
            <a:extLst>
              <a:ext uri="{FF2B5EF4-FFF2-40B4-BE49-F238E27FC236}">
                <a16:creationId xmlns:a16="http://schemas.microsoft.com/office/drawing/2014/main" id="{4B2A7032-741B-6350-ECB9-686A0D3668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CA88F3-523D-B8ED-4D78-B25257240EE8}"/>
              </a:ext>
            </a:extLst>
          </p:cNvPr>
          <p:cNvSpPr>
            <a:spLocks noGrp="1"/>
          </p:cNvSpPr>
          <p:nvPr>
            <p:ph type="sldNum" sz="quarter" idx="12"/>
          </p:nvPr>
        </p:nvSpPr>
        <p:spPr/>
        <p:txBody>
          <a:bodyPr/>
          <a:lstStyle/>
          <a:p>
            <a:fld id="{80B91952-F004-475C-9088-46A87EFB8C8B}" type="slidenum">
              <a:rPr lang="en-IN" smtClean="0"/>
              <a:t>‹#›</a:t>
            </a:fld>
            <a:endParaRPr lang="en-IN"/>
          </a:p>
        </p:txBody>
      </p:sp>
    </p:spTree>
    <p:extLst>
      <p:ext uri="{BB962C8B-B14F-4D97-AF65-F5344CB8AC3E}">
        <p14:creationId xmlns:p14="http://schemas.microsoft.com/office/powerpoint/2010/main" val="3390438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19107-C100-B18B-4A9F-06D227DD44B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81880D-FEB2-34E5-B108-126BEE9D80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2DF731-F716-7FCA-BA1C-68E136086A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6C368DE-DE28-D39D-A0C6-3CA7BFB055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F00FB8-0357-2EB9-4F30-A1CCD28022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02ADD31-9870-8DF8-6E8C-BF039352D6B6}"/>
              </a:ext>
            </a:extLst>
          </p:cNvPr>
          <p:cNvSpPr>
            <a:spLocks noGrp="1"/>
          </p:cNvSpPr>
          <p:nvPr>
            <p:ph type="dt" sz="half" idx="10"/>
          </p:nvPr>
        </p:nvSpPr>
        <p:spPr/>
        <p:txBody>
          <a:bodyPr/>
          <a:lstStyle/>
          <a:p>
            <a:fld id="{567AC823-4E9B-4A12-8750-6B5E63D58035}" type="datetimeFigureOut">
              <a:rPr lang="en-IN" smtClean="0"/>
              <a:t>31-07-2025</a:t>
            </a:fld>
            <a:endParaRPr lang="en-IN"/>
          </a:p>
        </p:txBody>
      </p:sp>
      <p:sp>
        <p:nvSpPr>
          <p:cNvPr id="8" name="Footer Placeholder 7">
            <a:extLst>
              <a:ext uri="{FF2B5EF4-FFF2-40B4-BE49-F238E27FC236}">
                <a16:creationId xmlns:a16="http://schemas.microsoft.com/office/drawing/2014/main" id="{1675F4AC-CE99-11DC-1D46-A4442CD2132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D52FD02-2BF3-9145-4F8C-21C70B654CA1}"/>
              </a:ext>
            </a:extLst>
          </p:cNvPr>
          <p:cNvSpPr>
            <a:spLocks noGrp="1"/>
          </p:cNvSpPr>
          <p:nvPr>
            <p:ph type="sldNum" sz="quarter" idx="12"/>
          </p:nvPr>
        </p:nvSpPr>
        <p:spPr/>
        <p:txBody>
          <a:bodyPr/>
          <a:lstStyle/>
          <a:p>
            <a:fld id="{80B91952-F004-475C-9088-46A87EFB8C8B}" type="slidenum">
              <a:rPr lang="en-IN" smtClean="0"/>
              <a:t>‹#›</a:t>
            </a:fld>
            <a:endParaRPr lang="en-IN"/>
          </a:p>
        </p:txBody>
      </p:sp>
    </p:spTree>
    <p:extLst>
      <p:ext uri="{BB962C8B-B14F-4D97-AF65-F5344CB8AC3E}">
        <p14:creationId xmlns:p14="http://schemas.microsoft.com/office/powerpoint/2010/main" val="2713127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B2BA2-7838-F288-5CF0-634E16588F2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264AED-248F-CF2A-21F1-56B75F699541}"/>
              </a:ext>
            </a:extLst>
          </p:cNvPr>
          <p:cNvSpPr>
            <a:spLocks noGrp="1"/>
          </p:cNvSpPr>
          <p:nvPr>
            <p:ph type="dt" sz="half" idx="10"/>
          </p:nvPr>
        </p:nvSpPr>
        <p:spPr/>
        <p:txBody>
          <a:bodyPr/>
          <a:lstStyle/>
          <a:p>
            <a:fld id="{567AC823-4E9B-4A12-8750-6B5E63D58035}" type="datetimeFigureOut">
              <a:rPr lang="en-IN" smtClean="0"/>
              <a:t>31-07-2025</a:t>
            </a:fld>
            <a:endParaRPr lang="en-IN"/>
          </a:p>
        </p:txBody>
      </p:sp>
      <p:sp>
        <p:nvSpPr>
          <p:cNvPr id="4" name="Footer Placeholder 3">
            <a:extLst>
              <a:ext uri="{FF2B5EF4-FFF2-40B4-BE49-F238E27FC236}">
                <a16:creationId xmlns:a16="http://schemas.microsoft.com/office/drawing/2014/main" id="{609F6810-8163-191F-316A-DF4F100E596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622BD5-ADFC-44DC-BEB9-1F690165CC13}"/>
              </a:ext>
            </a:extLst>
          </p:cNvPr>
          <p:cNvSpPr>
            <a:spLocks noGrp="1"/>
          </p:cNvSpPr>
          <p:nvPr>
            <p:ph type="sldNum" sz="quarter" idx="12"/>
          </p:nvPr>
        </p:nvSpPr>
        <p:spPr/>
        <p:txBody>
          <a:bodyPr/>
          <a:lstStyle/>
          <a:p>
            <a:fld id="{80B91952-F004-475C-9088-46A87EFB8C8B}" type="slidenum">
              <a:rPr lang="en-IN" smtClean="0"/>
              <a:t>‹#›</a:t>
            </a:fld>
            <a:endParaRPr lang="en-IN"/>
          </a:p>
        </p:txBody>
      </p:sp>
    </p:spTree>
    <p:extLst>
      <p:ext uri="{BB962C8B-B14F-4D97-AF65-F5344CB8AC3E}">
        <p14:creationId xmlns:p14="http://schemas.microsoft.com/office/powerpoint/2010/main" val="1576110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B676A5-2A69-D450-991E-F72CBA00E61D}"/>
              </a:ext>
            </a:extLst>
          </p:cNvPr>
          <p:cNvSpPr>
            <a:spLocks noGrp="1"/>
          </p:cNvSpPr>
          <p:nvPr>
            <p:ph type="dt" sz="half" idx="10"/>
          </p:nvPr>
        </p:nvSpPr>
        <p:spPr/>
        <p:txBody>
          <a:bodyPr/>
          <a:lstStyle/>
          <a:p>
            <a:fld id="{567AC823-4E9B-4A12-8750-6B5E63D58035}" type="datetimeFigureOut">
              <a:rPr lang="en-IN" smtClean="0"/>
              <a:t>31-07-2025</a:t>
            </a:fld>
            <a:endParaRPr lang="en-IN"/>
          </a:p>
        </p:txBody>
      </p:sp>
      <p:sp>
        <p:nvSpPr>
          <p:cNvPr id="3" name="Footer Placeholder 2">
            <a:extLst>
              <a:ext uri="{FF2B5EF4-FFF2-40B4-BE49-F238E27FC236}">
                <a16:creationId xmlns:a16="http://schemas.microsoft.com/office/drawing/2014/main" id="{382F40B6-11B1-9C8C-F235-56C3298409E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19DE08B-88F5-6E4A-77C9-9A0179C333B6}"/>
              </a:ext>
            </a:extLst>
          </p:cNvPr>
          <p:cNvSpPr>
            <a:spLocks noGrp="1"/>
          </p:cNvSpPr>
          <p:nvPr>
            <p:ph type="sldNum" sz="quarter" idx="12"/>
          </p:nvPr>
        </p:nvSpPr>
        <p:spPr/>
        <p:txBody>
          <a:bodyPr/>
          <a:lstStyle/>
          <a:p>
            <a:fld id="{80B91952-F004-475C-9088-46A87EFB8C8B}" type="slidenum">
              <a:rPr lang="en-IN" smtClean="0"/>
              <a:t>‹#›</a:t>
            </a:fld>
            <a:endParaRPr lang="en-IN"/>
          </a:p>
        </p:txBody>
      </p:sp>
    </p:spTree>
    <p:extLst>
      <p:ext uri="{BB962C8B-B14F-4D97-AF65-F5344CB8AC3E}">
        <p14:creationId xmlns:p14="http://schemas.microsoft.com/office/powerpoint/2010/main" val="4274157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24995-6DC5-5105-3B22-D900C7652D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168B03-458A-A240-A74A-813A2111C1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3D218DF-BF6E-8727-ECCD-C561396D0E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09079C-40F3-C56A-FDCD-BAEB88C4183C}"/>
              </a:ext>
            </a:extLst>
          </p:cNvPr>
          <p:cNvSpPr>
            <a:spLocks noGrp="1"/>
          </p:cNvSpPr>
          <p:nvPr>
            <p:ph type="dt" sz="half" idx="10"/>
          </p:nvPr>
        </p:nvSpPr>
        <p:spPr/>
        <p:txBody>
          <a:bodyPr/>
          <a:lstStyle/>
          <a:p>
            <a:fld id="{567AC823-4E9B-4A12-8750-6B5E63D58035}" type="datetimeFigureOut">
              <a:rPr lang="en-IN" smtClean="0"/>
              <a:t>31-07-2025</a:t>
            </a:fld>
            <a:endParaRPr lang="en-IN"/>
          </a:p>
        </p:txBody>
      </p:sp>
      <p:sp>
        <p:nvSpPr>
          <p:cNvPr id="6" name="Footer Placeholder 5">
            <a:extLst>
              <a:ext uri="{FF2B5EF4-FFF2-40B4-BE49-F238E27FC236}">
                <a16:creationId xmlns:a16="http://schemas.microsoft.com/office/drawing/2014/main" id="{3064CA9E-1CC2-7F71-EB95-7835B79C19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4C56C9-8491-F635-9CFB-DBA4B9B58A08}"/>
              </a:ext>
            </a:extLst>
          </p:cNvPr>
          <p:cNvSpPr>
            <a:spLocks noGrp="1"/>
          </p:cNvSpPr>
          <p:nvPr>
            <p:ph type="sldNum" sz="quarter" idx="12"/>
          </p:nvPr>
        </p:nvSpPr>
        <p:spPr/>
        <p:txBody>
          <a:bodyPr/>
          <a:lstStyle/>
          <a:p>
            <a:fld id="{80B91952-F004-475C-9088-46A87EFB8C8B}" type="slidenum">
              <a:rPr lang="en-IN" smtClean="0"/>
              <a:t>‹#›</a:t>
            </a:fld>
            <a:endParaRPr lang="en-IN"/>
          </a:p>
        </p:txBody>
      </p:sp>
    </p:spTree>
    <p:extLst>
      <p:ext uri="{BB962C8B-B14F-4D97-AF65-F5344CB8AC3E}">
        <p14:creationId xmlns:p14="http://schemas.microsoft.com/office/powerpoint/2010/main" val="3103920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FAFD8-1902-C7AD-0170-BA94DC4A73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2501914-E9F6-DA48-5D26-901CA66A36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97B035A-C2FC-28E7-A64C-E90B067DDB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F4F27-7DE9-A2FA-E459-60C999C0A52D}"/>
              </a:ext>
            </a:extLst>
          </p:cNvPr>
          <p:cNvSpPr>
            <a:spLocks noGrp="1"/>
          </p:cNvSpPr>
          <p:nvPr>
            <p:ph type="dt" sz="half" idx="10"/>
          </p:nvPr>
        </p:nvSpPr>
        <p:spPr/>
        <p:txBody>
          <a:bodyPr/>
          <a:lstStyle/>
          <a:p>
            <a:fld id="{567AC823-4E9B-4A12-8750-6B5E63D58035}" type="datetimeFigureOut">
              <a:rPr lang="en-IN" smtClean="0"/>
              <a:t>31-07-2025</a:t>
            </a:fld>
            <a:endParaRPr lang="en-IN"/>
          </a:p>
        </p:txBody>
      </p:sp>
      <p:sp>
        <p:nvSpPr>
          <p:cNvPr id="6" name="Footer Placeholder 5">
            <a:extLst>
              <a:ext uri="{FF2B5EF4-FFF2-40B4-BE49-F238E27FC236}">
                <a16:creationId xmlns:a16="http://schemas.microsoft.com/office/drawing/2014/main" id="{0411967C-DC4F-F867-6154-E0BD0DC532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871FE3-6448-0871-10F6-561C63D15B49}"/>
              </a:ext>
            </a:extLst>
          </p:cNvPr>
          <p:cNvSpPr>
            <a:spLocks noGrp="1"/>
          </p:cNvSpPr>
          <p:nvPr>
            <p:ph type="sldNum" sz="quarter" idx="12"/>
          </p:nvPr>
        </p:nvSpPr>
        <p:spPr/>
        <p:txBody>
          <a:bodyPr/>
          <a:lstStyle/>
          <a:p>
            <a:fld id="{80B91952-F004-475C-9088-46A87EFB8C8B}" type="slidenum">
              <a:rPr lang="en-IN" smtClean="0"/>
              <a:t>‹#›</a:t>
            </a:fld>
            <a:endParaRPr lang="en-IN"/>
          </a:p>
        </p:txBody>
      </p:sp>
    </p:spTree>
    <p:extLst>
      <p:ext uri="{BB962C8B-B14F-4D97-AF65-F5344CB8AC3E}">
        <p14:creationId xmlns:p14="http://schemas.microsoft.com/office/powerpoint/2010/main" val="3443265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D441D-945A-5DAB-6B98-759BB4D3D01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E5E11A-CFCA-9F8A-D448-AFC31E5922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8F007A-B045-B845-2BF9-7735BC190075}"/>
              </a:ext>
            </a:extLst>
          </p:cNvPr>
          <p:cNvSpPr>
            <a:spLocks noGrp="1"/>
          </p:cNvSpPr>
          <p:nvPr>
            <p:ph type="dt" sz="half" idx="10"/>
          </p:nvPr>
        </p:nvSpPr>
        <p:spPr/>
        <p:txBody>
          <a:bodyPr/>
          <a:lstStyle/>
          <a:p>
            <a:fld id="{567AC823-4E9B-4A12-8750-6B5E63D58035}" type="datetimeFigureOut">
              <a:rPr lang="en-IN" smtClean="0"/>
              <a:t>31-07-2025</a:t>
            </a:fld>
            <a:endParaRPr lang="en-IN"/>
          </a:p>
        </p:txBody>
      </p:sp>
      <p:sp>
        <p:nvSpPr>
          <p:cNvPr id="5" name="Footer Placeholder 4">
            <a:extLst>
              <a:ext uri="{FF2B5EF4-FFF2-40B4-BE49-F238E27FC236}">
                <a16:creationId xmlns:a16="http://schemas.microsoft.com/office/drawing/2014/main" id="{7CF6E0B8-7610-BEA2-E553-13AFE9D079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ABF5D8-E82F-95CA-7E5E-700FF4B09EF3}"/>
              </a:ext>
            </a:extLst>
          </p:cNvPr>
          <p:cNvSpPr>
            <a:spLocks noGrp="1"/>
          </p:cNvSpPr>
          <p:nvPr>
            <p:ph type="sldNum" sz="quarter" idx="12"/>
          </p:nvPr>
        </p:nvSpPr>
        <p:spPr/>
        <p:txBody>
          <a:bodyPr/>
          <a:lstStyle/>
          <a:p>
            <a:fld id="{80B91952-F004-475C-9088-46A87EFB8C8B}" type="slidenum">
              <a:rPr lang="en-IN" smtClean="0"/>
              <a:t>‹#›</a:t>
            </a:fld>
            <a:endParaRPr lang="en-IN"/>
          </a:p>
        </p:txBody>
      </p:sp>
    </p:spTree>
    <p:extLst>
      <p:ext uri="{BB962C8B-B14F-4D97-AF65-F5344CB8AC3E}">
        <p14:creationId xmlns:p14="http://schemas.microsoft.com/office/powerpoint/2010/main" val="298838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716F54-3AD5-F2DB-C8CF-BA34614A97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0BF95E-9EE6-F31B-0FAD-FD728808C0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563FBF-DDB1-A06C-7550-693671C3DFF2}"/>
              </a:ext>
            </a:extLst>
          </p:cNvPr>
          <p:cNvSpPr>
            <a:spLocks noGrp="1"/>
          </p:cNvSpPr>
          <p:nvPr>
            <p:ph type="dt" sz="half" idx="10"/>
          </p:nvPr>
        </p:nvSpPr>
        <p:spPr/>
        <p:txBody>
          <a:bodyPr/>
          <a:lstStyle/>
          <a:p>
            <a:fld id="{567AC823-4E9B-4A12-8750-6B5E63D58035}" type="datetimeFigureOut">
              <a:rPr lang="en-IN" smtClean="0"/>
              <a:t>31-07-2025</a:t>
            </a:fld>
            <a:endParaRPr lang="en-IN"/>
          </a:p>
        </p:txBody>
      </p:sp>
      <p:sp>
        <p:nvSpPr>
          <p:cNvPr id="5" name="Footer Placeholder 4">
            <a:extLst>
              <a:ext uri="{FF2B5EF4-FFF2-40B4-BE49-F238E27FC236}">
                <a16:creationId xmlns:a16="http://schemas.microsoft.com/office/drawing/2014/main" id="{7BC38AB0-2364-37E8-7D66-AC6C1FC734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3E3824-32F3-621C-4901-6633F2F63843}"/>
              </a:ext>
            </a:extLst>
          </p:cNvPr>
          <p:cNvSpPr>
            <a:spLocks noGrp="1"/>
          </p:cNvSpPr>
          <p:nvPr>
            <p:ph type="sldNum" sz="quarter" idx="12"/>
          </p:nvPr>
        </p:nvSpPr>
        <p:spPr/>
        <p:txBody>
          <a:bodyPr/>
          <a:lstStyle/>
          <a:p>
            <a:fld id="{80B91952-F004-475C-9088-46A87EFB8C8B}" type="slidenum">
              <a:rPr lang="en-IN" smtClean="0"/>
              <a:t>‹#›</a:t>
            </a:fld>
            <a:endParaRPr lang="en-IN"/>
          </a:p>
        </p:txBody>
      </p:sp>
    </p:spTree>
    <p:extLst>
      <p:ext uri="{BB962C8B-B14F-4D97-AF65-F5344CB8AC3E}">
        <p14:creationId xmlns:p14="http://schemas.microsoft.com/office/powerpoint/2010/main" val="3202967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DD2E90-DA75-1232-14FD-0A42C9A4D6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318735-F355-5CF4-57E9-77A1E21E5A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57D7F6-649A-6967-25E1-F18A4B4A4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7AC823-4E9B-4A12-8750-6B5E63D58035}" type="datetimeFigureOut">
              <a:rPr lang="en-IN" smtClean="0"/>
              <a:t>31-07-2025</a:t>
            </a:fld>
            <a:endParaRPr lang="en-IN"/>
          </a:p>
        </p:txBody>
      </p:sp>
      <p:sp>
        <p:nvSpPr>
          <p:cNvPr id="5" name="Footer Placeholder 4">
            <a:extLst>
              <a:ext uri="{FF2B5EF4-FFF2-40B4-BE49-F238E27FC236}">
                <a16:creationId xmlns:a16="http://schemas.microsoft.com/office/drawing/2014/main" id="{DDFACFB5-82E4-E093-7E1C-C95DB4253A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81BE57D-D773-9DC8-0EDE-F2AD2E0BCF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B91952-F004-475C-9088-46A87EFB8C8B}" type="slidenum">
              <a:rPr lang="en-IN" smtClean="0"/>
              <a:t>‹#›</a:t>
            </a:fld>
            <a:endParaRPr lang="en-IN"/>
          </a:p>
        </p:txBody>
      </p:sp>
    </p:spTree>
    <p:extLst>
      <p:ext uri="{BB962C8B-B14F-4D97-AF65-F5344CB8AC3E}">
        <p14:creationId xmlns:p14="http://schemas.microsoft.com/office/powerpoint/2010/main" val="1976191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1BC6893B-9D2E-D852-7E13-E31B0DA47598}"/>
              </a:ext>
            </a:extLst>
          </p:cNvPr>
          <p:cNvSpPr/>
          <p:nvPr/>
        </p:nvSpPr>
        <p:spPr>
          <a:xfrm>
            <a:off x="8229600" y="377184"/>
            <a:ext cx="3282432" cy="658897"/>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
        <p:nvSpPr>
          <p:cNvPr id="10" name="TextBox 10">
            <a:extLst>
              <a:ext uri="{FF2B5EF4-FFF2-40B4-BE49-F238E27FC236}">
                <a16:creationId xmlns:a16="http://schemas.microsoft.com/office/drawing/2014/main" id="{21D8A078-7C62-0397-D2B4-7B47CAAB9F81}"/>
              </a:ext>
            </a:extLst>
          </p:cNvPr>
          <p:cNvSpPr txBox="1"/>
          <p:nvPr/>
        </p:nvSpPr>
        <p:spPr>
          <a:xfrm>
            <a:off x="604696" y="927972"/>
            <a:ext cx="6619064" cy="658898"/>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604"/>
              </a:lnSpc>
            </a:pPr>
            <a:r>
              <a:rPr lang="en-US" sz="4002" dirty="0">
                <a:solidFill>
                  <a:srgbClr val="000000"/>
                </a:solidFill>
                <a:latin typeface="Times New Roman" panose="02020603050405020304" pitchFamily="18" charset="0"/>
                <a:cs typeface="Times New Roman" panose="02020603050405020304" pitchFamily="18" charset="0"/>
              </a:rPr>
              <a:t>Presentation by Yi-</a:t>
            </a:r>
            <a:r>
              <a:rPr lang="en-US" sz="4002" dirty="0" err="1">
                <a:solidFill>
                  <a:srgbClr val="000000"/>
                </a:solidFill>
                <a:latin typeface="Times New Roman" panose="02020603050405020304" pitchFamily="18" charset="0"/>
                <a:cs typeface="Times New Roman" panose="02020603050405020304" pitchFamily="18" charset="0"/>
              </a:rPr>
              <a:t>Chih</a:t>
            </a:r>
            <a:r>
              <a:rPr lang="en-US" sz="4002" dirty="0">
                <a:solidFill>
                  <a:srgbClr val="000000"/>
                </a:solidFill>
                <a:latin typeface="Times New Roman" panose="02020603050405020304" pitchFamily="18" charset="0"/>
                <a:cs typeface="Times New Roman" panose="02020603050405020304" pitchFamily="18" charset="0"/>
              </a:rPr>
              <a:t> Tung</a:t>
            </a:r>
          </a:p>
        </p:txBody>
      </p:sp>
      <p:sp>
        <p:nvSpPr>
          <p:cNvPr id="11" name="TextBox 10">
            <a:extLst>
              <a:ext uri="{FF2B5EF4-FFF2-40B4-BE49-F238E27FC236}">
                <a16:creationId xmlns:a16="http://schemas.microsoft.com/office/drawing/2014/main" id="{340277D9-13A8-07D5-7919-527121C7C34D}"/>
              </a:ext>
            </a:extLst>
          </p:cNvPr>
          <p:cNvSpPr txBox="1"/>
          <p:nvPr/>
        </p:nvSpPr>
        <p:spPr>
          <a:xfrm>
            <a:off x="604696" y="1586870"/>
            <a:ext cx="3939689" cy="105375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9021"/>
              </a:lnSpc>
            </a:pPr>
            <a:r>
              <a:rPr lang="en-US" sz="6444" dirty="0">
                <a:solidFill>
                  <a:srgbClr val="000000"/>
                </a:solidFill>
                <a:latin typeface="Times New Roman" panose="02020603050405020304" pitchFamily="18" charset="0"/>
                <a:cs typeface="Times New Roman" panose="02020603050405020304" pitchFamily="18" charset="0"/>
              </a:rPr>
              <a:t>Chapter 6</a:t>
            </a:r>
          </a:p>
        </p:txBody>
      </p:sp>
      <p:sp>
        <p:nvSpPr>
          <p:cNvPr id="12" name="TextBox 11">
            <a:extLst>
              <a:ext uri="{FF2B5EF4-FFF2-40B4-BE49-F238E27FC236}">
                <a16:creationId xmlns:a16="http://schemas.microsoft.com/office/drawing/2014/main" id="{AB6E13E9-F1E9-3181-9325-A654C2069938}"/>
              </a:ext>
            </a:extLst>
          </p:cNvPr>
          <p:cNvSpPr txBox="1"/>
          <p:nvPr/>
        </p:nvSpPr>
        <p:spPr>
          <a:xfrm>
            <a:off x="780712" y="2798106"/>
            <a:ext cx="5315287" cy="1200329"/>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This chapter examines the</a:t>
            </a:r>
          </a:p>
          <a:p>
            <a:r>
              <a:rPr lang="en-US" dirty="0">
                <a:latin typeface="Times New Roman" panose="02020603050405020304" pitchFamily="18" charset="0"/>
                <a:cs typeface="Times New Roman" panose="02020603050405020304" pitchFamily="18" charset="0"/>
              </a:rPr>
              <a:t>RISC-V operations used for loading and storing.</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F0D3FAF5-5532-0A71-2426-C671E180DEA3}"/>
              </a:ext>
            </a:extLst>
          </p:cNvPr>
          <p:cNvPicPr>
            <a:picLocks noChangeAspect="1"/>
          </p:cNvPicPr>
          <p:nvPr/>
        </p:nvPicPr>
        <p:blipFill>
          <a:blip r:embed="rId3"/>
          <a:stretch>
            <a:fillRect/>
          </a:stretch>
        </p:blipFill>
        <p:spPr>
          <a:xfrm>
            <a:off x="6095999" y="1777847"/>
            <a:ext cx="5728142" cy="3667137"/>
          </a:xfrm>
          <a:prstGeom prst="rect">
            <a:avLst/>
          </a:prstGeom>
        </p:spPr>
      </p:pic>
    </p:spTree>
    <p:extLst>
      <p:ext uri="{BB962C8B-B14F-4D97-AF65-F5344CB8AC3E}">
        <p14:creationId xmlns:p14="http://schemas.microsoft.com/office/powerpoint/2010/main" val="2741349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9D1BA-FE11-0637-D1EE-714697349418}"/>
              </a:ext>
            </a:extLst>
          </p:cNvPr>
          <p:cNvSpPr>
            <a:spLocks noGrp="1"/>
          </p:cNvSpPr>
          <p:nvPr>
            <p:ph type="title"/>
          </p:nvPr>
        </p:nvSpPr>
        <p:spPr>
          <a:xfrm>
            <a:off x="657121" y="1846745"/>
            <a:ext cx="3687041" cy="2368317"/>
          </a:xfrm>
        </p:spPr>
        <p:txBody>
          <a:bodyPr anchor="t">
            <a:normAutofit/>
          </a:bodyPr>
          <a:lstStyle/>
          <a:p>
            <a:r>
              <a:rPr lang="en-US" sz="3200" b="1" dirty="0"/>
              <a:t>A Word About Word Sizes</a:t>
            </a:r>
            <a:endParaRPr lang="en-IN" sz="3200" dirty="0"/>
          </a:p>
        </p:txBody>
      </p:sp>
      <p:pic>
        <p:nvPicPr>
          <p:cNvPr id="6" name="Picture 5">
            <a:extLst>
              <a:ext uri="{FF2B5EF4-FFF2-40B4-BE49-F238E27FC236}">
                <a16:creationId xmlns:a16="http://schemas.microsoft.com/office/drawing/2014/main" id="{8F4E6C7B-1577-A2D6-776A-30D005F1DB3D}"/>
              </a:ext>
            </a:extLst>
          </p:cNvPr>
          <p:cNvPicPr>
            <a:picLocks noChangeAspect="1"/>
          </p:cNvPicPr>
          <p:nvPr/>
        </p:nvPicPr>
        <p:blipFill>
          <a:blip r:embed="rId2"/>
          <a:stretch>
            <a:fillRect/>
          </a:stretch>
        </p:blipFill>
        <p:spPr>
          <a:xfrm>
            <a:off x="1381143" y="5370775"/>
            <a:ext cx="9429713" cy="1267326"/>
          </a:xfrm>
          <a:prstGeom prst="rect">
            <a:avLst/>
          </a:prstGeom>
        </p:spPr>
      </p:pic>
      <p:sp>
        <p:nvSpPr>
          <p:cNvPr id="3" name="Content Placeholder 2">
            <a:extLst>
              <a:ext uri="{FF2B5EF4-FFF2-40B4-BE49-F238E27FC236}">
                <a16:creationId xmlns:a16="http://schemas.microsoft.com/office/drawing/2014/main" id="{EF4226E9-DBA5-CA56-165F-F391AFAD9AE1}"/>
              </a:ext>
            </a:extLst>
          </p:cNvPr>
          <p:cNvSpPr>
            <a:spLocks noGrp="1"/>
          </p:cNvSpPr>
          <p:nvPr>
            <p:ph idx="1"/>
          </p:nvPr>
        </p:nvSpPr>
        <p:spPr>
          <a:xfrm>
            <a:off x="4973053" y="219899"/>
            <a:ext cx="6561826" cy="4469460"/>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Word Sizes</a:t>
            </a:r>
          </a:p>
          <a:p>
            <a:pPr marL="0" indent="0">
              <a:buNone/>
            </a:pPr>
            <a:r>
              <a:rPr lang="en-US" sz="2000" dirty="0">
                <a:latin typeface="Times New Roman" panose="02020603050405020304" pitchFamily="18" charset="0"/>
                <a:cs typeface="Times New Roman" panose="02020603050405020304" pitchFamily="18" charset="0"/>
              </a:rPr>
              <a:t>The smallest addressable memory unit in RISC-V is the 8-bit byte.</a:t>
            </a:r>
          </a:p>
          <a:p>
            <a:pPr marL="0" indent="0">
              <a:buNone/>
            </a:pPr>
            <a:r>
              <a:rPr lang="en-US" sz="2000" dirty="0">
                <a:latin typeface="Times New Roman" panose="02020603050405020304" pitchFamily="18" charset="0"/>
                <a:cs typeface="Times New Roman" panose="02020603050405020304" pitchFamily="18" charset="0"/>
              </a:rPr>
              <a:t>A list of the different word sizes:</a:t>
            </a:r>
          </a:p>
          <a:p>
            <a:pPr marL="0" indent="0">
              <a:buNone/>
            </a:pPr>
            <a:r>
              <a:rPr lang="en-US" sz="2000" dirty="0">
                <a:latin typeface="Times New Roman" panose="02020603050405020304" pitchFamily="18" charset="0"/>
                <a:cs typeface="Times New Roman" panose="02020603050405020304" pitchFamily="18" charset="0"/>
              </a:rPr>
              <a:t>• byte (1 byte, 8-bits, smallest addressable memory unit)</a:t>
            </a:r>
          </a:p>
          <a:p>
            <a:pPr marL="0" indent="0">
              <a:buNone/>
            </a:pPr>
            <a:r>
              <a:rPr lang="en-IN" sz="2000" dirty="0">
                <a:latin typeface="Times New Roman" panose="02020603050405020304" pitchFamily="18" charset="0"/>
                <a:cs typeface="Times New Roman" panose="02020603050405020304" pitchFamily="18" charset="0"/>
              </a:rPr>
              <a:t>• half-word (2 bytes, 16-bits)</a:t>
            </a:r>
          </a:p>
          <a:p>
            <a:pPr marL="0" indent="0">
              <a:buNone/>
            </a:pPr>
            <a:r>
              <a:rPr lang="en-IN" sz="2000" dirty="0">
                <a:latin typeface="Times New Roman" panose="02020603050405020304" pitchFamily="18" charset="0"/>
                <a:cs typeface="Times New Roman" panose="02020603050405020304" pitchFamily="18" charset="0"/>
              </a:rPr>
              <a:t>• word (4 bytes, 32-bits)</a:t>
            </a:r>
          </a:p>
          <a:p>
            <a:pPr marL="0" indent="0">
              <a:buNone/>
            </a:pPr>
            <a:r>
              <a:rPr lang="en-US" sz="2000" dirty="0">
                <a:latin typeface="Times New Roman" panose="02020603050405020304" pitchFamily="18" charset="0"/>
                <a:cs typeface="Times New Roman" panose="02020603050405020304" pitchFamily="18" charset="0"/>
              </a:rPr>
              <a:t>• double word (8 bytes, 64-bits)</a:t>
            </a:r>
          </a:p>
          <a:p>
            <a:pPr marL="0" indent="0">
              <a:buNone/>
            </a:pPr>
            <a:r>
              <a:rPr lang="en-IN" sz="2000" b="1" dirty="0">
                <a:latin typeface="Times New Roman" panose="02020603050405020304" pitchFamily="18" charset="0"/>
                <a:cs typeface="Times New Roman" panose="02020603050405020304" pitchFamily="18" charset="0"/>
              </a:rPr>
              <a:t>Load Instructions</a:t>
            </a:r>
          </a:p>
          <a:p>
            <a:pPr marL="0" indent="0">
              <a:buNone/>
            </a:pPr>
            <a:r>
              <a:rPr lang="en-US" sz="2000" dirty="0">
                <a:latin typeface="Times New Roman" panose="02020603050405020304" pitchFamily="18" charset="0"/>
                <a:cs typeface="Times New Roman" panose="02020603050405020304" pitchFamily="18" charset="0"/>
              </a:rPr>
              <a:t>A value is loaded into memory with the "load" instruction.</a:t>
            </a:r>
          </a:p>
          <a:p>
            <a:pPr marL="0" indent="0">
              <a:buNone/>
            </a:pPr>
            <a:r>
              <a:rPr lang="en-IN" sz="2000" dirty="0">
                <a:latin typeface="Times New Roman" panose="02020603050405020304" pitchFamily="18" charset="0"/>
                <a:cs typeface="Times New Roman" panose="02020603050405020304" pitchFamily="18" charset="0"/>
              </a:rPr>
              <a:t>• Destination register name (</a:t>
            </a:r>
            <a:r>
              <a:rPr lang="en-IN" sz="2000" dirty="0" err="1">
                <a:latin typeface="Times New Roman" panose="02020603050405020304" pitchFamily="18" charset="0"/>
                <a:cs typeface="Times New Roman" panose="02020603050405020304" pitchFamily="18" charset="0"/>
              </a:rPr>
              <a:t>rd</a:t>
            </a:r>
            <a:r>
              <a:rPr lang="en-IN"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The address (usually by assembler symbol</a:t>
            </a:r>
          </a:p>
          <a:p>
            <a:pPr marL="0" indent="0">
              <a:buNone/>
            </a:pPr>
            <a:r>
              <a:rPr lang="en-IN" sz="2000" dirty="0">
                <a:latin typeface="Times New Roman" panose="02020603050405020304" pitchFamily="18" charset="0"/>
                <a:cs typeface="Times New Roman" panose="02020603050405020304" pitchFamily="18" charset="0"/>
              </a:rPr>
              <a:t>• The word (unit) size</a:t>
            </a:r>
          </a:p>
        </p:txBody>
      </p:sp>
      <p:grpSp>
        <p:nvGrpSpPr>
          <p:cNvPr id="17" name="Group 16">
            <a:extLst>
              <a:ext uri="{FF2B5EF4-FFF2-40B4-BE49-F238E27FC236}">
                <a16:creationId xmlns:a16="http://schemas.microsoft.com/office/drawing/2014/main" id="{7D2D829D-2830-5F07-E40B-C351944AB1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8" name="Rectangle 17">
              <a:extLst>
                <a:ext uri="{FF2B5EF4-FFF2-40B4-BE49-F238E27FC236}">
                  <a16:creationId xmlns:a16="http://schemas.microsoft.com/office/drawing/2014/main" id="{521FC5EF-435E-F74E-11C5-A935C70665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CF3CE81-94AA-585B-379D-CB757AFCC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20080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DA450-213D-5641-5EB6-7041C1C2572F}"/>
              </a:ext>
            </a:extLst>
          </p:cNvPr>
          <p:cNvSpPr>
            <a:spLocks noGrp="1"/>
          </p:cNvSpPr>
          <p:nvPr>
            <p:ph type="title"/>
          </p:nvPr>
        </p:nvSpPr>
        <p:spPr>
          <a:xfrm>
            <a:off x="876299" y="477232"/>
            <a:ext cx="8283349" cy="1398236"/>
          </a:xfrm>
        </p:spPr>
        <p:txBody>
          <a:bodyPr anchor="b">
            <a:noAutofit/>
          </a:bodyPr>
          <a:lstStyle/>
          <a:p>
            <a:r>
              <a:rPr lang="en-IN" sz="2400" b="1" dirty="0">
                <a:latin typeface="Times New Roman" panose="02020603050405020304" pitchFamily="18" charset="0"/>
                <a:cs typeface="Times New Roman" panose="02020603050405020304" pitchFamily="18" charset="0"/>
              </a:rPr>
              <a:t>Load Program Example</a:t>
            </a:r>
            <a:br>
              <a:rPr lang="en-IN"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Change to the directory containing the 06/loads example: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cd ~/</a:t>
            </a:r>
            <a:r>
              <a:rPr lang="en-US" sz="2400" dirty="0" err="1">
                <a:latin typeface="Times New Roman" panose="02020603050405020304" pitchFamily="18" charset="0"/>
                <a:cs typeface="Times New Roman" panose="02020603050405020304" pitchFamily="18" charset="0"/>
              </a:rPr>
              <a:t>riscv</a:t>
            </a:r>
            <a:r>
              <a:rPr lang="en-US" sz="2400" dirty="0">
                <a:latin typeface="Times New Roman" panose="02020603050405020304" pitchFamily="18" charset="0"/>
                <a:cs typeface="Times New Roman" panose="02020603050405020304" pitchFamily="18" charset="0"/>
              </a:rPr>
              <a:t>/repo/06/loads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Build the program.</a:t>
            </a:r>
            <a:endParaRPr lang="en-IN" sz="24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A83AF2BE-A4AD-EE91-3D0F-E9CED3E48CAA}"/>
              </a:ext>
            </a:extLst>
          </p:cNvPr>
          <p:cNvPicPr>
            <a:picLocks noGrp="1" noChangeAspect="1"/>
          </p:cNvPicPr>
          <p:nvPr>
            <p:ph idx="1"/>
          </p:nvPr>
        </p:nvPicPr>
        <p:blipFill>
          <a:blip r:embed="rId2"/>
          <a:stretch>
            <a:fillRect/>
          </a:stretch>
        </p:blipFill>
        <p:spPr>
          <a:xfrm>
            <a:off x="6672978" y="2382206"/>
            <a:ext cx="4973340" cy="3998562"/>
          </a:xfrm>
        </p:spPr>
      </p:pic>
      <p:pic>
        <p:nvPicPr>
          <p:cNvPr id="5" name="Content Placeholder 4" descr="A screen shot of a computer&#10;&#10;AI-generated content may be incorrect.">
            <a:extLst>
              <a:ext uri="{FF2B5EF4-FFF2-40B4-BE49-F238E27FC236}">
                <a16:creationId xmlns:a16="http://schemas.microsoft.com/office/drawing/2014/main" id="{C099A60E-A920-E23A-562C-CEEF15D92B41}"/>
              </a:ext>
            </a:extLst>
          </p:cNvPr>
          <p:cNvPicPr>
            <a:picLocks noChangeAspect="1"/>
          </p:cNvPicPr>
          <p:nvPr/>
        </p:nvPicPr>
        <p:blipFill>
          <a:blip r:embed="rId3"/>
          <a:stretch>
            <a:fillRect/>
          </a:stretch>
        </p:blipFill>
        <p:spPr>
          <a:xfrm>
            <a:off x="545682" y="2532611"/>
            <a:ext cx="5487621" cy="3697751"/>
          </a:xfrm>
          <a:prstGeom prst="rect">
            <a:avLst/>
          </a:prstGeom>
        </p:spPr>
      </p:pic>
      <p:grpSp>
        <p:nvGrpSpPr>
          <p:cNvPr id="19" name="Group 18">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20" name="Rectangle 19">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33404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312B9-DD61-443D-25BC-7E8F04093909}"/>
              </a:ext>
            </a:extLst>
          </p:cNvPr>
          <p:cNvSpPr>
            <a:spLocks noGrp="1"/>
          </p:cNvSpPr>
          <p:nvPr>
            <p:ph type="title"/>
          </p:nvPr>
        </p:nvSpPr>
        <p:spPr>
          <a:xfrm>
            <a:off x="6464334" y="3174784"/>
            <a:ext cx="5346611" cy="3351086"/>
          </a:xfrm>
        </p:spPr>
        <p:txBody>
          <a:bodyPr anchor="b">
            <a:noAutofit/>
          </a:bodyPr>
          <a:lstStyle/>
          <a:p>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loadb</a:t>
            </a:r>
            <a:r>
              <a:rPr lang="en-US" sz="2400" dirty="0">
                <a:latin typeface="Times New Roman" panose="02020603050405020304" pitchFamily="18" charset="0"/>
                <a:cs typeface="Times New Roman" panose="02020603050405020304" pitchFamily="18" charset="0"/>
              </a:rPr>
              <a:t>() function reported as 00000001</a:t>
            </a:r>
            <a:br>
              <a:rPr lang="en-US" sz="24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loadh</a:t>
            </a:r>
            <a:r>
              <a:rPr lang="en-US" sz="2400" dirty="0">
                <a:latin typeface="Times New Roman" panose="02020603050405020304" pitchFamily="18" charset="0"/>
                <a:cs typeface="Times New Roman" panose="02020603050405020304" pitchFamily="18" charset="0"/>
              </a:rPr>
              <a:t>() function however reported FFFFF509 rather than</a:t>
            </a:r>
            <a:br>
              <a:rPr lang="en-US"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0000F509</a:t>
            </a:r>
            <a:br>
              <a:rPr lang="en-IN" sz="24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loadw</a:t>
            </a:r>
            <a:r>
              <a:rPr lang="en-US" sz="2400" dirty="0">
                <a:latin typeface="Times New Roman" panose="02020603050405020304" pitchFamily="18" charset="0"/>
                <a:cs typeface="Times New Roman" panose="02020603050405020304" pitchFamily="18" charset="0"/>
              </a:rPr>
              <a:t>() loaded and returned a 32-bit value</a:t>
            </a:r>
            <a:br>
              <a:rPr lang="en-US" sz="24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loadd</a:t>
            </a:r>
            <a:r>
              <a:rPr lang="en-US" sz="2400" dirty="0">
                <a:latin typeface="Times New Roman" panose="02020603050405020304" pitchFamily="18" charset="0"/>
                <a:cs typeface="Times New Roman" panose="02020603050405020304" pitchFamily="18" charset="0"/>
              </a:rPr>
              <a:t>() function was designed to return a long </a:t>
            </a:r>
            <a:r>
              <a:rPr lang="en-US" sz="2400" dirty="0" err="1">
                <a:latin typeface="Times New Roman" panose="02020603050405020304" pitchFamily="18" charset="0"/>
                <a:cs typeface="Times New Roman" panose="02020603050405020304" pitchFamily="18" charset="0"/>
              </a:rPr>
              <a:t>long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integer which is 64-bits in length</a:t>
            </a:r>
            <a:endParaRPr lang="en-IN" sz="18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1DCC601-9DA1-37FC-8356-B892D711EB00}"/>
              </a:ext>
            </a:extLst>
          </p:cNvPr>
          <p:cNvPicPr>
            <a:picLocks noChangeAspect="1"/>
          </p:cNvPicPr>
          <p:nvPr/>
        </p:nvPicPr>
        <p:blipFill>
          <a:blip r:embed="rId2"/>
          <a:stretch>
            <a:fillRect/>
          </a:stretch>
        </p:blipFill>
        <p:spPr>
          <a:xfrm>
            <a:off x="381054" y="332130"/>
            <a:ext cx="5536947" cy="5727674"/>
          </a:xfrm>
          <a:prstGeom prst="rect">
            <a:avLst/>
          </a:prstGeom>
        </p:spPr>
      </p:pic>
      <p:pic>
        <p:nvPicPr>
          <p:cNvPr id="10" name="Content Placeholder 9">
            <a:extLst>
              <a:ext uri="{FF2B5EF4-FFF2-40B4-BE49-F238E27FC236}">
                <a16:creationId xmlns:a16="http://schemas.microsoft.com/office/drawing/2014/main" id="{3913FEE7-EB4D-74AB-39DA-C79FC3046CE8}"/>
              </a:ext>
            </a:extLst>
          </p:cNvPr>
          <p:cNvPicPr>
            <a:picLocks noGrp="1" noChangeAspect="1"/>
          </p:cNvPicPr>
          <p:nvPr>
            <p:ph idx="1"/>
          </p:nvPr>
        </p:nvPicPr>
        <p:blipFill>
          <a:blip r:embed="rId3"/>
          <a:stretch>
            <a:fillRect/>
          </a:stretch>
        </p:blipFill>
        <p:spPr>
          <a:xfrm>
            <a:off x="6273999" y="332130"/>
            <a:ext cx="5346611" cy="2719291"/>
          </a:xfrm>
        </p:spPr>
      </p:pic>
      <p:grpSp>
        <p:nvGrpSpPr>
          <p:cNvPr id="12" name="Group 11">
            <a:extLst>
              <a:ext uri="{FF2B5EF4-FFF2-40B4-BE49-F238E27FC236}">
                <a16:creationId xmlns:a16="http://schemas.microsoft.com/office/drawing/2014/main" id="{31C49F18-8757-4E87-5C2E-9D6D7B82BA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3" name="Rectangle 12">
              <a:extLst>
                <a:ext uri="{FF2B5EF4-FFF2-40B4-BE49-F238E27FC236}">
                  <a16:creationId xmlns:a16="http://schemas.microsoft.com/office/drawing/2014/main" id="{25C84D91-E5BF-B919-ACEF-4A25262CE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889E38-27CA-E23F-B646-8D7B4BB17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09639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7BDD930-0E65-490A-9CE5-554C357C4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A912C67-99A1-4956-8F68-1846C2177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3A4734-A592-78DD-CFE6-724B3F52DB99}"/>
              </a:ext>
            </a:extLst>
          </p:cNvPr>
          <p:cNvSpPr>
            <a:spLocks noGrp="1"/>
          </p:cNvSpPr>
          <p:nvPr>
            <p:ph type="title"/>
          </p:nvPr>
        </p:nvSpPr>
        <p:spPr>
          <a:xfrm>
            <a:off x="804672" y="457200"/>
            <a:ext cx="10579398" cy="1299411"/>
          </a:xfrm>
        </p:spPr>
        <p:txBody>
          <a:bodyPr>
            <a:noAutofit/>
          </a:bodyPr>
          <a:lstStyle/>
          <a:p>
            <a:r>
              <a:rPr lang="en-US" sz="3200" dirty="0">
                <a:latin typeface="Times New Roman" panose="02020603050405020304" pitchFamily="18" charset="0"/>
                <a:cs typeface="Times New Roman" panose="02020603050405020304" pitchFamily="18" charset="0"/>
              </a:rPr>
              <a:t>Let's now examine the assembler listing for the program:</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riscv</a:t>
            </a:r>
            <a:r>
              <a:rPr lang="en-US" sz="3200" dirty="0">
                <a:latin typeface="Times New Roman" panose="02020603050405020304" pitchFamily="18" charset="0"/>
                <a:cs typeface="Times New Roman" panose="02020603050405020304" pitchFamily="18" charset="0"/>
              </a:rPr>
              <a:t>/repo/</a:t>
            </a:r>
            <a:r>
              <a:rPr lang="en-US" sz="3200" dirty="0" err="1">
                <a:latin typeface="Times New Roman" panose="02020603050405020304" pitchFamily="18" charset="0"/>
                <a:cs typeface="Times New Roman" panose="02020603050405020304" pitchFamily="18" charset="0"/>
              </a:rPr>
              <a:t>listesp</a:t>
            </a:r>
            <a:r>
              <a:rPr lang="en-US" sz="3200" dirty="0">
                <a:latin typeface="Times New Roman" panose="02020603050405020304" pitchFamily="18" charset="0"/>
                <a:cs typeface="Times New Roman" panose="02020603050405020304" pitchFamily="18" charset="0"/>
              </a:rPr>
              <a:t> main/</a:t>
            </a:r>
            <a:r>
              <a:rPr lang="en-US" sz="3200" dirty="0" err="1">
                <a:latin typeface="Times New Roman" panose="02020603050405020304" pitchFamily="18" charset="0"/>
                <a:cs typeface="Times New Roman" panose="02020603050405020304" pitchFamily="18" charset="0"/>
              </a:rPr>
              <a:t>loads.S</a:t>
            </a:r>
            <a:endParaRPr lang="en-IN" sz="2400" dirty="0">
              <a:solidFill>
                <a:schemeClr val="tx2"/>
              </a:solidFill>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F24118A2-5FE6-E27E-2FC5-60E264D2EFFB}"/>
              </a:ext>
            </a:extLst>
          </p:cNvPr>
          <p:cNvPicPr>
            <a:picLocks noGrp="1" noChangeAspect="1"/>
          </p:cNvPicPr>
          <p:nvPr>
            <p:ph idx="1"/>
          </p:nvPr>
        </p:nvPicPr>
        <p:blipFill>
          <a:blip r:embed="rId2"/>
          <a:stretch>
            <a:fillRect/>
          </a:stretch>
        </p:blipFill>
        <p:spPr>
          <a:xfrm>
            <a:off x="6386352" y="2161025"/>
            <a:ext cx="5608512" cy="2154889"/>
          </a:xfrm>
        </p:spPr>
      </p:pic>
      <p:grpSp>
        <p:nvGrpSpPr>
          <p:cNvPr id="16" name="Group 15">
            <a:extLst>
              <a:ext uri="{FF2B5EF4-FFF2-40B4-BE49-F238E27FC236}">
                <a16:creationId xmlns:a16="http://schemas.microsoft.com/office/drawing/2014/main" id="{569E5994-073E-4708-B3E6-43BFED0CEB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7" name="Freeform: Shape 16">
              <a:extLst>
                <a:ext uri="{FF2B5EF4-FFF2-40B4-BE49-F238E27FC236}">
                  <a16:creationId xmlns:a16="http://schemas.microsoft.com/office/drawing/2014/main" id="{532F818D-9087-4691-AABA-465619A0C2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8B7668A-5C96-4FB9-BFA9-38094EB87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BF4F95BD-8661-4C45-94E3-CF3159BF4C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E85BBF8A-E2FB-47F6-A60F-4FB855D50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Content Placeholder 4">
            <a:extLst>
              <a:ext uri="{FF2B5EF4-FFF2-40B4-BE49-F238E27FC236}">
                <a16:creationId xmlns:a16="http://schemas.microsoft.com/office/drawing/2014/main" id="{F5DD5E0D-D268-146C-0C7F-D278C6224179}"/>
              </a:ext>
            </a:extLst>
          </p:cNvPr>
          <p:cNvPicPr>
            <a:picLocks noChangeAspect="1"/>
          </p:cNvPicPr>
          <p:nvPr/>
        </p:nvPicPr>
        <p:blipFill>
          <a:blip r:embed="rId3"/>
          <a:stretch>
            <a:fillRect/>
          </a:stretch>
        </p:blipFill>
        <p:spPr>
          <a:xfrm>
            <a:off x="326768" y="2161025"/>
            <a:ext cx="5701532" cy="3711150"/>
          </a:xfrm>
          <a:prstGeom prst="rect">
            <a:avLst/>
          </a:prstGeom>
        </p:spPr>
      </p:pic>
      <p:grpSp>
        <p:nvGrpSpPr>
          <p:cNvPr id="22" name="Group 21">
            <a:extLst>
              <a:ext uri="{FF2B5EF4-FFF2-40B4-BE49-F238E27FC236}">
                <a16:creationId xmlns:a16="http://schemas.microsoft.com/office/drawing/2014/main" id="{DD81D498-EAA8-40F3-8230-AE4DEDA3830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3" name="Freeform: Shape 22">
              <a:extLst>
                <a:ext uri="{FF2B5EF4-FFF2-40B4-BE49-F238E27FC236}">
                  <a16:creationId xmlns:a16="http://schemas.microsoft.com/office/drawing/2014/main" id="{262F2402-5879-41A3-ACEC-6D2811BA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BBD41895-A230-4959-97BA-80F516383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E670BD54-10A6-4092-9E32-647B2F870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6" name="Freeform: Shape 25">
              <a:extLst>
                <a:ext uri="{FF2B5EF4-FFF2-40B4-BE49-F238E27FC236}">
                  <a16:creationId xmlns:a16="http://schemas.microsoft.com/office/drawing/2014/main" id="{1C2B9A82-4826-4BF4-A16E-0B005FE761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TextBox 9">
            <a:extLst>
              <a:ext uri="{FF2B5EF4-FFF2-40B4-BE49-F238E27FC236}">
                <a16:creationId xmlns:a16="http://schemas.microsoft.com/office/drawing/2014/main" id="{5E543FB2-EF5A-B5FE-FC46-5BB13146AD8C}"/>
              </a:ext>
            </a:extLst>
          </p:cNvPr>
          <p:cNvSpPr txBox="1"/>
          <p:nvPr/>
        </p:nvSpPr>
        <p:spPr>
          <a:xfrm>
            <a:off x="6354763" y="4465076"/>
            <a:ext cx="5305762" cy="1200329"/>
          </a:xfrm>
          <a:prstGeom prst="rect">
            <a:avLst/>
          </a:prstGeom>
          <a:noFill/>
        </p:spPr>
        <p:txBody>
          <a:bodyPr wrap="square">
            <a:spAutoFit/>
          </a:bodyPr>
          <a:lstStyle/>
          <a:p>
            <a:pPr algn="l"/>
            <a:r>
              <a:rPr lang="en-US" sz="2400" b="0" i="0" u="none" strike="noStrike" baseline="0" dirty="0">
                <a:latin typeface="Times New Roman" panose="02020603050405020304" pitchFamily="18" charset="0"/>
                <a:cs typeface="Times New Roman" panose="02020603050405020304" pitchFamily="18" charset="0"/>
              </a:rPr>
              <a:t>Let's now examine the assembler listing for the program:</a:t>
            </a:r>
          </a:p>
          <a:p>
            <a:pPr algn="l"/>
            <a:r>
              <a:rPr lang="en-US" sz="2400" b="0" i="0"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err="1">
                <a:latin typeface="Times New Roman" panose="02020603050405020304" pitchFamily="18" charset="0"/>
                <a:cs typeface="Times New Roman" panose="02020603050405020304" pitchFamily="18" charset="0"/>
              </a:rPr>
              <a:t>riscv</a:t>
            </a:r>
            <a:r>
              <a:rPr lang="en-US" sz="2400" b="0" i="0" u="none" strike="noStrike" baseline="0" dirty="0">
                <a:latin typeface="Times New Roman" panose="02020603050405020304" pitchFamily="18" charset="0"/>
                <a:cs typeface="Times New Roman" panose="02020603050405020304" pitchFamily="18" charset="0"/>
              </a:rPr>
              <a:t>/repo/</a:t>
            </a:r>
            <a:r>
              <a:rPr lang="en-US" sz="2400" b="0" i="0" u="none" strike="noStrike" baseline="0" dirty="0" err="1">
                <a:latin typeface="Times New Roman" panose="02020603050405020304" pitchFamily="18" charset="0"/>
                <a:cs typeface="Times New Roman" panose="02020603050405020304" pitchFamily="18" charset="0"/>
              </a:rPr>
              <a:t>listesp</a:t>
            </a:r>
            <a:r>
              <a:rPr lang="en-US" sz="2400" b="0" i="0" u="none" strike="noStrike" baseline="0" dirty="0">
                <a:latin typeface="Times New Roman" panose="02020603050405020304" pitchFamily="18" charset="0"/>
                <a:cs typeface="Times New Roman" panose="02020603050405020304" pitchFamily="18" charset="0"/>
              </a:rPr>
              <a:t> main/</a:t>
            </a:r>
            <a:r>
              <a:rPr lang="en-US" sz="2400" b="0" i="0" u="none" strike="noStrike" baseline="0" dirty="0" err="1">
                <a:latin typeface="Times New Roman" panose="02020603050405020304" pitchFamily="18" charset="0"/>
                <a:cs typeface="Times New Roman" panose="02020603050405020304" pitchFamily="18" charset="0"/>
              </a:rPr>
              <a:t>loads.S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412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48E7-F2D7-DF96-E623-E7F9B6D4B37B}"/>
              </a:ext>
            </a:extLst>
          </p:cNvPr>
          <p:cNvSpPr>
            <a:spLocks noGrp="1"/>
          </p:cNvSpPr>
          <p:nvPr>
            <p:ph type="title"/>
          </p:nvPr>
        </p:nvSpPr>
        <p:spPr>
          <a:xfrm>
            <a:off x="838200" y="365125"/>
            <a:ext cx="10515600" cy="991235"/>
          </a:xfrm>
        </p:spPr>
        <p:txBody>
          <a:bodyPr/>
          <a:lstStyle/>
          <a:p>
            <a:r>
              <a:rPr lang="en-IN" dirty="0">
                <a:latin typeface="Times New Roman" panose="02020603050405020304" pitchFamily="18" charset="0"/>
                <a:cs typeface="Times New Roman" panose="02020603050405020304" pitchFamily="18" charset="0"/>
              </a:rPr>
              <a:t>Unsigned Values</a:t>
            </a:r>
          </a:p>
        </p:txBody>
      </p:sp>
      <p:sp>
        <p:nvSpPr>
          <p:cNvPr id="3" name="Content Placeholder 2">
            <a:extLst>
              <a:ext uri="{FF2B5EF4-FFF2-40B4-BE49-F238E27FC236}">
                <a16:creationId xmlns:a16="http://schemas.microsoft.com/office/drawing/2014/main" id="{863402E7-FA0E-0F6A-3B83-D630C58B50DF}"/>
              </a:ext>
            </a:extLst>
          </p:cNvPr>
          <p:cNvSpPr>
            <a:spLocks noGrp="1"/>
          </p:cNvSpPr>
          <p:nvPr>
            <p:ph idx="1"/>
          </p:nvPr>
        </p:nvSpPr>
        <p:spPr>
          <a:xfrm>
            <a:off x="838200" y="1356360"/>
            <a:ext cx="10515600" cy="4820603"/>
          </a:xfrm>
        </p:spPr>
        <p:txBody>
          <a:bodyPr/>
          <a:lstStyle/>
          <a:p>
            <a:pPr marL="0" indent="0">
              <a:buNone/>
            </a:pPr>
            <a:r>
              <a:rPr lang="en-US" dirty="0">
                <a:latin typeface="Times New Roman" panose="02020603050405020304" pitchFamily="18" charset="0"/>
                <a:cs typeface="Times New Roman" panose="02020603050405020304" pitchFamily="18" charset="0"/>
              </a:rPr>
              <a:t>we saw how the half-word value of F509 was sign extended to FFFFF509 when it was loaded into a 32-bit register. But what if you didn't want the value to be sign extended? To address that need, some unsigned load instructions can be used instead.</a:t>
            </a:r>
          </a:p>
          <a:p>
            <a:pPr marL="0" indent="0">
              <a:buNone/>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72CE082-7413-3AB9-2284-38044BD0A939}"/>
              </a:ext>
            </a:extLst>
          </p:cNvPr>
          <p:cNvPicPr>
            <a:picLocks noChangeAspect="1"/>
          </p:cNvPicPr>
          <p:nvPr/>
        </p:nvPicPr>
        <p:blipFill>
          <a:blip r:embed="rId3"/>
          <a:stretch>
            <a:fillRect/>
          </a:stretch>
        </p:blipFill>
        <p:spPr>
          <a:xfrm>
            <a:off x="1539239" y="3147040"/>
            <a:ext cx="9113520" cy="1239241"/>
          </a:xfrm>
          <a:prstGeom prst="rect">
            <a:avLst/>
          </a:prstGeom>
        </p:spPr>
      </p:pic>
      <p:pic>
        <p:nvPicPr>
          <p:cNvPr id="7" name="Picture 6">
            <a:extLst>
              <a:ext uri="{FF2B5EF4-FFF2-40B4-BE49-F238E27FC236}">
                <a16:creationId xmlns:a16="http://schemas.microsoft.com/office/drawing/2014/main" id="{1272787C-35A2-9450-7F6C-0B7CD40A7F08}"/>
              </a:ext>
            </a:extLst>
          </p:cNvPr>
          <p:cNvPicPr>
            <a:picLocks noChangeAspect="1"/>
          </p:cNvPicPr>
          <p:nvPr/>
        </p:nvPicPr>
        <p:blipFill>
          <a:blip r:embed="rId4"/>
          <a:stretch>
            <a:fillRect/>
          </a:stretch>
        </p:blipFill>
        <p:spPr>
          <a:xfrm>
            <a:off x="1805939" y="4466960"/>
            <a:ext cx="8580121" cy="2025915"/>
          </a:xfrm>
          <a:prstGeom prst="rect">
            <a:avLst/>
          </a:prstGeom>
        </p:spPr>
      </p:pic>
    </p:spTree>
    <p:extLst>
      <p:ext uri="{BB962C8B-B14F-4D97-AF65-F5344CB8AC3E}">
        <p14:creationId xmlns:p14="http://schemas.microsoft.com/office/powerpoint/2010/main" val="3893900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F29B-FFEB-C050-5CC5-3B4BC48DF102}"/>
              </a:ext>
            </a:extLst>
          </p:cNvPr>
          <p:cNvSpPr>
            <a:spLocks noGrp="1"/>
          </p:cNvSpPr>
          <p:nvPr>
            <p:ph type="title"/>
          </p:nvPr>
        </p:nvSpPr>
        <p:spPr>
          <a:xfrm>
            <a:off x="838200" y="365125"/>
            <a:ext cx="10515600" cy="1052195"/>
          </a:xfrm>
        </p:spPr>
        <p:txBody>
          <a:bodyPr/>
          <a:lstStyle/>
          <a:p>
            <a:r>
              <a:rPr lang="en-IN" dirty="0">
                <a:latin typeface="Times New Roman" panose="02020603050405020304" pitchFamily="18" charset="0"/>
                <a:cs typeface="Times New Roman" panose="02020603050405020304" pitchFamily="18" charset="0"/>
              </a:rPr>
              <a:t>Memory Alignment</a:t>
            </a:r>
          </a:p>
        </p:txBody>
      </p:sp>
      <p:sp>
        <p:nvSpPr>
          <p:cNvPr id="3" name="Content Placeholder 2">
            <a:extLst>
              <a:ext uri="{FF2B5EF4-FFF2-40B4-BE49-F238E27FC236}">
                <a16:creationId xmlns:a16="http://schemas.microsoft.com/office/drawing/2014/main" id="{3ECACBCB-48B2-7321-A401-139AB50B45ED}"/>
              </a:ext>
            </a:extLst>
          </p:cNvPr>
          <p:cNvSpPr>
            <a:spLocks noGrp="1"/>
          </p:cNvSpPr>
          <p:nvPr>
            <p:ph idx="1"/>
          </p:nvPr>
        </p:nvSpPr>
        <p:spPr>
          <a:xfrm>
            <a:off x="838200" y="1264920"/>
            <a:ext cx="10515600" cy="4912043"/>
          </a:xfrm>
        </p:spPr>
        <p:txBody>
          <a:bodyPr/>
          <a:lstStyle/>
          <a:p>
            <a:pPr marL="0" indent="0">
              <a:buNone/>
            </a:pPr>
            <a:r>
              <a:rPr lang="en-US" dirty="0">
                <a:latin typeface="Times New Roman" panose="02020603050405020304" pitchFamily="18" charset="0"/>
                <a:cs typeface="Times New Roman" panose="02020603050405020304" pitchFamily="18" charset="0"/>
              </a:rPr>
              <a:t>Using the </a:t>
            </a:r>
            <a:r>
              <a:rPr lang="en-US" dirty="0" err="1">
                <a:latin typeface="Times New Roman" panose="02020603050405020304" pitchFamily="18" charset="0"/>
                <a:cs typeface="Times New Roman" panose="02020603050405020304" pitchFamily="18" charset="0"/>
              </a:rPr>
              <a:t>listesp</a:t>
            </a:r>
            <a:r>
              <a:rPr lang="en-US" dirty="0">
                <a:latin typeface="Times New Roman" panose="02020603050405020304" pitchFamily="18" charset="0"/>
                <a:cs typeface="Times New Roman" panose="02020603050405020304" pitchFamily="18" charset="0"/>
              </a:rPr>
              <a:t> script to generate a listing and object </a:t>
            </a:r>
            <a:r>
              <a:rPr lang="en-IN" dirty="0">
                <a:latin typeface="Times New Roman" panose="02020603050405020304" pitchFamily="18" charset="0"/>
                <a:cs typeface="Times New Roman" panose="02020603050405020304" pitchFamily="18" charset="0"/>
              </a:rPr>
              <a:t>file:</a:t>
            </a:r>
          </a:p>
          <a:p>
            <a:pPr marL="0" indent="0">
              <a:buNone/>
            </a:pPr>
            <a:r>
              <a:rPr lang="en-IN" dirty="0">
                <a:latin typeface="Times New Roman" panose="02020603050405020304" pitchFamily="18" charset="0"/>
                <a:cs typeface="Times New Roman" panose="02020603050405020304" pitchFamily="18" charset="0"/>
              </a:rPr>
              <a:t>riscv32-esp-elf-objdump -d </a:t>
            </a:r>
            <a:r>
              <a:rPr lang="en-IN" dirty="0" err="1">
                <a:latin typeface="Times New Roman" panose="02020603050405020304" pitchFamily="18" charset="0"/>
                <a:cs typeface="Times New Roman" panose="02020603050405020304" pitchFamily="18" charset="0"/>
              </a:rPr>
              <a:t>loads.o</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B3882B4-88D2-DBD6-FE3B-A5D19C32471A}"/>
              </a:ext>
            </a:extLst>
          </p:cNvPr>
          <p:cNvPicPr>
            <a:picLocks noChangeAspect="1"/>
          </p:cNvPicPr>
          <p:nvPr/>
        </p:nvPicPr>
        <p:blipFill>
          <a:blip r:embed="rId2"/>
          <a:stretch>
            <a:fillRect/>
          </a:stretch>
        </p:blipFill>
        <p:spPr>
          <a:xfrm>
            <a:off x="3413761" y="2317115"/>
            <a:ext cx="6004560" cy="4433073"/>
          </a:xfrm>
          <a:prstGeom prst="rect">
            <a:avLst/>
          </a:prstGeom>
        </p:spPr>
      </p:pic>
    </p:spTree>
    <p:extLst>
      <p:ext uri="{BB962C8B-B14F-4D97-AF65-F5344CB8AC3E}">
        <p14:creationId xmlns:p14="http://schemas.microsoft.com/office/powerpoint/2010/main" val="897866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3421E-AC86-D6EF-B1CC-1A691E791110}"/>
              </a:ext>
            </a:extLst>
          </p:cNvPr>
          <p:cNvSpPr>
            <a:spLocks noGrp="1"/>
          </p:cNvSpPr>
          <p:nvPr>
            <p:ph type="title"/>
          </p:nvPr>
        </p:nvSpPr>
        <p:spPr>
          <a:xfrm>
            <a:off x="838200" y="365125"/>
            <a:ext cx="10515600" cy="921731"/>
          </a:xfrm>
        </p:spPr>
        <p:txBody>
          <a:bodyPr/>
          <a:lstStyle/>
          <a:p>
            <a:r>
              <a:rPr lang="en-IN" dirty="0">
                <a:latin typeface="Times New Roman" panose="02020603050405020304" pitchFamily="18" charset="0"/>
                <a:cs typeface="Times New Roman" panose="02020603050405020304" pitchFamily="18" charset="0"/>
              </a:rPr>
              <a:t>Experiment</a:t>
            </a:r>
          </a:p>
        </p:txBody>
      </p:sp>
      <p:sp>
        <p:nvSpPr>
          <p:cNvPr id="3" name="Content Placeholder 2">
            <a:extLst>
              <a:ext uri="{FF2B5EF4-FFF2-40B4-BE49-F238E27FC236}">
                <a16:creationId xmlns:a16="http://schemas.microsoft.com/office/drawing/2014/main" id="{0711468C-6DC1-999A-C1A9-B96E4A44E1C2}"/>
              </a:ext>
            </a:extLst>
          </p:cNvPr>
          <p:cNvSpPr>
            <a:spLocks noGrp="1"/>
          </p:cNvSpPr>
          <p:nvPr>
            <p:ph idx="1"/>
          </p:nvPr>
        </p:nvSpPr>
        <p:spPr>
          <a:xfrm>
            <a:off x="838200" y="1417320"/>
            <a:ext cx="10515600" cy="4759643"/>
          </a:xfrm>
        </p:spPr>
        <p:txBody>
          <a:bodyPr/>
          <a:lstStyle/>
          <a:p>
            <a:pPr marL="0" indent="0">
              <a:buNone/>
            </a:pPr>
            <a:r>
              <a:rPr lang="en-US" dirty="0">
                <a:latin typeface="Times New Roman" panose="02020603050405020304" pitchFamily="18" charset="0"/>
                <a:cs typeface="Times New Roman" panose="02020603050405020304" pitchFamily="18" charset="0"/>
              </a:rPr>
              <a:t>Return and edit the program in:</a:t>
            </a:r>
          </a:p>
          <a:p>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riscv</a:t>
            </a:r>
            <a:r>
              <a:rPr lang="en-US" dirty="0">
                <a:latin typeface="Times New Roman" panose="02020603050405020304" pitchFamily="18" charset="0"/>
                <a:cs typeface="Times New Roman" panose="02020603050405020304" pitchFamily="18" charset="0"/>
              </a:rPr>
              <a:t>/repo/06/main/</a:t>
            </a:r>
            <a:r>
              <a:rPr lang="en-US" dirty="0" err="1">
                <a:latin typeface="Times New Roman" panose="02020603050405020304" pitchFamily="18" charset="0"/>
                <a:cs typeface="Times New Roman" panose="02020603050405020304" pitchFamily="18" charset="0"/>
              </a:rPr>
              <a:t>loads.S</a:t>
            </a:r>
            <a:r>
              <a:rPr lang="en-US" dirty="0">
                <a:latin typeface="Times New Roman" panose="02020603050405020304" pitchFamily="18" charset="0"/>
                <a:cs typeface="Times New Roman" panose="02020603050405020304" pitchFamily="18" charset="0"/>
              </a:rPr>
              <a:t>, so that instead of the "</a:t>
            </a:r>
            <a:r>
              <a:rPr lang="en-US" dirty="0" err="1">
                <a:latin typeface="Times New Roman" panose="02020603050405020304" pitchFamily="18" charset="0"/>
                <a:cs typeface="Times New Roman" panose="02020603050405020304" pitchFamily="18" charset="0"/>
              </a:rPr>
              <a:t>lh</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instruction, it uses the "</a:t>
            </a:r>
            <a:r>
              <a:rPr lang="en-US" dirty="0" err="1">
                <a:latin typeface="Times New Roman" panose="02020603050405020304" pitchFamily="18" charset="0"/>
                <a:cs typeface="Times New Roman" panose="02020603050405020304" pitchFamily="18" charset="0"/>
              </a:rPr>
              <a:t>lhu</a:t>
            </a:r>
            <a:r>
              <a:rPr lang="en-US" dirty="0">
                <a:latin typeface="Times New Roman" panose="02020603050405020304" pitchFamily="18" charset="0"/>
                <a:cs typeface="Times New Roman" panose="02020603050405020304" pitchFamily="18" charset="0"/>
              </a:rPr>
              <a:t>" instruction instead</a:t>
            </a:r>
          </a:p>
        </p:txBody>
      </p:sp>
      <p:pic>
        <p:nvPicPr>
          <p:cNvPr id="5" name="Picture 4">
            <a:extLst>
              <a:ext uri="{FF2B5EF4-FFF2-40B4-BE49-F238E27FC236}">
                <a16:creationId xmlns:a16="http://schemas.microsoft.com/office/drawing/2014/main" id="{6FD6551D-D6B2-F9AB-AA7E-3A4D49F894BF}"/>
              </a:ext>
            </a:extLst>
          </p:cNvPr>
          <p:cNvPicPr>
            <a:picLocks noChangeAspect="1"/>
          </p:cNvPicPr>
          <p:nvPr/>
        </p:nvPicPr>
        <p:blipFill>
          <a:blip r:embed="rId2"/>
          <a:stretch>
            <a:fillRect/>
          </a:stretch>
        </p:blipFill>
        <p:spPr>
          <a:xfrm>
            <a:off x="2782435" y="3024166"/>
            <a:ext cx="6627130" cy="3468709"/>
          </a:xfrm>
          <a:prstGeom prst="rect">
            <a:avLst/>
          </a:prstGeom>
        </p:spPr>
      </p:pic>
    </p:spTree>
    <p:extLst>
      <p:ext uri="{BB962C8B-B14F-4D97-AF65-F5344CB8AC3E}">
        <p14:creationId xmlns:p14="http://schemas.microsoft.com/office/powerpoint/2010/main" val="2055541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D73CF-367F-9375-87FB-8BBF6270BEAE}"/>
              </a:ext>
            </a:extLst>
          </p:cNvPr>
          <p:cNvSpPr>
            <a:spLocks noGrp="1"/>
          </p:cNvSpPr>
          <p:nvPr>
            <p:ph type="title"/>
          </p:nvPr>
        </p:nvSpPr>
        <p:spPr>
          <a:xfrm>
            <a:off x="838200" y="365125"/>
            <a:ext cx="10515600" cy="793115"/>
          </a:xfrm>
        </p:spPr>
        <p:txBody>
          <a:bodyPr/>
          <a:lstStyle/>
          <a:p>
            <a:r>
              <a:rPr lang="en-US" dirty="0">
                <a:latin typeface="Times New Roman" panose="02020603050405020304" pitchFamily="18" charset="0"/>
                <a:cs typeface="Times New Roman" panose="02020603050405020304" pitchFamily="18" charset="0"/>
              </a:rPr>
              <a:t>Rebuild, flash, and run the program again</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53364BAC-06A8-0BA3-90A4-D34E980ED787}"/>
              </a:ext>
            </a:extLst>
          </p:cNvPr>
          <p:cNvPicPr>
            <a:picLocks noGrp="1" noChangeAspect="1"/>
          </p:cNvPicPr>
          <p:nvPr>
            <p:ph idx="1"/>
          </p:nvPr>
        </p:nvPicPr>
        <p:blipFill>
          <a:blip r:embed="rId2"/>
          <a:stretch>
            <a:fillRect/>
          </a:stretch>
        </p:blipFill>
        <p:spPr>
          <a:xfrm>
            <a:off x="526501" y="2115185"/>
            <a:ext cx="6181677" cy="3523615"/>
          </a:xfrm>
        </p:spPr>
      </p:pic>
      <p:pic>
        <p:nvPicPr>
          <p:cNvPr id="7" name="Picture 6">
            <a:extLst>
              <a:ext uri="{FF2B5EF4-FFF2-40B4-BE49-F238E27FC236}">
                <a16:creationId xmlns:a16="http://schemas.microsoft.com/office/drawing/2014/main" id="{A3A3775E-DAF8-AD7D-806C-300DC25C7E2A}"/>
              </a:ext>
            </a:extLst>
          </p:cNvPr>
          <p:cNvPicPr>
            <a:picLocks noChangeAspect="1"/>
          </p:cNvPicPr>
          <p:nvPr/>
        </p:nvPicPr>
        <p:blipFill>
          <a:blip r:embed="rId3"/>
          <a:stretch>
            <a:fillRect/>
          </a:stretch>
        </p:blipFill>
        <p:spPr>
          <a:xfrm>
            <a:off x="7017370" y="1201589"/>
            <a:ext cx="5006990" cy="5350805"/>
          </a:xfrm>
          <a:prstGeom prst="rect">
            <a:avLst/>
          </a:prstGeom>
        </p:spPr>
      </p:pic>
    </p:spTree>
    <p:extLst>
      <p:ext uri="{BB962C8B-B14F-4D97-AF65-F5344CB8AC3E}">
        <p14:creationId xmlns:p14="http://schemas.microsoft.com/office/powerpoint/2010/main" val="910343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4B49C-5A66-7D85-7E16-1C93A52D6115}"/>
              </a:ext>
            </a:extLst>
          </p:cNvPr>
          <p:cNvSpPr>
            <a:spLocks noGrp="1"/>
          </p:cNvSpPr>
          <p:nvPr>
            <p:ph type="title"/>
          </p:nvPr>
        </p:nvSpPr>
        <p:spPr/>
        <p:txBody>
          <a:bodyPr>
            <a:noAutofit/>
          </a:bodyPr>
          <a:lstStyle/>
          <a:p>
            <a:r>
              <a:rPr lang="en-US" sz="2800" dirty="0">
                <a:latin typeface="Times New Roman" panose="02020603050405020304" pitchFamily="18" charset="0"/>
                <a:cs typeface="Times New Roman" panose="02020603050405020304" pitchFamily="18" charset="0"/>
              </a:rPr>
              <a:t>This time, the </a:t>
            </a:r>
            <a:r>
              <a:rPr lang="en-US" sz="2800" dirty="0" err="1">
                <a:latin typeface="Times New Roman" panose="02020603050405020304" pitchFamily="18" charset="0"/>
                <a:cs typeface="Times New Roman" panose="02020603050405020304" pitchFamily="18" charset="0"/>
              </a:rPr>
              <a:t>loadh</a:t>
            </a:r>
            <a:r>
              <a:rPr lang="en-US" sz="2800" dirty="0">
                <a:latin typeface="Times New Roman" panose="02020603050405020304" pitchFamily="18" charset="0"/>
                <a:cs typeface="Times New Roman" panose="02020603050405020304" pitchFamily="18" charset="0"/>
              </a:rPr>
              <a:t>() value was reported as 0000F509,</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without the sign extension. This is the special talent of</a:t>
            </a:r>
            <a:br>
              <a:rPr lang="en-US"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the "</a:t>
            </a:r>
            <a:r>
              <a:rPr lang="en-IN" sz="2800" dirty="0" err="1">
                <a:latin typeface="Times New Roman" panose="02020603050405020304" pitchFamily="18" charset="0"/>
                <a:cs typeface="Times New Roman" panose="02020603050405020304" pitchFamily="18" charset="0"/>
              </a:rPr>
              <a:t>lhu</a:t>
            </a:r>
            <a:r>
              <a:rPr lang="en-IN" sz="2800" dirty="0">
                <a:latin typeface="Times New Roman" panose="02020603050405020304" pitchFamily="18" charset="0"/>
                <a:cs typeface="Times New Roman" panose="02020603050405020304" pitchFamily="18" charset="0"/>
              </a:rPr>
              <a:t>" opcode.</a:t>
            </a:r>
          </a:p>
        </p:txBody>
      </p:sp>
      <p:pic>
        <p:nvPicPr>
          <p:cNvPr id="5" name="Content Placeholder 4">
            <a:extLst>
              <a:ext uri="{FF2B5EF4-FFF2-40B4-BE49-F238E27FC236}">
                <a16:creationId xmlns:a16="http://schemas.microsoft.com/office/drawing/2014/main" id="{E2DE3C86-C080-515D-AD52-9AE9AA400574}"/>
              </a:ext>
            </a:extLst>
          </p:cNvPr>
          <p:cNvPicPr>
            <a:picLocks noGrp="1" noChangeAspect="1"/>
          </p:cNvPicPr>
          <p:nvPr>
            <p:ph idx="1"/>
          </p:nvPr>
        </p:nvPicPr>
        <p:blipFill>
          <a:blip r:embed="rId2"/>
          <a:stretch>
            <a:fillRect/>
          </a:stretch>
        </p:blipFill>
        <p:spPr>
          <a:xfrm>
            <a:off x="3061837" y="1825625"/>
            <a:ext cx="6068326" cy="4351338"/>
          </a:xfrm>
        </p:spPr>
      </p:pic>
    </p:spTree>
    <p:extLst>
      <p:ext uri="{BB962C8B-B14F-4D97-AF65-F5344CB8AC3E}">
        <p14:creationId xmlns:p14="http://schemas.microsoft.com/office/powerpoint/2010/main" val="3609026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709D9-392D-D917-1883-C44EA8900AC5}"/>
              </a:ext>
            </a:extLst>
          </p:cNvPr>
          <p:cNvSpPr>
            <a:spLocks noGrp="1"/>
          </p:cNvSpPr>
          <p:nvPr>
            <p:ph type="title"/>
          </p:nvPr>
        </p:nvSpPr>
        <p:spPr>
          <a:xfrm>
            <a:off x="838200" y="365125"/>
            <a:ext cx="5181600" cy="1325563"/>
          </a:xfrm>
        </p:spPr>
        <p:txBody>
          <a:bodyPr>
            <a:normAutofit/>
          </a:bodyPr>
          <a:lstStyle/>
          <a:p>
            <a:r>
              <a:rPr lang="en-IN" sz="4000" dirty="0">
                <a:latin typeface="Times New Roman" panose="02020603050405020304" pitchFamily="18" charset="0"/>
                <a:cs typeface="Times New Roman" panose="02020603050405020304" pitchFamily="18" charset="0"/>
              </a:rPr>
              <a:t>Immediate Values</a:t>
            </a:r>
          </a:p>
        </p:txBody>
      </p:sp>
      <p:sp>
        <p:nvSpPr>
          <p:cNvPr id="3" name="Content Placeholder 2">
            <a:extLst>
              <a:ext uri="{FF2B5EF4-FFF2-40B4-BE49-F238E27FC236}">
                <a16:creationId xmlns:a16="http://schemas.microsoft.com/office/drawing/2014/main" id="{31FDBB19-044A-3751-D64B-6142C33AAEDB}"/>
              </a:ext>
            </a:extLst>
          </p:cNvPr>
          <p:cNvSpPr>
            <a:spLocks noGrp="1"/>
          </p:cNvSpPr>
          <p:nvPr>
            <p:ph sz="half" idx="1"/>
          </p:nvPr>
        </p:nvSpPr>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Often a small constant is needed, and it is considered tedious and </a:t>
            </a:r>
            <a:r>
              <a:rPr lang="en-US" sz="1800" dirty="0" err="1">
                <a:latin typeface="Times New Roman" panose="02020603050405020304" pitchFamily="18" charset="0"/>
                <a:cs typeface="Times New Roman" panose="02020603050405020304" pitchFamily="18" charset="0"/>
              </a:rPr>
              <a:t>ine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cient</a:t>
            </a:r>
            <a:r>
              <a:rPr lang="en-US" sz="1800" dirty="0">
                <a:latin typeface="Times New Roman" panose="02020603050405020304" pitchFamily="18" charset="0"/>
                <a:cs typeface="Times New Roman" panose="02020603050405020304" pitchFamily="18" charset="0"/>
              </a:rPr>
              <a:t> to have to reach out to memory to fetch it. If instead, that small constant could be embedded inside the instruction word itself, the CPU would already have the data it needed when the instruction is decoded. This concept is known as "immediate data".</a:t>
            </a:r>
          </a:p>
          <a:p>
            <a:endParaRPr lang="en-IN" sz="1800"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57988E39-0089-5D87-B828-8DE3318F266A}"/>
              </a:ext>
            </a:extLst>
          </p:cNvPr>
          <p:cNvPicPr>
            <a:picLocks noGrp="1" noChangeAspect="1"/>
          </p:cNvPicPr>
          <p:nvPr>
            <p:ph sz="half" idx="2"/>
          </p:nvPr>
        </p:nvPicPr>
        <p:blipFill>
          <a:blip r:embed="rId2"/>
          <a:stretch>
            <a:fillRect/>
          </a:stretch>
        </p:blipFill>
        <p:spPr>
          <a:xfrm>
            <a:off x="6172202" y="3648789"/>
            <a:ext cx="5181600" cy="2572554"/>
          </a:xfrm>
        </p:spPr>
      </p:pic>
      <p:sp>
        <p:nvSpPr>
          <p:cNvPr id="5" name="TextBox 4">
            <a:extLst>
              <a:ext uri="{FF2B5EF4-FFF2-40B4-BE49-F238E27FC236}">
                <a16:creationId xmlns:a16="http://schemas.microsoft.com/office/drawing/2014/main" id="{C29C6EF0-96BD-17F3-E643-B81DF65E4559}"/>
              </a:ext>
            </a:extLst>
          </p:cNvPr>
          <p:cNvSpPr txBox="1"/>
          <p:nvPr/>
        </p:nvSpPr>
        <p:spPr>
          <a:xfrm>
            <a:off x="6096000" y="636657"/>
            <a:ext cx="5288280" cy="707886"/>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The li Pseudo-Op</a:t>
            </a:r>
          </a:p>
        </p:txBody>
      </p:sp>
      <p:pic>
        <p:nvPicPr>
          <p:cNvPr id="7" name="Picture 6">
            <a:extLst>
              <a:ext uri="{FF2B5EF4-FFF2-40B4-BE49-F238E27FC236}">
                <a16:creationId xmlns:a16="http://schemas.microsoft.com/office/drawing/2014/main" id="{CF43E0A7-1A2E-E5AE-E9AA-0EB97A168682}"/>
              </a:ext>
            </a:extLst>
          </p:cNvPr>
          <p:cNvPicPr>
            <a:picLocks noChangeAspect="1"/>
          </p:cNvPicPr>
          <p:nvPr/>
        </p:nvPicPr>
        <p:blipFill>
          <a:blip r:embed="rId3"/>
          <a:srcRect r="34863"/>
          <a:stretch>
            <a:fillRect/>
          </a:stretch>
        </p:blipFill>
        <p:spPr>
          <a:xfrm>
            <a:off x="838198" y="4029080"/>
            <a:ext cx="5181602" cy="1951134"/>
          </a:xfrm>
          <a:prstGeom prst="rect">
            <a:avLst/>
          </a:prstGeom>
        </p:spPr>
      </p:pic>
      <p:sp>
        <p:nvSpPr>
          <p:cNvPr id="11" name="TextBox 10">
            <a:extLst>
              <a:ext uri="{FF2B5EF4-FFF2-40B4-BE49-F238E27FC236}">
                <a16:creationId xmlns:a16="http://schemas.microsoft.com/office/drawing/2014/main" id="{F64A5EB8-C032-CF12-7940-C2C7E196E5EC}"/>
              </a:ext>
            </a:extLst>
          </p:cNvPr>
          <p:cNvSpPr txBox="1"/>
          <p:nvPr/>
        </p:nvSpPr>
        <p:spPr>
          <a:xfrm>
            <a:off x="6096000" y="1825625"/>
            <a:ext cx="5181600" cy="1200329"/>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Immediate data allows us to eliminate the need to define</a:t>
            </a:r>
          </a:p>
          <a:p>
            <a:pPr algn="l"/>
            <a:r>
              <a:rPr lang="en-US" sz="1800" b="0" i="0" u="none" strike="noStrike" baseline="0" dirty="0">
                <a:latin typeface="Times New Roman" panose="02020603050405020304" pitchFamily="18" charset="0"/>
                <a:cs typeface="Times New Roman" panose="02020603050405020304" pitchFamily="18" charset="0"/>
              </a:rPr>
              <a:t>the data value of "one". For this, we use the assembler</a:t>
            </a:r>
          </a:p>
          <a:p>
            <a:pPr algn="l"/>
            <a:r>
              <a:rPr lang="en-IN" sz="1800" b="0" i="0" u="none" strike="noStrike" baseline="0" dirty="0">
                <a:latin typeface="Times New Roman" panose="02020603050405020304" pitchFamily="18" charset="0"/>
                <a:cs typeface="Times New Roman" panose="02020603050405020304" pitchFamily="18" charset="0"/>
              </a:rPr>
              <a:t>pseudo-op "li" as follows: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07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7BDD930-0E65-490A-9CE5-554C357C4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A912C67-99A1-4956-8F68-1846C2177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AE769F-524A-8C8B-7469-2F761C1BBDFB}"/>
              </a:ext>
            </a:extLst>
          </p:cNvPr>
          <p:cNvSpPr>
            <a:spLocks noGrp="1"/>
          </p:cNvSpPr>
          <p:nvPr>
            <p:ph type="title"/>
          </p:nvPr>
        </p:nvSpPr>
        <p:spPr>
          <a:xfrm>
            <a:off x="806148" y="508101"/>
            <a:ext cx="10579398" cy="2574564"/>
          </a:xfrm>
        </p:spPr>
        <p:txBody>
          <a:bodyPr>
            <a:noAutofit/>
          </a:bodyPr>
          <a:lstStyle/>
          <a:p>
            <a:r>
              <a:rPr lang="en-US" sz="2000" dirty="0">
                <a:solidFill>
                  <a:schemeClr val="tx2"/>
                </a:solidFill>
              </a:rPr>
              <a:t>The assembler in this case expands the "li" pseudo-op </a:t>
            </a:r>
            <a:r>
              <a:rPr lang="en-IN" sz="2000" dirty="0">
                <a:solidFill>
                  <a:schemeClr val="tx2"/>
                </a:solidFill>
              </a:rPr>
              <a:t>into two RISC-V opcodes:</a:t>
            </a:r>
            <a:br>
              <a:rPr lang="en-IN" sz="2000" dirty="0">
                <a:solidFill>
                  <a:schemeClr val="tx2"/>
                </a:solidFill>
              </a:rPr>
            </a:br>
            <a:r>
              <a:rPr lang="en-US" sz="2000" dirty="0">
                <a:solidFill>
                  <a:schemeClr val="tx2"/>
                </a:solidFill>
              </a:rPr>
              <a:t>The first is generated as a "</a:t>
            </a:r>
            <a:r>
              <a:rPr lang="en-US" sz="2000" dirty="0" err="1">
                <a:solidFill>
                  <a:schemeClr val="tx2"/>
                </a:solidFill>
              </a:rPr>
              <a:t>lui</a:t>
            </a:r>
            <a:r>
              <a:rPr lang="en-US" sz="2000" dirty="0">
                <a:solidFill>
                  <a:schemeClr val="tx2"/>
                </a:solidFill>
              </a:rPr>
              <a:t>" opcode, with the upper portion of the constant (0xFEEDC).</a:t>
            </a:r>
            <a:br>
              <a:rPr lang="en-US" sz="2000" dirty="0">
                <a:solidFill>
                  <a:schemeClr val="tx2"/>
                </a:solidFill>
              </a:rPr>
            </a:br>
            <a:r>
              <a:rPr lang="en-US" sz="2000" dirty="0">
                <a:solidFill>
                  <a:schemeClr val="tx2"/>
                </a:solidFill>
              </a:rPr>
              <a:t>The second generated instruction uses an "</a:t>
            </a:r>
            <a:r>
              <a:rPr lang="en-US" sz="2000" dirty="0" err="1">
                <a:solidFill>
                  <a:schemeClr val="tx2"/>
                </a:solidFill>
              </a:rPr>
              <a:t>addi</a:t>
            </a:r>
            <a:r>
              <a:rPr lang="en-US" sz="2000" dirty="0">
                <a:solidFill>
                  <a:schemeClr val="tx2"/>
                </a:solidFill>
              </a:rPr>
              <a:t>" (add </a:t>
            </a:r>
            <a:r>
              <a:rPr lang="en-US" sz="2000" dirty="0" err="1">
                <a:solidFill>
                  <a:schemeClr val="tx2"/>
                </a:solidFill>
              </a:rPr>
              <a:t>im</a:t>
            </a:r>
            <a:r>
              <a:rPr lang="en-US" sz="2000" dirty="0">
                <a:solidFill>
                  <a:schemeClr val="tx2"/>
                </a:solidFill>
              </a:rPr>
              <a:t> mediate) instruction to add the signed value -273 to t1 (</a:t>
            </a:r>
            <a:r>
              <a:rPr lang="en-US" sz="2000" dirty="0" err="1">
                <a:solidFill>
                  <a:schemeClr val="tx2"/>
                </a:solidFill>
              </a:rPr>
              <a:t>ef</a:t>
            </a:r>
            <a:r>
              <a:rPr lang="en-IN" sz="2000" dirty="0" err="1">
                <a:solidFill>
                  <a:schemeClr val="tx2"/>
                </a:solidFill>
              </a:rPr>
              <a:t>ectively</a:t>
            </a:r>
            <a:r>
              <a:rPr lang="en-IN" sz="2000" dirty="0">
                <a:solidFill>
                  <a:schemeClr val="tx2"/>
                </a:solidFill>
              </a:rPr>
              <a:t> subtracting 273).</a:t>
            </a:r>
            <a:br>
              <a:rPr lang="en-IN" sz="2000" dirty="0">
                <a:solidFill>
                  <a:schemeClr val="tx2"/>
                </a:solidFill>
              </a:rPr>
            </a:br>
            <a:br>
              <a:rPr lang="en-IN" sz="2000" dirty="0">
                <a:solidFill>
                  <a:schemeClr val="tx2"/>
                </a:solidFill>
              </a:rPr>
            </a:br>
            <a:r>
              <a:rPr lang="en-US" sz="2000" dirty="0">
                <a:solidFill>
                  <a:schemeClr val="tx2"/>
                </a:solidFill>
              </a:rPr>
              <a:t>Let's check this in the </a:t>
            </a:r>
            <a:r>
              <a:rPr lang="en-US" sz="2000" dirty="0" err="1">
                <a:solidFill>
                  <a:schemeClr val="tx2"/>
                </a:solidFill>
              </a:rPr>
              <a:t>gdb</a:t>
            </a:r>
            <a:r>
              <a:rPr lang="en-US" sz="2000" dirty="0">
                <a:solidFill>
                  <a:schemeClr val="tx2"/>
                </a:solidFill>
              </a:rPr>
              <a:t> debugger</a:t>
            </a:r>
            <a:br>
              <a:rPr lang="en-US" sz="2000" dirty="0">
                <a:solidFill>
                  <a:schemeClr val="tx2"/>
                </a:solidFill>
              </a:rPr>
            </a:br>
            <a:br>
              <a:rPr lang="en-US" sz="2000" dirty="0">
                <a:solidFill>
                  <a:schemeClr val="tx2"/>
                </a:solidFill>
              </a:rPr>
            </a:br>
            <a:r>
              <a:rPr lang="en-US" sz="2000" dirty="0"/>
              <a:t>Here we use the </a:t>
            </a:r>
            <a:r>
              <a:rPr lang="en-US" sz="2000" dirty="0" err="1"/>
              <a:t>gdb</a:t>
            </a:r>
            <a:r>
              <a:rPr lang="en-US" sz="2000" dirty="0"/>
              <a:t> "p" (print) command, "/x" to print the result in hexadecimal, subtract </a:t>
            </a:r>
            <a:r>
              <a:rPr lang="en-US" sz="2000" dirty="0" err="1"/>
              <a:t>ing</a:t>
            </a:r>
            <a:r>
              <a:rPr lang="en-US" sz="2000" dirty="0"/>
              <a:t> 273 (decimal) from FEEDBEEF (in hexadecimal). The result is displayed as 0xfeedbeef. The printed result confirms the </a:t>
            </a:r>
            <a:r>
              <a:rPr lang="en-IN" sz="2000" dirty="0"/>
              <a:t>computation is indeed correct.</a:t>
            </a:r>
            <a:br>
              <a:rPr lang="en-US" sz="2000" dirty="0">
                <a:solidFill>
                  <a:schemeClr val="tx2"/>
                </a:solidFill>
              </a:rPr>
            </a:br>
            <a:endParaRPr lang="en-IN" sz="2000" dirty="0">
              <a:solidFill>
                <a:schemeClr val="tx2"/>
              </a:solidFill>
            </a:endParaRPr>
          </a:p>
        </p:txBody>
      </p:sp>
      <p:pic>
        <p:nvPicPr>
          <p:cNvPr id="7" name="Content Placeholder 6">
            <a:extLst>
              <a:ext uri="{FF2B5EF4-FFF2-40B4-BE49-F238E27FC236}">
                <a16:creationId xmlns:a16="http://schemas.microsoft.com/office/drawing/2014/main" id="{F96C3936-9A90-773A-1A12-88EF16B52FC1}"/>
              </a:ext>
            </a:extLst>
          </p:cNvPr>
          <p:cNvPicPr>
            <a:picLocks noGrp="1" noChangeAspect="1"/>
          </p:cNvPicPr>
          <p:nvPr>
            <p:ph idx="1"/>
          </p:nvPr>
        </p:nvPicPr>
        <p:blipFill>
          <a:blip r:embed="rId2"/>
          <a:stretch>
            <a:fillRect/>
          </a:stretch>
        </p:blipFill>
        <p:spPr>
          <a:xfrm>
            <a:off x="6345203" y="3378290"/>
            <a:ext cx="5029200" cy="2685086"/>
          </a:xfrm>
        </p:spPr>
      </p:pic>
      <p:grpSp>
        <p:nvGrpSpPr>
          <p:cNvPr id="16" name="Group 15">
            <a:extLst>
              <a:ext uri="{FF2B5EF4-FFF2-40B4-BE49-F238E27FC236}">
                <a16:creationId xmlns:a16="http://schemas.microsoft.com/office/drawing/2014/main" id="{569E5994-073E-4708-B3E6-43BFED0CEB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7" name="Freeform: Shape 16">
              <a:extLst>
                <a:ext uri="{FF2B5EF4-FFF2-40B4-BE49-F238E27FC236}">
                  <a16:creationId xmlns:a16="http://schemas.microsoft.com/office/drawing/2014/main" id="{532F818D-9087-4691-AABA-465619A0C2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8B7668A-5C96-4FB9-BFA9-38094EB87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BF4F95BD-8661-4C45-94E3-CF3159BF4C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E85BBF8A-E2FB-47F6-A60F-4FB855D50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Content Placeholder 4">
            <a:extLst>
              <a:ext uri="{FF2B5EF4-FFF2-40B4-BE49-F238E27FC236}">
                <a16:creationId xmlns:a16="http://schemas.microsoft.com/office/drawing/2014/main" id="{0EFC6F81-B3BF-37B5-EDE8-155A17D3D477}"/>
              </a:ext>
            </a:extLst>
          </p:cNvPr>
          <p:cNvPicPr>
            <a:picLocks noChangeAspect="1"/>
          </p:cNvPicPr>
          <p:nvPr/>
        </p:nvPicPr>
        <p:blipFill>
          <a:blip r:embed="rId3"/>
          <a:srcRect b="18085"/>
          <a:stretch>
            <a:fillRect/>
          </a:stretch>
        </p:blipFill>
        <p:spPr>
          <a:xfrm>
            <a:off x="662988" y="3497527"/>
            <a:ext cx="5029200" cy="2429618"/>
          </a:xfrm>
          <a:prstGeom prst="rect">
            <a:avLst/>
          </a:prstGeom>
        </p:spPr>
      </p:pic>
      <p:grpSp>
        <p:nvGrpSpPr>
          <p:cNvPr id="22" name="Group 21">
            <a:extLst>
              <a:ext uri="{FF2B5EF4-FFF2-40B4-BE49-F238E27FC236}">
                <a16:creationId xmlns:a16="http://schemas.microsoft.com/office/drawing/2014/main" id="{DD81D498-EAA8-40F3-8230-AE4DEDA3830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3" name="Freeform: Shape 22">
              <a:extLst>
                <a:ext uri="{FF2B5EF4-FFF2-40B4-BE49-F238E27FC236}">
                  <a16:creationId xmlns:a16="http://schemas.microsoft.com/office/drawing/2014/main" id="{262F2402-5879-41A3-ACEC-6D2811BA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BBD41895-A230-4959-97BA-80F516383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E670BD54-10A6-4092-9E32-647B2F870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6" name="Freeform: Shape 25">
              <a:extLst>
                <a:ext uri="{FF2B5EF4-FFF2-40B4-BE49-F238E27FC236}">
                  <a16:creationId xmlns:a16="http://schemas.microsoft.com/office/drawing/2014/main" id="{1C2B9A82-4826-4BF4-A16E-0B005FE761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TextBox 9">
            <a:extLst>
              <a:ext uri="{FF2B5EF4-FFF2-40B4-BE49-F238E27FC236}">
                <a16:creationId xmlns:a16="http://schemas.microsoft.com/office/drawing/2014/main" id="{A5766A31-FF3C-E3AE-A0B3-AE4B2A8C6B7E}"/>
              </a:ext>
            </a:extLst>
          </p:cNvPr>
          <p:cNvSpPr txBox="1"/>
          <p:nvPr/>
        </p:nvSpPr>
        <p:spPr>
          <a:xfrm>
            <a:off x="7117080" y="2938943"/>
            <a:ext cx="3154680" cy="369332"/>
          </a:xfrm>
          <a:prstGeom prst="rect">
            <a:avLst/>
          </a:prstGeom>
          <a:noFill/>
        </p:spPr>
        <p:txBody>
          <a:bodyPr wrap="square">
            <a:spAutoFit/>
          </a:bodyPr>
          <a:lstStyle/>
          <a:p>
            <a:r>
              <a:rPr lang="nb-NO" sz="1800" b="0" i="0" u="none" strike="noStrike" baseline="0" dirty="0">
                <a:latin typeface="CIDFont+F2"/>
              </a:rPr>
              <a:t>Type : p /x 0xFEEDC000 – 273</a:t>
            </a:r>
            <a:endParaRPr lang="en-IN" dirty="0"/>
          </a:p>
        </p:txBody>
      </p:sp>
    </p:spTree>
    <p:extLst>
      <p:ext uri="{BB962C8B-B14F-4D97-AF65-F5344CB8AC3E}">
        <p14:creationId xmlns:p14="http://schemas.microsoft.com/office/powerpoint/2010/main" val="452442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04EAF2-B993-737A-1AC0-58CCBF185552}"/>
              </a:ext>
            </a:extLst>
          </p:cNvPr>
          <p:cNvSpPr>
            <a:spLocks noGrp="1"/>
          </p:cNvSpPr>
          <p:nvPr>
            <p:ph idx="1"/>
          </p:nvPr>
        </p:nvSpPr>
        <p:spPr>
          <a:xfrm>
            <a:off x="609600" y="560705"/>
            <a:ext cx="10515600" cy="4351338"/>
          </a:xfrm>
        </p:spPr>
        <p:txBody>
          <a:bodyPr>
            <a:normAutofit fontScale="92500" lnSpcReduction="10000"/>
          </a:bodyPr>
          <a:lstStyle/>
          <a:p>
            <a:pPr marL="0" indent="0">
              <a:buNone/>
            </a:pPr>
            <a:r>
              <a:rPr lang="en-IN" b="1" dirty="0">
                <a:latin typeface="Times New Roman" panose="02020603050405020304" pitchFamily="18" charset="0"/>
                <a:cs typeface="Times New Roman" panose="02020603050405020304" pitchFamily="18" charset="0"/>
              </a:rPr>
              <a:t>The </a:t>
            </a:r>
            <a:r>
              <a:rPr lang="en-IN" b="1" dirty="0" err="1">
                <a:latin typeface="Times New Roman" panose="02020603050405020304" pitchFamily="18" charset="0"/>
                <a:cs typeface="Times New Roman" panose="02020603050405020304" pitchFamily="18" charset="0"/>
              </a:rPr>
              <a:t>addi</a:t>
            </a:r>
            <a:r>
              <a:rPr lang="en-IN" b="1" dirty="0">
                <a:latin typeface="Times New Roman" panose="02020603050405020304" pitchFamily="18" charset="0"/>
                <a:cs typeface="Times New Roman" panose="02020603050405020304" pitchFamily="18" charset="0"/>
              </a:rPr>
              <a:t> Opcode</a:t>
            </a:r>
          </a:p>
          <a:p>
            <a:pPr marL="0" indent="0">
              <a:buNone/>
            </a:pPr>
            <a:r>
              <a:rPr lang="en-US" dirty="0">
                <a:latin typeface="Times New Roman" panose="02020603050405020304" pitchFamily="18" charset="0"/>
                <a:cs typeface="Times New Roman" panose="02020603050405020304" pitchFamily="18" charset="0"/>
              </a:rPr>
              <a:t>Many instructions of the RV32I/RV64I have an immediate data counterpart instruction for incrementing </a:t>
            </a:r>
            <a:r>
              <a:rPr lang="en-IN" dirty="0">
                <a:latin typeface="Times New Roman" panose="02020603050405020304" pitchFamily="18" charset="0"/>
                <a:cs typeface="Times New Roman" panose="02020603050405020304" pitchFamily="18" charset="0"/>
              </a:rPr>
              <a:t>a1 by 1:</a:t>
            </a:r>
          </a:p>
          <a:p>
            <a:pPr marL="0" indent="0">
              <a:buNone/>
            </a:pPr>
            <a:r>
              <a:rPr lang="it-IT" dirty="0">
                <a:latin typeface="Times New Roman" panose="02020603050405020304" pitchFamily="18" charset="0"/>
                <a:cs typeface="Times New Roman" panose="02020603050405020304" pitchFamily="18" charset="0"/>
              </a:rPr>
              <a:t>    addi a1,a1,1            # a1 += 1</a:t>
            </a:r>
          </a:p>
          <a:p>
            <a:pPr marL="0" indent="0">
              <a:buNone/>
            </a:pPr>
            <a:r>
              <a:rPr lang="en-IN" b="1" dirty="0">
                <a:latin typeface="Times New Roman" panose="02020603050405020304" pitchFamily="18" charset="0"/>
                <a:cs typeface="Times New Roman" panose="02020603050405020304" pitchFamily="18" charset="0"/>
              </a:rPr>
              <a:t>Pseudo-Op mv</a:t>
            </a:r>
          </a:p>
          <a:p>
            <a:pPr marL="0" indent="0">
              <a:buNone/>
            </a:pPr>
            <a:r>
              <a:rPr lang="en-US" dirty="0">
                <a:latin typeface="Times New Roman" panose="02020603050405020304" pitchFamily="18" charset="0"/>
                <a:cs typeface="Times New Roman" panose="02020603050405020304" pitchFamily="18" charset="0"/>
              </a:rPr>
              <a:t>Register values sometimes need to be copied or moved from one register to another. The general form of this </a:t>
            </a:r>
            <a:r>
              <a:rPr lang="en-IN" dirty="0">
                <a:latin typeface="Times New Roman" panose="02020603050405020304" pitchFamily="18" charset="0"/>
                <a:cs typeface="Times New Roman" panose="02020603050405020304" pitchFamily="18" charset="0"/>
              </a:rPr>
              <a:t>opcode is this:</a:t>
            </a:r>
          </a:p>
          <a:p>
            <a:pPr marL="0" indent="0">
              <a:buNone/>
            </a:pPr>
            <a:r>
              <a:rPr lang="en-IN" dirty="0">
                <a:latin typeface="Times New Roman" panose="02020603050405020304" pitchFamily="18" charset="0"/>
                <a:cs typeface="Times New Roman" panose="02020603050405020304" pitchFamily="18" charset="0"/>
              </a:rPr>
              <a:t>      mv </a:t>
            </a:r>
            <a:r>
              <a:rPr lang="en-IN" dirty="0" err="1">
                <a:latin typeface="Times New Roman" panose="02020603050405020304" pitchFamily="18" charset="0"/>
                <a:cs typeface="Times New Roman" panose="02020603050405020304" pitchFamily="18" charset="0"/>
              </a:rPr>
              <a:t>rd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rs</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source register </a:t>
            </a:r>
            <a:r>
              <a:rPr lang="en-US" dirty="0" err="1">
                <a:latin typeface="Times New Roman" panose="02020603050405020304" pitchFamily="18" charset="0"/>
                <a:cs typeface="Times New Roman" panose="02020603050405020304" pitchFamily="18" charset="0"/>
              </a:rPr>
              <a:t>rs</a:t>
            </a:r>
            <a:r>
              <a:rPr lang="en-US" dirty="0">
                <a:latin typeface="Times New Roman" panose="02020603050405020304" pitchFamily="18" charset="0"/>
                <a:cs typeface="Times New Roman" panose="02020603050405020304" pitchFamily="18" charset="0"/>
              </a:rPr>
              <a:t> is copied to the destination register </a:t>
            </a:r>
            <a:r>
              <a:rPr lang="en-US" dirty="0" err="1">
                <a:latin typeface="Times New Roman" panose="02020603050405020304" pitchFamily="18" charset="0"/>
                <a:cs typeface="Times New Roman" panose="02020603050405020304" pitchFamily="18" charset="0"/>
              </a:rPr>
              <a:t>rd</a:t>
            </a:r>
            <a:r>
              <a:rPr lang="en-US" dirty="0">
                <a:latin typeface="Times New Roman" panose="02020603050405020304" pitchFamily="18" charset="0"/>
                <a:cs typeface="Times New Roman" panose="02020603050405020304" pitchFamily="18" charset="0"/>
              </a:rPr>
              <a:t>, where the destination reg </a:t>
            </a:r>
            <a:r>
              <a:rPr lang="en-US" dirty="0" err="1">
                <a:latin typeface="Times New Roman" panose="02020603050405020304" pitchFamily="18" charset="0"/>
                <a:cs typeface="Times New Roman" panose="02020603050405020304" pitchFamily="18" charset="0"/>
              </a:rPr>
              <a:t>ister</a:t>
            </a:r>
            <a:r>
              <a:rPr lang="en-US" dirty="0">
                <a:latin typeface="Times New Roman" panose="02020603050405020304" pitchFamily="18" charset="0"/>
                <a:cs typeface="Times New Roman" panose="02020603050405020304" pitchFamily="18" charset="0"/>
              </a:rPr>
              <a:t> is not x0 (zero).</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02C8AD0-DD82-0D33-A309-08E2FA59C2AE}"/>
              </a:ext>
            </a:extLst>
          </p:cNvPr>
          <p:cNvPicPr>
            <a:picLocks noChangeAspect="1"/>
          </p:cNvPicPr>
          <p:nvPr/>
        </p:nvPicPr>
        <p:blipFill>
          <a:blip r:embed="rId2"/>
          <a:stretch>
            <a:fillRect/>
          </a:stretch>
        </p:blipFill>
        <p:spPr>
          <a:xfrm>
            <a:off x="609600" y="5047799"/>
            <a:ext cx="9601200" cy="738803"/>
          </a:xfrm>
          <a:prstGeom prst="rect">
            <a:avLst/>
          </a:prstGeom>
        </p:spPr>
      </p:pic>
    </p:spTree>
    <p:extLst>
      <p:ext uri="{BB962C8B-B14F-4D97-AF65-F5344CB8AC3E}">
        <p14:creationId xmlns:p14="http://schemas.microsoft.com/office/powerpoint/2010/main" val="507622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5C13D-2D81-AA3F-961C-154F40E705A5}"/>
              </a:ext>
            </a:extLst>
          </p:cNvPr>
          <p:cNvSpPr>
            <a:spLocks noGrp="1"/>
          </p:cNvSpPr>
          <p:nvPr>
            <p:ph type="title"/>
          </p:nvPr>
        </p:nvSpPr>
        <p:spPr>
          <a:xfrm>
            <a:off x="243192" y="381000"/>
            <a:ext cx="4831080" cy="1158240"/>
          </a:xfrm>
        </p:spPr>
        <p:txBody>
          <a:bodyPr/>
          <a:lstStyle/>
          <a:p>
            <a:r>
              <a:rPr lang="en-IN" dirty="0">
                <a:latin typeface="Times New Roman" panose="02020603050405020304" pitchFamily="18" charset="0"/>
                <a:cs typeface="Times New Roman" panose="02020603050405020304" pitchFamily="18" charset="0"/>
              </a:rPr>
              <a:t>Loads under RV64I</a:t>
            </a:r>
          </a:p>
        </p:txBody>
      </p:sp>
      <p:sp>
        <p:nvSpPr>
          <p:cNvPr id="3" name="Content Placeholder 2">
            <a:extLst>
              <a:ext uri="{FF2B5EF4-FFF2-40B4-BE49-F238E27FC236}">
                <a16:creationId xmlns:a16="http://schemas.microsoft.com/office/drawing/2014/main" id="{67850594-E1FB-B81D-9B90-8C42B3DD9EA0}"/>
              </a:ext>
            </a:extLst>
          </p:cNvPr>
          <p:cNvSpPr>
            <a:spLocks noGrp="1"/>
          </p:cNvSpPr>
          <p:nvPr>
            <p:ph idx="1"/>
          </p:nvPr>
        </p:nvSpPr>
        <p:spPr>
          <a:xfrm>
            <a:off x="274320" y="1685714"/>
            <a:ext cx="4953000" cy="2302192"/>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 cd ~/</a:t>
            </a:r>
            <a:r>
              <a:rPr lang="en-IN" sz="2400" dirty="0" err="1">
                <a:latin typeface="Times New Roman" panose="02020603050405020304" pitchFamily="18" charset="0"/>
                <a:cs typeface="Times New Roman" panose="02020603050405020304" pitchFamily="18" charset="0"/>
              </a:rPr>
              <a:t>riscv</a:t>
            </a:r>
            <a:r>
              <a:rPr lang="en-IN" sz="2400" dirty="0">
                <a:latin typeface="Times New Roman" panose="02020603050405020304" pitchFamily="18" charset="0"/>
                <a:cs typeface="Times New Roman" panose="02020603050405020304" pitchFamily="18" charset="0"/>
              </a:rPr>
              <a:t>/repo/06/loads/qemu64</a:t>
            </a:r>
          </a:p>
          <a:p>
            <a:pPr marL="0" indent="0">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gcc</a:t>
            </a:r>
            <a:r>
              <a:rPr lang="en-IN" sz="2400" dirty="0">
                <a:latin typeface="Times New Roman" panose="02020603050405020304" pitchFamily="18" charset="0"/>
                <a:cs typeface="Times New Roman" panose="02020603050405020304" pitchFamily="18" charset="0"/>
              </a:rPr>
              <a:t> -O0 -g </a:t>
            </a:r>
            <a:r>
              <a:rPr lang="en-IN" sz="2400" dirty="0" err="1">
                <a:latin typeface="Times New Roman" panose="02020603050405020304" pitchFamily="18" charset="0"/>
                <a:cs typeface="Times New Roman" panose="02020603050405020304" pitchFamily="18" charset="0"/>
              </a:rPr>
              <a:t>loads.S</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main.c</a:t>
            </a: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a.out</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91A6793-4D60-9C3B-2F91-D7DA7CCF01DF}"/>
              </a:ext>
            </a:extLst>
          </p:cNvPr>
          <p:cNvPicPr>
            <a:picLocks noChangeAspect="1"/>
          </p:cNvPicPr>
          <p:nvPr/>
        </p:nvPicPr>
        <p:blipFill>
          <a:blip r:embed="rId2"/>
          <a:stretch>
            <a:fillRect/>
          </a:stretch>
        </p:blipFill>
        <p:spPr>
          <a:xfrm>
            <a:off x="5357774" y="381000"/>
            <a:ext cx="5996026" cy="4175760"/>
          </a:xfrm>
          <a:prstGeom prst="rect">
            <a:avLst/>
          </a:prstGeom>
        </p:spPr>
      </p:pic>
      <p:sp>
        <p:nvSpPr>
          <p:cNvPr id="7" name="TextBox 6">
            <a:extLst>
              <a:ext uri="{FF2B5EF4-FFF2-40B4-BE49-F238E27FC236}">
                <a16:creationId xmlns:a16="http://schemas.microsoft.com/office/drawing/2014/main" id="{E6304B98-E84C-FE8A-C8E1-8F2076F114C8}"/>
              </a:ext>
            </a:extLst>
          </p:cNvPr>
          <p:cNvSpPr txBox="1"/>
          <p:nvPr/>
        </p:nvSpPr>
        <p:spPr>
          <a:xfrm>
            <a:off x="1074419" y="5361644"/>
            <a:ext cx="3352801" cy="523220"/>
          </a:xfrm>
          <a:prstGeom prst="rect">
            <a:avLst/>
          </a:prstGeom>
          <a:noFill/>
        </p:spPr>
        <p:txBody>
          <a:bodyPr wrap="square">
            <a:spAutoFit/>
          </a:bodyPr>
          <a:lstStyle/>
          <a:p>
            <a:r>
              <a:rPr lang="en-IN" sz="2800" b="0" i="0" u="none" strike="noStrike" baseline="0" dirty="0">
                <a:latin typeface="Times New Roman" panose="02020603050405020304" pitchFamily="18" charset="0"/>
                <a:cs typeface="Times New Roman" panose="02020603050405020304" pitchFamily="18" charset="0"/>
              </a:rPr>
              <a:t>For testing alignment</a:t>
            </a:r>
            <a:endParaRPr lang="en-IN" sz="2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9F2198B-A1B7-F444-CB96-0662A58EE3F5}"/>
              </a:ext>
            </a:extLst>
          </p:cNvPr>
          <p:cNvPicPr>
            <a:picLocks noChangeAspect="1"/>
          </p:cNvPicPr>
          <p:nvPr/>
        </p:nvPicPr>
        <p:blipFill>
          <a:blip r:embed="rId3"/>
          <a:srcRect r="13729"/>
          <a:stretch>
            <a:fillRect/>
          </a:stretch>
        </p:blipFill>
        <p:spPr>
          <a:xfrm>
            <a:off x="4571352" y="4833622"/>
            <a:ext cx="7091879" cy="1737360"/>
          </a:xfrm>
          <a:prstGeom prst="rect">
            <a:avLst/>
          </a:prstGeom>
        </p:spPr>
      </p:pic>
    </p:spTree>
    <p:extLst>
      <p:ext uri="{BB962C8B-B14F-4D97-AF65-F5344CB8AC3E}">
        <p14:creationId xmlns:p14="http://schemas.microsoft.com/office/powerpoint/2010/main" val="1029569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0487E42-E7D7-FCEB-4A03-D660B9D4A57D}"/>
              </a:ext>
            </a:extLst>
          </p:cNvPr>
          <p:cNvPicPr>
            <a:picLocks noGrp="1" noChangeAspect="1"/>
          </p:cNvPicPr>
          <p:nvPr>
            <p:ph idx="1"/>
          </p:nvPr>
        </p:nvPicPr>
        <p:blipFill>
          <a:blip r:embed="rId2"/>
          <a:stretch>
            <a:fillRect/>
          </a:stretch>
        </p:blipFill>
        <p:spPr>
          <a:xfrm>
            <a:off x="1715470" y="2671856"/>
            <a:ext cx="8761059" cy="4005492"/>
          </a:xfrm>
        </p:spPr>
      </p:pic>
      <p:sp>
        <p:nvSpPr>
          <p:cNvPr id="7" name="TextBox 6">
            <a:extLst>
              <a:ext uri="{FF2B5EF4-FFF2-40B4-BE49-F238E27FC236}">
                <a16:creationId xmlns:a16="http://schemas.microsoft.com/office/drawing/2014/main" id="{C94AB8C5-A860-228F-5DEF-3EDFB9F88AEB}"/>
              </a:ext>
            </a:extLst>
          </p:cNvPr>
          <p:cNvSpPr txBox="1"/>
          <p:nvPr/>
        </p:nvSpPr>
        <p:spPr>
          <a:xfrm>
            <a:off x="321981" y="363532"/>
            <a:ext cx="4996779" cy="2308324"/>
          </a:xfrm>
          <a:prstGeom prst="rect">
            <a:avLst/>
          </a:prstGeom>
          <a:noFill/>
        </p:spPr>
        <p:txBody>
          <a:bodyPr wrap="square">
            <a:spAutoFit/>
          </a:bodyPr>
          <a:lstStyle/>
          <a:p>
            <a:pPr algn="l"/>
            <a:r>
              <a:rPr lang="en-IN" sz="2400" b="0" i="0" u="none" strike="noStrike" baseline="0" dirty="0">
                <a:latin typeface="Times New Roman" panose="02020603050405020304" pitchFamily="18" charset="0"/>
                <a:cs typeface="Times New Roman" panose="02020603050405020304" pitchFamily="18" charset="0"/>
              </a:rPr>
              <a:t>The .section Pseudo-Op</a:t>
            </a:r>
          </a:p>
          <a:p>
            <a:pPr algn="l"/>
            <a:r>
              <a:rPr lang="en-US" sz="2400" b="0" i="0" u="none" strike="noStrike" baseline="0" dirty="0">
                <a:latin typeface="Times New Roman" panose="02020603050405020304" pitchFamily="18" charset="0"/>
                <a:cs typeface="Times New Roman" panose="02020603050405020304" pitchFamily="18" charset="0"/>
              </a:rPr>
              <a:t>The full format for the pseudo-op is:</a:t>
            </a:r>
          </a:p>
          <a:p>
            <a:pPr algn="l"/>
            <a:r>
              <a:rPr lang="en-IN" sz="2400" b="0" i="0" u="none" strike="noStrike" baseline="0" dirty="0">
                <a:latin typeface="Times New Roman" panose="02020603050405020304" pitchFamily="18" charset="0"/>
                <a:cs typeface="Times New Roman" panose="02020603050405020304" pitchFamily="18" charset="0"/>
              </a:rPr>
              <a:t>.section name[, "flags"[, @type] ]</a:t>
            </a:r>
          </a:p>
          <a:p>
            <a:pPr algn="l"/>
            <a:r>
              <a:rPr lang="en-US" sz="2400" b="0" i="0" u="none" strike="noStrike" baseline="0" dirty="0">
                <a:latin typeface="Times New Roman" panose="02020603050405020304" pitchFamily="18" charset="0"/>
                <a:cs typeface="Times New Roman" panose="02020603050405020304" pitchFamily="18" charset="0"/>
              </a:rPr>
              <a:t>• "a" – the section is allocatable</a:t>
            </a:r>
          </a:p>
          <a:p>
            <a:pPr algn="l"/>
            <a:r>
              <a:rPr lang="en-US" sz="2400" b="0" i="0" u="none" strike="noStrike" baseline="0" dirty="0">
                <a:latin typeface="Times New Roman" panose="02020603050405020304" pitchFamily="18" charset="0"/>
                <a:cs typeface="Times New Roman" panose="02020603050405020304" pitchFamily="18" charset="0"/>
              </a:rPr>
              <a:t>• "w" – the section is writable</a:t>
            </a:r>
          </a:p>
          <a:p>
            <a:pPr algn="l"/>
            <a:r>
              <a:rPr lang="en-US" sz="2400" b="0" i="0" u="none" strike="noStrike" baseline="0" dirty="0">
                <a:latin typeface="Times New Roman" panose="02020603050405020304" pitchFamily="18" charset="0"/>
                <a:cs typeface="Times New Roman" panose="02020603050405020304" pitchFamily="18" charset="0"/>
              </a:rPr>
              <a:t>• "x" – the section is executable</a:t>
            </a:r>
          </a:p>
        </p:txBody>
      </p:sp>
      <p:sp>
        <p:nvSpPr>
          <p:cNvPr id="9" name="TextBox 8">
            <a:extLst>
              <a:ext uri="{FF2B5EF4-FFF2-40B4-BE49-F238E27FC236}">
                <a16:creationId xmlns:a16="http://schemas.microsoft.com/office/drawing/2014/main" id="{56064EDB-EDBA-EA87-BEC0-D55032EF2EBC}"/>
              </a:ext>
            </a:extLst>
          </p:cNvPr>
          <p:cNvSpPr txBox="1"/>
          <p:nvPr/>
        </p:nvSpPr>
        <p:spPr>
          <a:xfrm>
            <a:off x="5943600" y="568395"/>
            <a:ext cx="5288280" cy="1631216"/>
          </a:xfrm>
          <a:prstGeom prst="rect">
            <a:avLst/>
          </a:prstGeom>
          <a:noFill/>
        </p:spPr>
        <p:txBody>
          <a:bodyPr wrap="square">
            <a:spAutoFit/>
          </a:bodyPr>
          <a:lstStyle/>
          <a:p>
            <a:pPr algn="l"/>
            <a:r>
              <a:rPr lang="en-US" sz="2000" b="0" i="0" u="none" strike="noStrike" baseline="0" dirty="0">
                <a:latin typeface="Times New Roman" panose="02020603050405020304" pitchFamily="18" charset="0"/>
                <a:cs typeface="Times New Roman" panose="02020603050405020304" pitchFamily="18" charset="0"/>
              </a:rPr>
              <a:t>The @type argument, when present, may be one of the </a:t>
            </a:r>
            <a:r>
              <a:rPr lang="en-IN" sz="2000" b="0" i="0" u="none" strike="noStrike" baseline="0" dirty="0">
                <a:latin typeface="Times New Roman" panose="02020603050405020304" pitchFamily="18" charset="0"/>
                <a:cs typeface="Times New Roman" panose="02020603050405020304" pitchFamily="18" charset="0"/>
              </a:rPr>
              <a:t>following values:</a:t>
            </a:r>
          </a:p>
          <a:p>
            <a:pPr algn="l"/>
            <a:r>
              <a:rPr lang="en-IN" sz="2000" b="0" i="0" u="none" strike="noStrike" baseline="0" dirty="0">
                <a:latin typeface="Times New Roman" panose="02020603050405020304" pitchFamily="18" charset="0"/>
                <a:cs typeface="Times New Roman" panose="02020603050405020304" pitchFamily="18" charset="0"/>
              </a:rPr>
              <a:t>• @progbits – the section contains data</a:t>
            </a:r>
          </a:p>
          <a:p>
            <a:pPr algn="l"/>
            <a:r>
              <a:rPr lang="en-US" sz="2000" b="0" i="0" u="none" strike="noStrike" baseline="0" dirty="0">
                <a:latin typeface="Times New Roman" panose="02020603050405020304" pitchFamily="18" charset="0"/>
                <a:cs typeface="Times New Roman" panose="02020603050405020304" pitchFamily="18" charset="0"/>
              </a:rPr>
              <a:t>• @nobits – the section only occupies space and does not </a:t>
            </a:r>
            <a:r>
              <a:rPr lang="en-IN" sz="2000" b="0" i="0" u="none" strike="noStrike" baseline="0" dirty="0">
                <a:latin typeface="Times New Roman" panose="02020603050405020304" pitchFamily="18" charset="0"/>
                <a:cs typeface="Times New Roman" panose="02020603050405020304" pitchFamily="18" charset="0"/>
              </a:rPr>
              <a:t>contain data</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9504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64FA78F-E853-506D-3B69-82CCA3271DDC}"/>
              </a:ext>
            </a:extLst>
          </p:cNvPr>
          <p:cNvSpPr>
            <a:spLocks noGrp="1"/>
          </p:cNvSpPr>
          <p:nvPr>
            <p:ph type="title"/>
          </p:nvPr>
        </p:nvSpPr>
        <p:spPr/>
        <p:txBody>
          <a:bodyPr/>
          <a:lstStyle/>
          <a:p>
            <a:endParaRPr lang="en-IN"/>
          </a:p>
        </p:txBody>
      </p:sp>
      <p:sp>
        <p:nvSpPr>
          <p:cNvPr id="9" name="Content Placeholder 8">
            <a:extLst>
              <a:ext uri="{FF2B5EF4-FFF2-40B4-BE49-F238E27FC236}">
                <a16:creationId xmlns:a16="http://schemas.microsoft.com/office/drawing/2014/main" id="{DA4AE4CF-3C85-3AB6-FC10-5A9A0D963F1F}"/>
              </a:ext>
            </a:extLst>
          </p:cNvPr>
          <p:cNvSpPr>
            <a:spLocks noGrp="1"/>
          </p:cNvSpPr>
          <p:nvPr>
            <p:ph idx="1"/>
          </p:nvPr>
        </p:nvSpPr>
        <p:spPr/>
        <p:txBody>
          <a:bodyPr/>
          <a:lstStyle/>
          <a:p>
            <a:endParaRPr lang="en-IN"/>
          </a:p>
        </p:txBody>
      </p:sp>
      <p:sp useBgFill="1">
        <p:nvSpPr>
          <p:cNvPr id="10" name="Rectangle 9">
            <a:extLst>
              <a:ext uri="{FF2B5EF4-FFF2-40B4-BE49-F238E27FC236}">
                <a16:creationId xmlns:a16="http://schemas.microsoft.com/office/drawing/2014/main" id="{D1C1F32F-94D0-6B7D-DE8E-E9D7B4A77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BA1457-AE8B-6385-80E3-414D00D31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03F5161-39B2-E349-E8AF-170954EAE68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E63678D2-8D5E-2E34-E2D1-E7DF3EF5B8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4" name="Freeform: Shape 13">
              <a:extLst>
                <a:ext uri="{FF2B5EF4-FFF2-40B4-BE49-F238E27FC236}">
                  <a16:creationId xmlns:a16="http://schemas.microsoft.com/office/drawing/2014/main" id="{18D52150-E55A-190F-1D8B-A19F9A7479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5" name="Freeform: Shape 14">
              <a:extLst>
                <a:ext uri="{FF2B5EF4-FFF2-40B4-BE49-F238E27FC236}">
                  <a16:creationId xmlns:a16="http://schemas.microsoft.com/office/drawing/2014/main" id="{386758D4-EFF5-D225-15C8-6CF2D83B8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6" name="Freeform: Shape 15">
              <a:extLst>
                <a:ext uri="{FF2B5EF4-FFF2-40B4-BE49-F238E27FC236}">
                  <a16:creationId xmlns:a16="http://schemas.microsoft.com/office/drawing/2014/main" id="{C7468788-2648-C66E-CCCB-2C5016E41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grpSp>
      <p:grpSp>
        <p:nvGrpSpPr>
          <p:cNvPr id="17" name="Group 16">
            <a:extLst>
              <a:ext uri="{FF2B5EF4-FFF2-40B4-BE49-F238E27FC236}">
                <a16:creationId xmlns:a16="http://schemas.microsoft.com/office/drawing/2014/main" id="{50B045B4-9626-2E8C-107C-6187A27E841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8" name="Freeform: Shape 17">
              <a:extLst>
                <a:ext uri="{FF2B5EF4-FFF2-40B4-BE49-F238E27FC236}">
                  <a16:creationId xmlns:a16="http://schemas.microsoft.com/office/drawing/2014/main" id="{6E906F16-6513-10AC-9059-84E6D9EC4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9" name="Freeform: Shape 18">
              <a:extLst>
                <a:ext uri="{FF2B5EF4-FFF2-40B4-BE49-F238E27FC236}">
                  <a16:creationId xmlns:a16="http://schemas.microsoft.com/office/drawing/2014/main" id="{AAC9F164-1A79-53DE-5E0F-EB6A0D3E82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20" name="Freeform: Shape 19">
              <a:extLst>
                <a:ext uri="{FF2B5EF4-FFF2-40B4-BE49-F238E27FC236}">
                  <a16:creationId xmlns:a16="http://schemas.microsoft.com/office/drawing/2014/main" id="{E3973877-7C25-CD02-87A1-782F3C631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21" name="Freeform: Shape 20">
              <a:extLst>
                <a:ext uri="{FF2B5EF4-FFF2-40B4-BE49-F238E27FC236}">
                  <a16:creationId xmlns:a16="http://schemas.microsoft.com/office/drawing/2014/main" id="{31AAA2B2-1C74-A68B-768A-3A0253BCD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grpSp>
      <p:sp>
        <p:nvSpPr>
          <p:cNvPr id="22" name="Title 1">
            <a:extLst>
              <a:ext uri="{FF2B5EF4-FFF2-40B4-BE49-F238E27FC236}">
                <a16:creationId xmlns:a16="http://schemas.microsoft.com/office/drawing/2014/main" id="{7E6D61D0-5A9D-E4C2-C1C0-975EBE1C1F69}"/>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atin typeface="Times New Roman" panose="02020603050405020304" pitchFamily="18" charset="0"/>
                <a:cs typeface="Times New Roman" panose="02020603050405020304" pitchFamily="18" charset="0"/>
              </a:rPr>
              <a:t>Storing Data</a:t>
            </a:r>
            <a:endParaRPr lang="en-IN" dirty="0">
              <a:latin typeface="Times New Roman" panose="02020603050405020304" pitchFamily="18" charset="0"/>
              <a:cs typeface="Times New Roman" panose="02020603050405020304" pitchFamily="18" charset="0"/>
            </a:endParaRPr>
          </a:p>
        </p:txBody>
      </p:sp>
      <p:sp>
        <p:nvSpPr>
          <p:cNvPr id="23" name="Content Placeholder 2">
            <a:extLst>
              <a:ext uri="{FF2B5EF4-FFF2-40B4-BE49-F238E27FC236}">
                <a16:creationId xmlns:a16="http://schemas.microsoft.com/office/drawing/2014/main" id="{5091563C-EB5B-DCBA-97B6-93C48B7D2F02}"/>
              </a:ext>
            </a:extLst>
          </p:cNvPr>
          <p:cNvSpPr txBox="1">
            <a:spLocks/>
          </p:cNvSpPr>
          <p:nvPr/>
        </p:nvSpPr>
        <p:spPr>
          <a:xfrm>
            <a:off x="441960" y="149034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Times New Roman" panose="02020603050405020304" pitchFamily="18" charset="0"/>
                <a:cs typeface="Times New Roman" panose="02020603050405020304" pitchFamily="18" charset="0"/>
              </a:rPr>
              <a:t>After a calculation or register manipulation is performed, there is normally a need to save that result into memory for later use or reference. This is done with the corresponding sb, sh, sw or sd opcode. The register "rs“ below is the source register in this case because the </a:t>
            </a:r>
            <a:r>
              <a:rPr lang="en-IN">
                <a:latin typeface="Times New Roman" panose="02020603050405020304" pitchFamily="18" charset="0"/>
                <a:cs typeface="Times New Roman" panose="02020603050405020304" pitchFamily="18" charset="0"/>
              </a:rPr>
              <a:t>memory is the destination.</a:t>
            </a:r>
          </a:p>
          <a:p>
            <a:pPr marL="0" indent="0">
              <a:buFont typeface="Arial" panose="020B0604020202020204" pitchFamily="34" charset="0"/>
              <a:buNone/>
            </a:pPr>
            <a:endParaRPr lang="en-IN" dirty="0">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EC942D0B-B988-D148-AD11-C152E2D66212}"/>
              </a:ext>
            </a:extLst>
          </p:cNvPr>
          <p:cNvPicPr>
            <a:picLocks noChangeAspect="1"/>
          </p:cNvPicPr>
          <p:nvPr/>
        </p:nvPicPr>
        <p:blipFill>
          <a:blip r:embed="rId2"/>
          <a:stretch>
            <a:fillRect/>
          </a:stretch>
        </p:blipFill>
        <p:spPr>
          <a:xfrm>
            <a:off x="624839" y="3787623"/>
            <a:ext cx="9739657" cy="1580032"/>
          </a:xfrm>
          <a:prstGeom prst="rect">
            <a:avLst/>
          </a:prstGeom>
        </p:spPr>
      </p:pic>
    </p:spTree>
    <p:extLst>
      <p:ext uri="{BB962C8B-B14F-4D97-AF65-F5344CB8AC3E}">
        <p14:creationId xmlns:p14="http://schemas.microsoft.com/office/powerpoint/2010/main" val="33491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le 47">
            <a:extLst>
              <a:ext uri="{FF2B5EF4-FFF2-40B4-BE49-F238E27FC236}">
                <a16:creationId xmlns:a16="http://schemas.microsoft.com/office/drawing/2014/main" id="{31D9A3BE-A3D3-102B-FBCA-E52E84D025A7}"/>
              </a:ext>
            </a:extLst>
          </p:cNvPr>
          <p:cNvSpPr>
            <a:spLocks noGrp="1"/>
          </p:cNvSpPr>
          <p:nvPr>
            <p:ph type="title"/>
          </p:nvPr>
        </p:nvSpPr>
        <p:spPr/>
        <p:txBody>
          <a:bodyPr/>
          <a:lstStyle/>
          <a:p>
            <a:endParaRPr lang="en-IN"/>
          </a:p>
        </p:txBody>
      </p:sp>
      <p:sp useBgFill="1">
        <p:nvSpPr>
          <p:cNvPr id="49" name="Rectangle 48">
            <a:extLst>
              <a:ext uri="{FF2B5EF4-FFF2-40B4-BE49-F238E27FC236}">
                <a16:creationId xmlns:a16="http://schemas.microsoft.com/office/drawing/2014/main" id="{34E457C0-A7D6-9E41-7C06-788E5B5805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022DEBD7-8065-AD93-F8F5-FA2DD45B9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51" name="Group 50">
            <a:extLst>
              <a:ext uri="{FF2B5EF4-FFF2-40B4-BE49-F238E27FC236}">
                <a16:creationId xmlns:a16="http://schemas.microsoft.com/office/drawing/2014/main" id="{67ECF940-8A00-CBDB-5C1C-879468A832D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52" name="Freeform: Shape 51">
              <a:extLst>
                <a:ext uri="{FF2B5EF4-FFF2-40B4-BE49-F238E27FC236}">
                  <a16:creationId xmlns:a16="http://schemas.microsoft.com/office/drawing/2014/main" id="{CA231BC0-19BB-3DCE-F121-536404A714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53" name="Freeform: Shape 52">
              <a:extLst>
                <a:ext uri="{FF2B5EF4-FFF2-40B4-BE49-F238E27FC236}">
                  <a16:creationId xmlns:a16="http://schemas.microsoft.com/office/drawing/2014/main" id="{D2A30D33-C8F0-6CAB-8222-55873C7047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54" name="Freeform: Shape 53">
              <a:extLst>
                <a:ext uri="{FF2B5EF4-FFF2-40B4-BE49-F238E27FC236}">
                  <a16:creationId xmlns:a16="http://schemas.microsoft.com/office/drawing/2014/main" id="{EA681449-0DB4-7E80-010F-7174CF9220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55" name="Freeform: Shape 54">
              <a:extLst>
                <a:ext uri="{FF2B5EF4-FFF2-40B4-BE49-F238E27FC236}">
                  <a16:creationId xmlns:a16="http://schemas.microsoft.com/office/drawing/2014/main" id="{588AE19F-E96A-2CAD-2DF4-F8C96ADEBB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grpSp>
      <p:grpSp>
        <p:nvGrpSpPr>
          <p:cNvPr id="56" name="Group 55">
            <a:extLst>
              <a:ext uri="{FF2B5EF4-FFF2-40B4-BE49-F238E27FC236}">
                <a16:creationId xmlns:a16="http://schemas.microsoft.com/office/drawing/2014/main" id="{D970E6E7-6062-74B1-7A99-5BF7DAD5168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57" name="Freeform: Shape 56">
              <a:extLst>
                <a:ext uri="{FF2B5EF4-FFF2-40B4-BE49-F238E27FC236}">
                  <a16:creationId xmlns:a16="http://schemas.microsoft.com/office/drawing/2014/main" id="{4F4BF11D-52F4-C948-A52E-6361B33418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58" name="Freeform: Shape 57">
              <a:extLst>
                <a:ext uri="{FF2B5EF4-FFF2-40B4-BE49-F238E27FC236}">
                  <a16:creationId xmlns:a16="http://schemas.microsoft.com/office/drawing/2014/main" id="{541CBC63-DA4E-9E3C-0000-285AB53DF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59" name="Freeform: Shape 58">
              <a:extLst>
                <a:ext uri="{FF2B5EF4-FFF2-40B4-BE49-F238E27FC236}">
                  <a16:creationId xmlns:a16="http://schemas.microsoft.com/office/drawing/2014/main" id="{545FE13D-18A3-6AD1-19AB-F33520837A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60" name="Freeform: Shape 59">
              <a:extLst>
                <a:ext uri="{FF2B5EF4-FFF2-40B4-BE49-F238E27FC236}">
                  <a16:creationId xmlns:a16="http://schemas.microsoft.com/office/drawing/2014/main" id="{91D52A6D-D6B6-18EB-8BA9-E9A29D333F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grpSp>
      <p:sp>
        <p:nvSpPr>
          <p:cNvPr id="61" name="Title 1">
            <a:extLst>
              <a:ext uri="{FF2B5EF4-FFF2-40B4-BE49-F238E27FC236}">
                <a16:creationId xmlns:a16="http://schemas.microsoft.com/office/drawing/2014/main" id="{FF0D3538-867E-068E-AE9D-890F38E0DEB2}"/>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atin typeface="Times New Roman" panose="02020603050405020304" pitchFamily="18" charset="0"/>
                <a:cs typeface="Times New Roman" panose="02020603050405020304" pitchFamily="18" charset="0"/>
              </a:rPr>
              <a:t>Example program</a:t>
            </a:r>
            <a:endParaRPr lang="en-IN" dirty="0">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C6713896-4BC5-0FD7-29D3-99EC195D8A60}"/>
              </a:ext>
            </a:extLst>
          </p:cNvPr>
          <p:cNvSpPr txBox="1"/>
          <p:nvPr/>
        </p:nvSpPr>
        <p:spPr>
          <a:xfrm>
            <a:off x="838200" y="1690688"/>
            <a:ext cx="8610600" cy="2308324"/>
          </a:xfrm>
          <a:prstGeom prst="rect">
            <a:avLst/>
          </a:prstGeom>
          <a:noFill/>
        </p:spPr>
        <p:txBody>
          <a:bodyPr wrap="square">
            <a:spAutoFit/>
          </a:bodyPr>
          <a:lstStyle/>
          <a:p>
            <a:pPr algn="l"/>
            <a:r>
              <a:rPr lang="it-IT" sz="1800" b="0" i="0" u="none" strike="noStrike" baseline="0" dirty="0">
                <a:latin typeface="Times New Roman" panose="02020603050405020304" pitchFamily="18" charset="0"/>
                <a:cs typeface="Times New Roman" panose="02020603050405020304" pitchFamily="18" charset="0"/>
              </a:rPr>
              <a:t>$ cd ~/riscv/repo/06/celcuius</a:t>
            </a:r>
          </a:p>
          <a:p>
            <a:pPr algn="l"/>
            <a:r>
              <a:rPr lang="en-US" sz="1800" b="0" i="0" u="none" strike="noStrike" baseline="0" dirty="0">
                <a:latin typeface="Times New Roman" panose="02020603050405020304" pitchFamily="18" charset="0"/>
                <a:cs typeface="Times New Roman" panose="02020603050405020304" pitchFamily="18" charset="0"/>
              </a:rPr>
              <a:t>The main program that is going to call upon our</a:t>
            </a:r>
            <a:r>
              <a:rPr lang="en-US" dirty="0">
                <a:latin typeface="Times New Roman" panose="02020603050405020304" pitchFamily="18" charset="0"/>
                <a:cs typeface="Times New Roman" panose="02020603050405020304" pitchFamily="18" charset="0"/>
              </a:rPr>
              <a:t> </a:t>
            </a:r>
            <a:r>
              <a:rPr lang="en-US" sz="1800" b="0" i="0" u="none" strike="noStrike" baseline="0" dirty="0">
                <a:latin typeface="Times New Roman" panose="02020603050405020304" pitchFamily="18" charset="0"/>
                <a:cs typeface="Times New Roman" panose="02020603050405020304" pitchFamily="18" charset="0"/>
              </a:rPr>
              <a:t>Fahrenheit to Celsius assembler conversion using </a:t>
            </a:r>
            <a:r>
              <a:rPr lang="en-IN" sz="1800" b="0" i="0" u="none" strike="noStrike" baseline="0" dirty="0">
                <a:latin typeface="Times New Roman" panose="02020603050405020304" pitchFamily="18" charset="0"/>
                <a:cs typeface="Times New Roman" panose="02020603050405020304" pitchFamily="18" charset="0"/>
              </a:rPr>
              <a:t>integer arithmetic.</a:t>
            </a:r>
          </a:p>
          <a:p>
            <a:pPr algn="l"/>
            <a:r>
              <a:rPr lang="en-IN" sz="1800" b="0" i="0" u="none" strike="noStrike" baseline="0" dirty="0">
                <a:latin typeface="Times New Roman" panose="02020603050405020304" pitchFamily="18" charset="0"/>
                <a:cs typeface="Times New Roman" panose="02020603050405020304" pitchFamily="18" charset="0"/>
              </a:rPr>
              <a:t>RV64I Run</a:t>
            </a:r>
          </a:p>
          <a:p>
            <a:pPr algn="l"/>
            <a:r>
              <a:rPr lang="en-US" sz="1800" b="0" i="0" u="none" strike="noStrike" baseline="0" dirty="0">
                <a:latin typeface="Times New Roman" panose="02020603050405020304" pitchFamily="18" charset="0"/>
                <a:cs typeface="Times New Roman" panose="02020603050405020304" pitchFamily="18" charset="0"/>
              </a:rPr>
              <a:t>Start up your Fedora Linux instance in QEMU:</a:t>
            </a:r>
          </a:p>
          <a:p>
            <a:pPr algn="l"/>
            <a:r>
              <a:rPr lang="en-IN" sz="1800" b="0" i="0" u="none" strike="noStrike" baseline="0" dirty="0">
                <a:latin typeface="Times New Roman" panose="02020603050405020304" pitchFamily="18" charset="0"/>
                <a:cs typeface="Times New Roman" panose="02020603050405020304" pitchFamily="18" charset="0"/>
              </a:rPr>
              <a:t>$ cd ~/</a:t>
            </a:r>
            <a:r>
              <a:rPr lang="en-IN" sz="1800" b="0" i="0" u="none" strike="noStrike" baseline="0" dirty="0" err="1">
                <a:latin typeface="Times New Roman" panose="02020603050405020304" pitchFamily="18" charset="0"/>
                <a:cs typeface="Times New Roman" panose="02020603050405020304" pitchFamily="18" charset="0"/>
              </a:rPr>
              <a:t>riscv</a:t>
            </a:r>
            <a:r>
              <a:rPr lang="en-IN" sz="1800" b="0" i="0" u="none" strike="noStrike" baseline="0" dirty="0">
                <a:latin typeface="Times New Roman" panose="02020603050405020304" pitchFamily="18" charset="0"/>
                <a:cs typeface="Times New Roman" panose="02020603050405020304" pitchFamily="18" charset="0"/>
              </a:rPr>
              <a:t>/repo/06/celsius2/qemu64</a:t>
            </a:r>
          </a:p>
          <a:p>
            <a:pPr algn="l"/>
            <a:r>
              <a:rPr lang="pt-BR" sz="1800" b="0" i="0" u="none" strike="noStrike" baseline="0" dirty="0">
                <a:latin typeface="Times New Roman" panose="02020603050405020304" pitchFamily="18" charset="0"/>
                <a:cs typeface="Times New Roman" panose="02020603050405020304" pitchFamily="18" charset="0"/>
              </a:rPr>
              <a:t>$ gcc -O0 -g celcius2.S main.c</a:t>
            </a:r>
          </a:p>
          <a:p>
            <a:pPr algn="l"/>
            <a:r>
              <a:rPr lang="en-IN" sz="1800" b="0" i="0" u="none" strike="noStrike" baseline="0" dirty="0">
                <a:latin typeface="Times New Roman" panose="02020603050405020304" pitchFamily="18" charset="0"/>
                <a:cs typeface="Times New Roman" panose="02020603050405020304" pitchFamily="18" charset="0"/>
              </a:rPr>
              <a:t>$ ./</a:t>
            </a:r>
            <a:r>
              <a:rPr lang="en-IN" sz="1800" b="0" i="0" u="none" strike="noStrike" baseline="0" dirty="0" err="1">
                <a:latin typeface="Times New Roman" panose="02020603050405020304" pitchFamily="18" charset="0"/>
                <a:cs typeface="Times New Roman" panose="02020603050405020304" pitchFamily="18" charset="0"/>
              </a:rPr>
              <a:t>a.out</a:t>
            </a:r>
            <a:endParaRPr lang="en-IN" dirty="0">
              <a:latin typeface="Times New Roman" panose="02020603050405020304" pitchFamily="18" charset="0"/>
              <a:cs typeface="Times New Roman" panose="02020603050405020304" pitchFamily="18" charset="0"/>
            </a:endParaRPr>
          </a:p>
        </p:txBody>
      </p:sp>
      <p:pic>
        <p:nvPicPr>
          <p:cNvPr id="63" name="Picture 62">
            <a:extLst>
              <a:ext uri="{FF2B5EF4-FFF2-40B4-BE49-F238E27FC236}">
                <a16:creationId xmlns:a16="http://schemas.microsoft.com/office/drawing/2014/main" id="{86DB42D5-4B0B-DACF-D406-F1F554A5AB52}"/>
              </a:ext>
            </a:extLst>
          </p:cNvPr>
          <p:cNvPicPr>
            <a:picLocks noChangeAspect="1"/>
          </p:cNvPicPr>
          <p:nvPr/>
        </p:nvPicPr>
        <p:blipFill>
          <a:blip r:embed="rId2"/>
          <a:stretch>
            <a:fillRect/>
          </a:stretch>
        </p:blipFill>
        <p:spPr>
          <a:xfrm>
            <a:off x="838200" y="4230302"/>
            <a:ext cx="9296400" cy="2188546"/>
          </a:xfrm>
          <a:prstGeom prst="rect">
            <a:avLst/>
          </a:prstGeom>
        </p:spPr>
      </p:pic>
    </p:spTree>
    <p:extLst>
      <p:ext uri="{BB962C8B-B14F-4D97-AF65-F5344CB8AC3E}">
        <p14:creationId xmlns:p14="http://schemas.microsoft.com/office/powerpoint/2010/main" val="1097802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AB1AA807-7813-4830-A207-25D37CA0CA56}"/>
              </a:ext>
            </a:extLst>
          </p:cNvPr>
          <p:cNvSpPr>
            <a:spLocks noGrp="1"/>
          </p:cNvSpPr>
          <p:nvPr>
            <p:ph type="title"/>
          </p:nvPr>
        </p:nvSpPr>
        <p:spPr>
          <a:xfrm>
            <a:off x="676153" y="176521"/>
            <a:ext cx="9833548" cy="798839"/>
          </a:xfrm>
        </p:spPr>
        <p:txBody>
          <a:bodyPr vert="horz" lIns="91440" tIns="45720" rIns="91440" bIns="45720" rtlCol="0" anchor="b">
            <a:normAutofit/>
          </a:bodyPr>
          <a:lstStyle/>
          <a:p>
            <a:pPr algn="ctr"/>
            <a:r>
              <a:rPr lang="en-US" sz="4000" kern="1200" dirty="0">
                <a:solidFill>
                  <a:schemeClr val="tx2"/>
                </a:solidFill>
                <a:latin typeface="Times New Roman" panose="02020603050405020304" pitchFamily="18" charset="0"/>
                <a:cs typeface="Times New Roman" panose="02020603050405020304" pitchFamily="18" charset="0"/>
              </a:rPr>
              <a:t>RISC-V Assembler Modifiers</a:t>
            </a:r>
          </a:p>
        </p:txBody>
      </p:sp>
      <p:grpSp>
        <p:nvGrpSpPr>
          <p:cNvPr id="14" name="Group 13">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5" name="Freeform: Shape 14">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6" name="Freeform: Shape 15">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7" name="Freeform: Shape 16">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8" name="Freeform: Shape 17">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grpSp>
      <p:sp>
        <p:nvSpPr>
          <p:cNvPr id="5" name="TextBox 4">
            <a:extLst>
              <a:ext uri="{FF2B5EF4-FFF2-40B4-BE49-F238E27FC236}">
                <a16:creationId xmlns:a16="http://schemas.microsoft.com/office/drawing/2014/main" id="{9A1F9307-9FFE-83F1-E851-911512FE6CD5}"/>
              </a:ext>
            </a:extLst>
          </p:cNvPr>
          <p:cNvSpPr txBox="1"/>
          <p:nvPr/>
        </p:nvSpPr>
        <p:spPr>
          <a:xfrm>
            <a:off x="1179226" y="1264920"/>
            <a:ext cx="9833548" cy="4982817"/>
          </a:xfrm>
          <a:prstGeom prst="rect">
            <a:avLst/>
          </a:prstGeom>
        </p:spPr>
        <p:txBody>
          <a:bodyPr vert="horz" lIns="91440" tIns="45720" rIns="91440" bIns="45720" rtlCol="0">
            <a:normAutofit fontScale="92500"/>
          </a:bodyPr>
          <a:lstStyle/>
          <a:p>
            <a:pPr>
              <a:lnSpc>
                <a:spcPct val="90000"/>
              </a:lnSpc>
              <a:spcAft>
                <a:spcPts val="600"/>
              </a:spcAft>
            </a:pPr>
            <a:r>
              <a:rPr lang="en-US" sz="2400" b="0" i="0" u="none" strike="noStrike" baseline="0" dirty="0">
                <a:solidFill>
                  <a:schemeClr val="tx2"/>
                </a:solidFill>
                <a:latin typeface="Times New Roman" panose="02020603050405020304" pitchFamily="18" charset="0"/>
                <a:cs typeface="Times New Roman" panose="02020603050405020304" pitchFamily="18" charset="0"/>
              </a:rPr>
              <a:t>In connection with memory accesses, the need frequently occurs for the evaluation of the 20-bit upper portion of a constant or address and the lower 12-bits of the same. We've already seen these two assembler</a:t>
            </a:r>
          </a:p>
          <a:p>
            <a:pPr>
              <a:lnSpc>
                <a:spcPct val="90000"/>
              </a:lnSpc>
              <a:spcAft>
                <a:spcPts val="600"/>
              </a:spcAft>
            </a:pPr>
            <a:r>
              <a:rPr lang="en-US" sz="2400" b="0" i="0" u="none" strike="noStrike" baseline="0" dirty="0">
                <a:solidFill>
                  <a:schemeClr val="tx2"/>
                </a:solidFill>
                <a:latin typeface="Times New Roman" panose="02020603050405020304" pitchFamily="18" charset="0"/>
                <a:cs typeface="Times New Roman" panose="02020603050405020304" pitchFamily="18" charset="0"/>
              </a:rPr>
              <a:t>functions used in this chapter:</a:t>
            </a:r>
          </a:p>
          <a:p>
            <a:pPr>
              <a:lnSpc>
                <a:spcPct val="90000"/>
              </a:lnSpc>
              <a:spcAft>
                <a:spcPts val="600"/>
              </a:spcAft>
            </a:pPr>
            <a:r>
              <a:rPr lang="en-US" sz="2400" b="0" i="0" u="none" strike="noStrike" baseline="0" dirty="0">
                <a:solidFill>
                  <a:schemeClr val="tx2"/>
                </a:solidFill>
                <a:latin typeface="Times New Roman" panose="02020603050405020304" pitchFamily="18" charset="0"/>
                <a:cs typeface="Times New Roman" panose="02020603050405020304" pitchFamily="18" charset="0"/>
              </a:rPr>
              <a:t>• %hi(symbol) – provides high order 20 bits of the symbol</a:t>
            </a:r>
          </a:p>
          <a:p>
            <a:pPr>
              <a:lnSpc>
                <a:spcPct val="90000"/>
              </a:lnSpc>
              <a:spcAft>
                <a:spcPts val="600"/>
              </a:spcAft>
            </a:pPr>
            <a:r>
              <a:rPr lang="en-US" sz="2400" b="0" i="0" u="none" strike="noStrike" baseline="0" dirty="0">
                <a:solidFill>
                  <a:schemeClr val="tx2"/>
                </a:solidFill>
                <a:latin typeface="Times New Roman" panose="02020603050405020304" pitchFamily="18" charset="0"/>
                <a:cs typeface="Times New Roman" panose="02020603050405020304" pitchFamily="18" charset="0"/>
              </a:rPr>
              <a:t>• %lo(symbol) – provides the low order 12 bits of the symbol</a:t>
            </a:r>
          </a:p>
          <a:p>
            <a:pPr>
              <a:lnSpc>
                <a:spcPct val="90000"/>
              </a:lnSpc>
              <a:spcAft>
                <a:spcPts val="600"/>
              </a:spcAft>
            </a:pPr>
            <a:r>
              <a:rPr lang="en-US" sz="2400" b="0" i="0" u="none" strike="noStrike" baseline="0" dirty="0">
                <a:solidFill>
                  <a:schemeClr val="tx2"/>
                </a:solidFill>
                <a:latin typeface="Times New Roman" panose="02020603050405020304" pitchFamily="18" charset="0"/>
                <a:cs typeface="Times New Roman" panose="02020603050405020304" pitchFamily="18" charset="0"/>
              </a:rPr>
              <a:t>There are two more useful functions for the programmer.</a:t>
            </a:r>
          </a:p>
          <a:p>
            <a:pPr>
              <a:lnSpc>
                <a:spcPct val="90000"/>
              </a:lnSpc>
              <a:spcAft>
                <a:spcPts val="600"/>
              </a:spcAft>
            </a:pPr>
            <a:r>
              <a:rPr lang="en-US" sz="2400" b="0" i="0" u="none" strike="noStrike" baseline="0" dirty="0">
                <a:solidFill>
                  <a:schemeClr val="tx2"/>
                </a:solidFill>
                <a:latin typeface="Times New Roman" panose="02020603050405020304" pitchFamily="18" charset="0"/>
                <a:cs typeface="Times New Roman" panose="02020603050405020304" pitchFamily="18" charset="0"/>
              </a:rPr>
              <a:t>They are:</a:t>
            </a:r>
          </a:p>
          <a:p>
            <a:pPr>
              <a:lnSpc>
                <a:spcPct val="90000"/>
              </a:lnSpc>
              <a:spcAft>
                <a:spcPts val="600"/>
              </a:spcAft>
            </a:pPr>
            <a:r>
              <a:rPr lang="en-US" sz="2400" b="0" i="0" u="none" strike="noStrike" baseline="0" dirty="0">
                <a:solidFill>
                  <a:schemeClr val="tx2"/>
                </a:solidFill>
                <a:latin typeface="Times New Roman" panose="02020603050405020304" pitchFamily="18" charset="0"/>
                <a:cs typeface="Times New Roman" panose="02020603050405020304" pitchFamily="18" charset="0"/>
              </a:rPr>
              <a:t>• %</a:t>
            </a:r>
            <a:r>
              <a:rPr lang="en-US" sz="2400" b="0" i="0" u="none" strike="noStrike" baseline="0" dirty="0" err="1">
                <a:solidFill>
                  <a:schemeClr val="tx2"/>
                </a:solidFill>
                <a:latin typeface="Times New Roman" panose="02020603050405020304" pitchFamily="18" charset="0"/>
                <a:cs typeface="Times New Roman" panose="02020603050405020304" pitchFamily="18" charset="0"/>
              </a:rPr>
              <a:t>pcrel_hi</a:t>
            </a:r>
            <a:r>
              <a:rPr lang="en-US" sz="2400" b="0" i="0" u="none" strike="noStrike" baseline="0" dirty="0">
                <a:solidFill>
                  <a:schemeClr val="tx2"/>
                </a:solidFill>
                <a:latin typeface="Times New Roman" panose="02020603050405020304" pitchFamily="18" charset="0"/>
                <a:cs typeface="Times New Roman" panose="02020603050405020304" pitchFamily="18" charset="0"/>
              </a:rPr>
              <a:t>(symbol) – the high 20 bits of relative address between pc and symbol</a:t>
            </a:r>
          </a:p>
          <a:p>
            <a:pPr>
              <a:lnSpc>
                <a:spcPct val="90000"/>
              </a:lnSpc>
              <a:spcAft>
                <a:spcPts val="600"/>
              </a:spcAft>
            </a:pPr>
            <a:r>
              <a:rPr lang="en-US" sz="2400" b="0" i="0" u="none" strike="noStrike" baseline="0" dirty="0">
                <a:solidFill>
                  <a:schemeClr val="tx2"/>
                </a:solidFill>
                <a:latin typeface="Times New Roman" panose="02020603050405020304" pitchFamily="18" charset="0"/>
                <a:cs typeface="Times New Roman" panose="02020603050405020304" pitchFamily="18" charset="0"/>
              </a:rPr>
              <a:t>• %</a:t>
            </a:r>
            <a:r>
              <a:rPr lang="en-US" sz="2400" b="0" i="0" u="none" strike="noStrike" baseline="0" dirty="0" err="1">
                <a:solidFill>
                  <a:schemeClr val="tx2"/>
                </a:solidFill>
                <a:latin typeface="Times New Roman" panose="02020603050405020304" pitchFamily="18" charset="0"/>
                <a:cs typeface="Times New Roman" panose="02020603050405020304" pitchFamily="18" charset="0"/>
              </a:rPr>
              <a:t>pcrel_lo</a:t>
            </a:r>
            <a:r>
              <a:rPr lang="en-US" sz="2400" b="0" i="0" u="none" strike="noStrike" baseline="0" dirty="0">
                <a:solidFill>
                  <a:schemeClr val="tx2"/>
                </a:solidFill>
                <a:latin typeface="Times New Roman" panose="02020603050405020304" pitchFamily="18" charset="0"/>
                <a:cs typeface="Times New Roman" panose="02020603050405020304" pitchFamily="18" charset="0"/>
              </a:rPr>
              <a:t>(symbol) – the low 12 bits of relative address between pc and symbol</a:t>
            </a:r>
          </a:p>
          <a:p>
            <a:pPr>
              <a:lnSpc>
                <a:spcPct val="90000"/>
              </a:lnSpc>
              <a:spcAft>
                <a:spcPts val="600"/>
              </a:spcAft>
            </a:pPr>
            <a:r>
              <a:rPr lang="en-US" sz="2400" b="0" i="0" u="none" strike="noStrike" baseline="0" dirty="0">
                <a:solidFill>
                  <a:schemeClr val="tx2"/>
                </a:solidFill>
                <a:latin typeface="Times New Roman" panose="02020603050405020304" pitchFamily="18" charset="0"/>
                <a:cs typeface="Times New Roman" panose="02020603050405020304" pitchFamily="18" charset="0"/>
              </a:rPr>
              <a:t>These functions are used to provide a relative address constant. When we examine branches, we will see more relative addresses from the current instruction counter (PC).</a:t>
            </a:r>
            <a:endParaRPr lang="en-US" sz="2400" dirty="0">
              <a:solidFill>
                <a:schemeClr val="tx2"/>
              </a:solidFill>
              <a:latin typeface="Times New Roman" panose="02020603050405020304" pitchFamily="18" charset="0"/>
              <a:cs typeface="Times New Roman" panose="02020603050405020304" pitchFamily="18" charset="0"/>
            </a:endParaRPr>
          </a:p>
        </p:txBody>
      </p:sp>
      <p:grpSp>
        <p:nvGrpSpPr>
          <p:cNvPr id="20" name="Group 19">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1" name="Freeform: Shape 20">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22" name="Freeform: Shape 21">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23" name="Freeform: Shape 22">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24" name="Freeform: Shape 23">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978733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6A989607-DAB8-FB0D-1873-87155B6FF4DF}"/>
              </a:ext>
            </a:extLst>
          </p:cNvPr>
          <p:cNvSpPr>
            <a:spLocks noGrp="1"/>
          </p:cNvSpPr>
          <p:nvPr>
            <p:ph type="title"/>
          </p:nvPr>
        </p:nvSpPr>
        <p:spPr>
          <a:xfrm>
            <a:off x="1179226" y="1280679"/>
            <a:ext cx="9833548" cy="1325563"/>
          </a:xfrm>
        </p:spPr>
        <p:txBody>
          <a:bodyPr anchor="b">
            <a:normAutofit/>
          </a:bodyPr>
          <a:lstStyle/>
          <a:p>
            <a:pPr algn="ctr"/>
            <a:r>
              <a:rPr lang="en-IN" dirty="0">
                <a:solidFill>
                  <a:schemeClr val="tx2"/>
                </a:solidFill>
                <a:latin typeface="Times New Roman" panose="02020603050405020304" pitchFamily="18" charset="0"/>
                <a:cs typeface="Times New Roman" panose="02020603050405020304" pitchFamily="18" charset="0"/>
              </a:rPr>
              <a:t>Summary</a:t>
            </a: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D462BB96-5098-5C98-7174-6378BC147F9E}"/>
              </a:ext>
            </a:extLst>
          </p:cNvPr>
          <p:cNvSpPr>
            <a:spLocks noGrp="1"/>
          </p:cNvSpPr>
          <p:nvPr>
            <p:ph idx="1"/>
          </p:nvPr>
        </p:nvSpPr>
        <p:spPr>
          <a:xfrm>
            <a:off x="1179226" y="2890979"/>
            <a:ext cx="9833548" cy="2693976"/>
          </a:xfrm>
        </p:spPr>
        <p:txBody>
          <a:bodyPr>
            <a:normAutofit/>
          </a:bodyPr>
          <a:lstStyle/>
          <a:p>
            <a:pPr marL="0" indent="0">
              <a:buNone/>
            </a:pPr>
            <a:r>
              <a:rPr lang="en-US" sz="2400" dirty="0">
                <a:solidFill>
                  <a:schemeClr val="tx2"/>
                </a:solidFill>
                <a:latin typeface="Times New Roman" panose="02020603050405020304" pitchFamily="18" charset="0"/>
                <a:cs typeface="Times New Roman" panose="02020603050405020304" pitchFamily="18" charset="0"/>
              </a:rPr>
              <a:t>This chapter has introduced you to the critical operations of loading from and storing to memory. It was shown that immediate data can provide for more optimal code.</a:t>
            </a:r>
            <a:endParaRPr lang="en-IN" sz="2400" dirty="0">
              <a:solidFill>
                <a:schemeClr val="tx2"/>
              </a:solidFill>
              <a:latin typeface="Times New Roman" panose="02020603050405020304" pitchFamily="18" charset="0"/>
              <a:cs typeface="Times New Roman" panose="02020603050405020304" pitchFamily="18" charset="0"/>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04183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4004550-DB79-74CC-9873-BA3118FED6AB}"/>
              </a:ext>
            </a:extLst>
          </p:cNvPr>
          <p:cNvSpPr txBox="1"/>
          <p:nvPr/>
        </p:nvSpPr>
        <p:spPr>
          <a:xfrm>
            <a:off x="6590662" y="4267832"/>
            <a:ext cx="4805996" cy="1297115"/>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000" kern="1200">
                <a:solidFill>
                  <a:schemeClr val="tx2"/>
                </a:solidFill>
                <a:latin typeface="+mj-lt"/>
                <a:ea typeface="+mj-ea"/>
                <a:cs typeface="+mj-cs"/>
              </a:rPr>
              <a:t>Thank You !</a:t>
            </a:r>
          </a:p>
        </p:txBody>
      </p:sp>
      <p:pic>
        <p:nvPicPr>
          <p:cNvPr id="6" name="Graphic 5" descr="Smiling Face with No Fill">
            <a:extLst>
              <a:ext uri="{FF2B5EF4-FFF2-40B4-BE49-F238E27FC236}">
                <a16:creationId xmlns:a16="http://schemas.microsoft.com/office/drawing/2014/main" id="{40327246-95FC-32F7-770E-1AA96D5F16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36" name="Group 35">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37" name="Freeform: Shape 36">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Shape 37">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Freeform: Shape 38">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18389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BACB21F-164A-9284-1478-6AEAD67F80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3C1628-A9AF-3F2B-CF16-16296D2C1C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4" name="Group 23">
            <a:extLst>
              <a:ext uri="{FF2B5EF4-FFF2-40B4-BE49-F238E27FC236}">
                <a16:creationId xmlns:a16="http://schemas.microsoft.com/office/drawing/2014/main" id="{08D90606-33F2-7269-F625-6CA17A194B0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25" name="Freeform: Shape 24">
              <a:extLst>
                <a:ext uri="{FF2B5EF4-FFF2-40B4-BE49-F238E27FC236}">
                  <a16:creationId xmlns:a16="http://schemas.microsoft.com/office/drawing/2014/main" id="{A428EC7D-E2EC-83EA-E107-375EF6FB4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26" name="Freeform: Shape 25">
              <a:extLst>
                <a:ext uri="{FF2B5EF4-FFF2-40B4-BE49-F238E27FC236}">
                  <a16:creationId xmlns:a16="http://schemas.microsoft.com/office/drawing/2014/main" id="{B4110C57-5069-0052-B65F-68C4EF59FA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27" name="Freeform: Shape 26">
              <a:extLst>
                <a:ext uri="{FF2B5EF4-FFF2-40B4-BE49-F238E27FC236}">
                  <a16:creationId xmlns:a16="http://schemas.microsoft.com/office/drawing/2014/main" id="{5FEF044B-0144-1BC8-DFE7-CCD308E8D0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28" name="Freeform: Shape 27">
              <a:extLst>
                <a:ext uri="{FF2B5EF4-FFF2-40B4-BE49-F238E27FC236}">
                  <a16:creationId xmlns:a16="http://schemas.microsoft.com/office/drawing/2014/main" id="{A79273E5-BBF7-4FBF-0B8A-D5FE04B1E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grpSp>
      <p:grpSp>
        <p:nvGrpSpPr>
          <p:cNvPr id="29" name="Group 28">
            <a:extLst>
              <a:ext uri="{FF2B5EF4-FFF2-40B4-BE49-F238E27FC236}">
                <a16:creationId xmlns:a16="http://schemas.microsoft.com/office/drawing/2014/main" id="{20F3BA8E-3613-0FE7-0878-C9079C0D820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30" name="Freeform: Shape 29">
              <a:extLst>
                <a:ext uri="{FF2B5EF4-FFF2-40B4-BE49-F238E27FC236}">
                  <a16:creationId xmlns:a16="http://schemas.microsoft.com/office/drawing/2014/main" id="{AD9E38BD-AEE5-7CCC-C1DB-CE772C223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31" name="Freeform: Shape 30">
              <a:extLst>
                <a:ext uri="{FF2B5EF4-FFF2-40B4-BE49-F238E27FC236}">
                  <a16:creationId xmlns:a16="http://schemas.microsoft.com/office/drawing/2014/main" id="{72101A6F-4E11-D632-8C58-4CF84995B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32" name="Freeform: Shape 31">
              <a:extLst>
                <a:ext uri="{FF2B5EF4-FFF2-40B4-BE49-F238E27FC236}">
                  <a16:creationId xmlns:a16="http://schemas.microsoft.com/office/drawing/2014/main" id="{AF11E410-9530-D8A1-580B-919CEFC710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33" name="Freeform: Shape 32">
              <a:extLst>
                <a:ext uri="{FF2B5EF4-FFF2-40B4-BE49-F238E27FC236}">
                  <a16:creationId xmlns:a16="http://schemas.microsoft.com/office/drawing/2014/main" id="{C310F9BC-2508-667A-87DD-506807F96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413345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6B631B82-C2E9-C89C-17A9-4D7F5745C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D78F6A1-3E5B-806F-3E6C-A53A8A5E3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3">
            <a:extLst>
              <a:ext uri="{FF2B5EF4-FFF2-40B4-BE49-F238E27FC236}">
                <a16:creationId xmlns:a16="http://schemas.microsoft.com/office/drawing/2014/main" id="{322AC04D-C0D4-5CE4-2B38-ABCB7F409EF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5" name="Freeform: Shape 4">
              <a:extLst>
                <a:ext uri="{FF2B5EF4-FFF2-40B4-BE49-F238E27FC236}">
                  <a16:creationId xmlns:a16="http://schemas.microsoft.com/office/drawing/2014/main" id="{8C88BBE0-F188-B266-3FC1-B18479BF2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6" name="Freeform: Shape 5">
              <a:extLst>
                <a:ext uri="{FF2B5EF4-FFF2-40B4-BE49-F238E27FC236}">
                  <a16:creationId xmlns:a16="http://schemas.microsoft.com/office/drawing/2014/main" id="{CBF86DFA-DB7B-2E1F-CF48-DDCC140931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7" name="Freeform: Shape 6">
              <a:extLst>
                <a:ext uri="{FF2B5EF4-FFF2-40B4-BE49-F238E27FC236}">
                  <a16:creationId xmlns:a16="http://schemas.microsoft.com/office/drawing/2014/main" id="{796E2821-013E-0A66-1721-79353F2CF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8" name="Freeform: Shape 7">
              <a:extLst>
                <a:ext uri="{FF2B5EF4-FFF2-40B4-BE49-F238E27FC236}">
                  <a16:creationId xmlns:a16="http://schemas.microsoft.com/office/drawing/2014/main" id="{9DBD001D-874A-3AE7-3F8E-BD3B20132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grpSp>
      <p:grpSp>
        <p:nvGrpSpPr>
          <p:cNvPr id="9" name="Group 8">
            <a:extLst>
              <a:ext uri="{FF2B5EF4-FFF2-40B4-BE49-F238E27FC236}">
                <a16:creationId xmlns:a16="http://schemas.microsoft.com/office/drawing/2014/main" id="{FD8A74D6-EEEB-7B3B-2FF2-299D2517F34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0" name="Freeform: Shape 9">
              <a:extLst>
                <a:ext uri="{FF2B5EF4-FFF2-40B4-BE49-F238E27FC236}">
                  <a16:creationId xmlns:a16="http://schemas.microsoft.com/office/drawing/2014/main" id="{B7AD513E-9FD1-B4BB-F40D-7ECA17601C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1" name="Freeform: Shape 10">
              <a:extLst>
                <a:ext uri="{FF2B5EF4-FFF2-40B4-BE49-F238E27FC236}">
                  <a16:creationId xmlns:a16="http://schemas.microsoft.com/office/drawing/2014/main" id="{94E5A8EC-7815-A478-9946-79ED3F80AE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2" name="Freeform: Shape 11">
              <a:extLst>
                <a:ext uri="{FF2B5EF4-FFF2-40B4-BE49-F238E27FC236}">
                  <a16:creationId xmlns:a16="http://schemas.microsoft.com/office/drawing/2014/main" id="{70E34A0E-984B-F167-F6CA-AE9B9BA288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13" name="Freeform: Shape 12">
              <a:extLst>
                <a:ext uri="{FF2B5EF4-FFF2-40B4-BE49-F238E27FC236}">
                  <a16:creationId xmlns:a16="http://schemas.microsoft.com/office/drawing/2014/main" id="{644AB322-02AD-321D-58CC-D20A46E1CA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2425359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1240</Words>
  <Application>Microsoft Office PowerPoint</Application>
  <PresentationFormat>Widescreen</PresentationFormat>
  <Paragraphs>92</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CIDFont+F2</vt:lpstr>
      <vt:lpstr>Times New Roman</vt:lpstr>
      <vt:lpstr>Office Theme</vt:lpstr>
      <vt:lpstr>PowerPoint Presentation</vt:lpstr>
      <vt:lpstr>A Word About Word Sizes</vt:lpstr>
      <vt:lpstr>Load Program Example Change to the directory containing the 06/loads example: $ cd ~/riscv/repo/06/loads Build the program.</vt:lpstr>
      <vt:lpstr>The loadb() function reported as 00000001 loadh() function however reported FFFFF509 rather than 0000F509 loadw() loaded and returned a 32-bit value loadd() function was designed to return a long long integer which is 64-bits in length</vt:lpstr>
      <vt:lpstr>Let's now examine the assembler listing for the program: $ ~/riscv/repo/listesp main/loads.S</vt:lpstr>
      <vt:lpstr>Unsigned Values</vt:lpstr>
      <vt:lpstr>Memory Alignment</vt:lpstr>
      <vt:lpstr>Experiment</vt:lpstr>
      <vt:lpstr>Rebuild, flash, and run the program again</vt:lpstr>
      <vt:lpstr>This time, the loadh() value was reported as 0000F509, without the sign extension. This is the special talent of the "lhu" opcode.</vt:lpstr>
      <vt:lpstr>Immediate Values</vt:lpstr>
      <vt:lpstr>The assembler in this case expands the "li" pseudo-op into two RISC-V opcodes: The first is generated as a "lui" opcode, with the upper portion of the constant (0xFEEDC). The second generated instruction uses an "addi" (add im mediate) instruction to add the signed value -273 to t1 (efectively subtracting 273).  Let's check this in the gdb debugger  Here we use the gdb "p" (print) command, "/x" to print the result in hexadecimal, subtract ing 273 (decimal) from FEEDBEEF (in hexadecimal). The result is displayed as 0xfeedbeef. The printed result confirms the computation is indeed correct. </vt:lpstr>
      <vt:lpstr>PowerPoint Presentation</vt:lpstr>
      <vt:lpstr>Loads under RV64I</vt:lpstr>
      <vt:lpstr>PowerPoint Presentation</vt:lpstr>
      <vt:lpstr>PowerPoint Presentation</vt:lpstr>
      <vt:lpstr>PowerPoint Presentation</vt:lpstr>
      <vt:lpstr>RISC-V Assembler Modifiers</vt:lpstr>
      <vt:lpstr>Summary</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雷迪</dc:creator>
  <cp:lastModifiedBy>雷迪</cp:lastModifiedBy>
  <cp:revision>2</cp:revision>
  <dcterms:created xsi:type="dcterms:W3CDTF">2025-07-31T07:00:51Z</dcterms:created>
  <dcterms:modified xsi:type="dcterms:W3CDTF">2025-07-31T08:49:14Z</dcterms:modified>
</cp:coreProperties>
</file>