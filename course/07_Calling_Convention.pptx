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241" autoAdjust="0"/>
  </p:normalViewPr>
  <p:slideViewPr>
    <p:cSldViewPr snapToGrid="0">
      <p:cViewPr varScale="1">
        <p:scale>
          <a:sx n="85" d="100"/>
          <a:sy n="85"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11E44-B096-4EFF-8FB5-E9F65B3F0775}"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953FEB-DF94-4E7A-B5A9-09010B623DB5}" type="slidenum">
              <a:rPr lang="en-IN" smtClean="0"/>
              <a:t>‹#›</a:t>
            </a:fld>
            <a:endParaRPr lang="en-IN"/>
          </a:p>
        </p:txBody>
      </p:sp>
    </p:spTree>
    <p:extLst>
      <p:ext uri="{BB962C8B-B14F-4D97-AF65-F5344CB8AC3E}">
        <p14:creationId xmlns:p14="http://schemas.microsoft.com/office/powerpoint/2010/main" val="3207375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current address of the "</a:t>
            </a:r>
            <a:r>
              <a:rPr lang="en-US" sz="1200" b="0" i="0" u="none" strike="noStrike" kern="1200" baseline="0" dirty="0" err="1">
                <a:solidFill>
                  <a:schemeClr val="tx1"/>
                </a:solidFill>
                <a:latin typeface="+mn-lt"/>
                <a:ea typeface="+mn-ea"/>
                <a:cs typeface="+mn-cs"/>
              </a:rPr>
              <a:t>auipc</a:t>
            </a:r>
            <a:r>
              <a:rPr lang="en-US" sz="1200" b="0" i="0" u="none" strike="noStrike" kern="1200" baseline="0" dirty="0">
                <a:solidFill>
                  <a:schemeClr val="tx1"/>
                </a:solidFill>
                <a:latin typeface="+mn-lt"/>
                <a:ea typeface="+mn-ea"/>
                <a:cs typeface="+mn-cs"/>
              </a:rPr>
              <a:t>" instruction</a:t>
            </a:r>
          </a:p>
          <a:p>
            <a:r>
              <a:rPr lang="en-US" sz="1200" b="0" i="0" u="none" strike="noStrike" kern="1200" baseline="0" dirty="0">
                <a:solidFill>
                  <a:schemeClr val="tx1"/>
                </a:solidFill>
                <a:latin typeface="+mn-lt"/>
                <a:ea typeface="+mn-ea"/>
                <a:cs typeface="+mn-cs"/>
              </a:rPr>
              <a:t>0x42005e16 is added to the constant 0x7EA000 (which</a:t>
            </a:r>
          </a:p>
          <a:p>
            <a:r>
              <a:rPr lang="en-US" sz="1200" b="0" i="0" u="none" strike="noStrike" kern="1200" baseline="0" dirty="0">
                <a:solidFill>
                  <a:schemeClr val="tx1"/>
                </a:solidFill>
                <a:latin typeface="+mn-lt"/>
                <a:ea typeface="+mn-ea"/>
                <a:cs typeface="+mn-cs"/>
              </a:rPr>
              <a:t>is derived from 0x7EA placed in the upper 20 bits) and</a:t>
            </a:r>
          </a:p>
          <a:p>
            <a:r>
              <a:rPr lang="en-US" sz="1200" b="0" i="0" u="none" strike="noStrike" kern="1200" baseline="0" dirty="0">
                <a:solidFill>
                  <a:schemeClr val="tx1"/>
                </a:solidFill>
                <a:latin typeface="+mn-lt"/>
                <a:ea typeface="+mn-ea"/>
                <a:cs typeface="+mn-cs"/>
              </a:rPr>
              <a:t>the result is </a:t>
            </a:r>
            <a:r>
              <a:rPr lang="en-US" sz="1200" b="0" i="0" u="none" strike="noStrike" kern="1200" baseline="0" dirty="0" err="1">
                <a:solidFill>
                  <a:schemeClr val="tx1"/>
                </a:solidFill>
                <a:latin typeface="+mn-lt"/>
                <a:ea typeface="+mn-ea"/>
                <a:cs typeface="+mn-cs"/>
              </a:rPr>
              <a:t>tem</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porarily</a:t>
            </a:r>
            <a:r>
              <a:rPr lang="en-US" sz="1200" b="0" i="0" u="none" strike="noStrike" kern="1200" baseline="0" dirty="0">
                <a:solidFill>
                  <a:schemeClr val="tx1"/>
                </a:solidFill>
                <a:latin typeface="+mn-lt"/>
                <a:ea typeface="+mn-ea"/>
                <a:cs typeface="+mn-cs"/>
              </a:rPr>
              <a:t> stored into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(x1). Then the</a:t>
            </a:r>
          </a:p>
          <a:p>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jalr</a:t>
            </a:r>
            <a:r>
              <a:rPr lang="en-US" sz="1200" b="0" i="0" u="none" strike="noStrike" kern="1200" baseline="0" dirty="0">
                <a:solidFill>
                  <a:schemeClr val="tx1"/>
                </a:solidFill>
                <a:latin typeface="+mn-lt"/>
                <a:ea typeface="+mn-ea"/>
                <a:cs typeface="+mn-cs"/>
              </a:rPr>
              <a:t>" instruction adds the constant 490 (decimal) to </a:t>
            </a:r>
            <a:r>
              <a:rPr lang="en-US" sz="1200" b="0" i="0" u="none" strike="noStrike" kern="1200" baseline="0" dirty="0" err="1">
                <a:solidFill>
                  <a:schemeClr val="tx1"/>
                </a:solidFill>
                <a:latin typeface="+mn-lt"/>
                <a:ea typeface="+mn-ea"/>
                <a:cs typeface="+mn-cs"/>
              </a:rPr>
              <a:t>ra</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(x1), to arrive at 0x427F0000 for foo(). As part of the</a:t>
            </a:r>
          </a:p>
          <a:p>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jalr</a:t>
            </a:r>
            <a:r>
              <a:rPr lang="en-US" sz="1200" b="0" i="0" u="none" strike="noStrike" kern="1200" baseline="0" dirty="0">
                <a:solidFill>
                  <a:schemeClr val="tx1"/>
                </a:solidFill>
                <a:latin typeface="+mn-lt"/>
                <a:ea typeface="+mn-ea"/>
                <a:cs typeface="+mn-cs"/>
              </a:rPr>
              <a:t>" instruction, the return ad dress of 42005E1A + 4 is</a:t>
            </a:r>
          </a:p>
          <a:p>
            <a:r>
              <a:rPr lang="en-US" sz="1200" b="0" i="0" u="none" strike="noStrike" kern="1200" baseline="0" dirty="0">
                <a:solidFill>
                  <a:schemeClr val="tx1"/>
                </a:solidFill>
                <a:latin typeface="+mn-lt"/>
                <a:ea typeface="+mn-ea"/>
                <a:cs typeface="+mn-cs"/>
              </a:rPr>
              <a:t>now stored into </a:t>
            </a:r>
            <a:r>
              <a:rPr lang="en-US" sz="1200" b="0" i="0" u="none" strike="noStrike" kern="1200" baseline="0" dirty="0" err="1">
                <a:solidFill>
                  <a:schemeClr val="tx1"/>
                </a:solidFill>
                <a:latin typeface="+mn-lt"/>
                <a:ea typeface="+mn-ea"/>
                <a:cs typeface="+mn-cs"/>
              </a:rPr>
              <a:t>ra</a:t>
            </a:r>
            <a:r>
              <a:rPr lang="en-US" sz="1200" b="0" i="0" u="none" strike="noStrike" kern="1200" baseline="0" dirty="0">
                <a:solidFill>
                  <a:schemeClr val="tx1"/>
                </a:solidFill>
                <a:latin typeface="+mn-lt"/>
                <a:ea typeface="+mn-ea"/>
                <a:cs typeface="+mn-cs"/>
              </a:rPr>
              <a:t> (x1), while the PC register is set to</a:t>
            </a:r>
          </a:p>
          <a:p>
            <a:r>
              <a:rPr lang="en-US" sz="1200" b="0" i="0" u="none" strike="noStrike" kern="1200" baseline="0" dirty="0">
                <a:solidFill>
                  <a:schemeClr val="tx1"/>
                </a:solidFill>
                <a:latin typeface="+mn-lt"/>
                <a:ea typeface="+mn-ea"/>
                <a:cs typeface="+mn-cs"/>
              </a:rPr>
              <a:t>foo's entry point address of 0x427F0000.</a:t>
            </a:r>
            <a:endParaRPr lang="en-IN" dirty="0"/>
          </a:p>
        </p:txBody>
      </p:sp>
      <p:sp>
        <p:nvSpPr>
          <p:cNvPr id="4" name="Slide Number Placeholder 3"/>
          <p:cNvSpPr>
            <a:spLocks noGrp="1"/>
          </p:cNvSpPr>
          <p:nvPr>
            <p:ph type="sldNum" sz="quarter" idx="5"/>
          </p:nvPr>
        </p:nvSpPr>
        <p:spPr/>
        <p:txBody>
          <a:bodyPr/>
          <a:lstStyle/>
          <a:p>
            <a:fld id="{06953FEB-DF94-4E7A-B5A9-09010B623DB5}" type="slidenum">
              <a:rPr lang="en-IN" smtClean="0"/>
              <a:t>6</a:t>
            </a:fld>
            <a:endParaRPr lang="en-IN"/>
          </a:p>
        </p:txBody>
      </p:sp>
    </p:spTree>
    <p:extLst>
      <p:ext uri="{BB962C8B-B14F-4D97-AF65-F5344CB8AC3E}">
        <p14:creationId xmlns:p14="http://schemas.microsoft.com/office/powerpoint/2010/main" val="3554914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Because we have the breakpoint set, the execution</a:t>
            </a:r>
          </a:p>
          <a:p>
            <a:r>
              <a:rPr lang="en-US" sz="1200" b="0" i="0" u="none" strike="noStrike" kern="1200" baseline="0" dirty="0">
                <a:solidFill>
                  <a:schemeClr val="tx1"/>
                </a:solidFill>
                <a:latin typeface="+mn-lt"/>
                <a:ea typeface="+mn-ea"/>
                <a:cs typeface="+mn-cs"/>
              </a:rPr>
              <a:t>paused as soon as it entered the as </a:t>
            </a:r>
            <a:r>
              <a:rPr lang="en-US" sz="1200" b="0" i="0" u="none" strike="noStrike" kern="1200" baseline="0" dirty="0" err="1">
                <a:solidFill>
                  <a:schemeClr val="tx1"/>
                </a:solidFill>
                <a:latin typeface="+mn-lt"/>
                <a:ea typeface="+mn-ea"/>
                <a:cs typeface="+mn-cs"/>
              </a:rPr>
              <a:t>sembler</a:t>
            </a:r>
            <a:r>
              <a:rPr lang="en-US" sz="1200" b="0" i="0" u="none" strike="noStrike" kern="1200" baseline="0" dirty="0">
                <a:solidFill>
                  <a:schemeClr val="tx1"/>
                </a:solidFill>
                <a:latin typeface="+mn-lt"/>
                <a:ea typeface="+mn-ea"/>
                <a:cs typeface="+mn-cs"/>
              </a:rPr>
              <a:t> routine</a:t>
            </a:r>
          </a:p>
          <a:p>
            <a:r>
              <a:rPr lang="en-IN" sz="1200" b="0" i="0" u="none" strike="noStrike" kern="1200" baseline="0" dirty="0" err="1">
                <a:solidFill>
                  <a:schemeClr val="tx1"/>
                </a:solidFill>
                <a:latin typeface="+mn-lt"/>
                <a:ea typeface="+mn-ea"/>
                <a:cs typeface="+mn-cs"/>
              </a:rPr>
              <a:t>callme</a:t>
            </a:r>
            <a:r>
              <a:rPr lang="en-IN"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Now we can trace one instruction at a time. Let's "step"</a:t>
            </a:r>
          </a:p>
          <a:p>
            <a:r>
              <a:rPr lang="en-IN" sz="1200" b="0" i="0" u="none" strike="noStrike" kern="1200" baseline="0" dirty="0">
                <a:solidFill>
                  <a:schemeClr val="tx1"/>
                </a:solidFill>
                <a:latin typeface="+mn-lt"/>
                <a:ea typeface="+mn-ea"/>
                <a:cs typeface="+mn-cs"/>
              </a:rPr>
              <a:t>one instruction:</a:t>
            </a:r>
          </a:p>
          <a:p>
            <a:r>
              <a:rPr lang="en-IN" sz="1200" b="0" i="0" u="none" strike="noStrike" kern="1200" baseline="0" dirty="0">
                <a:solidFill>
                  <a:schemeClr val="tx1"/>
                </a:solidFill>
                <a:latin typeface="+mn-lt"/>
                <a:ea typeface="+mn-ea"/>
                <a:cs typeface="+mn-cs"/>
              </a:rPr>
              <a:t>(</a:t>
            </a:r>
            <a:r>
              <a:rPr lang="en-IN" sz="1200" b="0" i="0" u="none" strike="noStrike" kern="1200" baseline="0" dirty="0" err="1">
                <a:solidFill>
                  <a:schemeClr val="tx1"/>
                </a:solidFill>
                <a:latin typeface="+mn-lt"/>
                <a:ea typeface="+mn-ea"/>
                <a:cs typeface="+mn-cs"/>
              </a:rPr>
              <a:t>gdb</a:t>
            </a:r>
            <a:r>
              <a:rPr lang="en-IN" sz="1200" b="0" i="0" u="none" strike="noStrike" kern="1200" baseline="0" dirty="0">
                <a:solidFill>
                  <a:schemeClr val="tx1"/>
                </a:solidFill>
                <a:latin typeface="+mn-lt"/>
                <a:ea typeface="+mn-ea"/>
                <a:cs typeface="+mn-cs"/>
              </a:rPr>
              <a:t>) s</a:t>
            </a:r>
          </a:p>
          <a:p>
            <a:r>
              <a:rPr lang="en-US" sz="1200" b="0" i="0" u="none" strike="noStrike" kern="1200" baseline="0" dirty="0">
                <a:solidFill>
                  <a:schemeClr val="tx1"/>
                </a:solidFill>
                <a:latin typeface="+mn-lt"/>
                <a:ea typeface="+mn-ea"/>
                <a:cs typeface="+mn-cs"/>
              </a:rPr>
              <a:t>We see the execution has performed the assembler</a:t>
            </a:r>
          </a:p>
          <a:p>
            <a:r>
              <a:rPr lang="en-US" sz="1200" b="0" i="0" u="none" strike="noStrike" kern="1200" baseline="0" dirty="0">
                <a:solidFill>
                  <a:schemeClr val="tx1"/>
                </a:solidFill>
                <a:latin typeface="+mn-lt"/>
                <a:ea typeface="+mn-ea"/>
                <a:cs typeface="+mn-cs"/>
              </a:rPr>
              <a:t>statement of line 4. But let's examine the register contents</a:t>
            </a:r>
          </a:p>
          <a:p>
            <a:r>
              <a:rPr lang="en-IN" sz="1200" b="0" i="0" u="none" strike="noStrike" kern="1200" baseline="0" dirty="0">
                <a:solidFill>
                  <a:schemeClr val="tx1"/>
                </a:solidFill>
                <a:latin typeface="+mn-lt"/>
                <a:ea typeface="+mn-ea"/>
                <a:cs typeface="+mn-cs"/>
              </a:rPr>
              <a:t>of a0</a:t>
            </a:r>
            <a:endParaRPr lang="en-IN" dirty="0"/>
          </a:p>
        </p:txBody>
      </p:sp>
      <p:sp>
        <p:nvSpPr>
          <p:cNvPr id="4" name="Slide Number Placeholder 3"/>
          <p:cNvSpPr>
            <a:spLocks noGrp="1"/>
          </p:cNvSpPr>
          <p:nvPr>
            <p:ph type="sldNum" sz="quarter" idx="5"/>
          </p:nvPr>
        </p:nvSpPr>
        <p:spPr/>
        <p:txBody>
          <a:bodyPr/>
          <a:lstStyle/>
          <a:p>
            <a:fld id="{06953FEB-DF94-4E7A-B5A9-09010B623DB5}" type="slidenum">
              <a:rPr lang="en-IN" smtClean="0"/>
              <a:t>10</a:t>
            </a:fld>
            <a:endParaRPr lang="en-IN"/>
          </a:p>
        </p:txBody>
      </p:sp>
    </p:spTree>
    <p:extLst>
      <p:ext uri="{BB962C8B-B14F-4D97-AF65-F5344CB8AC3E}">
        <p14:creationId xmlns:p14="http://schemas.microsoft.com/office/powerpoint/2010/main" val="1860268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ED7E-F7E3-5E6A-94CC-1C1B281E57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1D8574-8D8B-C769-FE76-4C66AF4A43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777820-E061-BF24-4E65-EE9EE309681B}"/>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FB85CE3C-1FE3-75D6-7178-B8D848C3DB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D20527-EA08-8F0C-E6C4-EEA2528F5889}"/>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3748001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6C99-B567-A5F4-31EF-0E245E2999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D88D44-4540-3B05-C300-7C831E3059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7457E6-ECEB-C208-DFCE-3163AF06896E}"/>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409D2D45-6BB9-8DA8-3ECF-EF1E87FA96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0DD5B7-BEB4-34A4-6520-C79B628D2154}"/>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3514124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1C3C-5002-4DA3-4795-95EADA1BA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8AE0EB-962F-CD44-BFCA-4B4821AE55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89BD43-B615-B93F-FF2E-99C9A36CAD5B}"/>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F4956A37-92D2-1D6A-3A61-56299F0E5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DE9495-1FE4-2EB5-B289-204BA50EB9DC}"/>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1896258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F02F-1FF7-139D-C961-3FA9094772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35AAFF-FF71-8BC4-3554-FD929FAAC7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22B585-D104-ACAC-A9B4-62DC3A6678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905322-2748-E486-49BD-9BB34532C1FC}"/>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6" name="Footer Placeholder 5">
            <a:extLst>
              <a:ext uri="{FF2B5EF4-FFF2-40B4-BE49-F238E27FC236}">
                <a16:creationId xmlns:a16="http://schemas.microsoft.com/office/drawing/2014/main" id="{36BA7F29-88E1-7FD4-C578-8270855C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4F5BB4-F4C8-FD92-BAB6-F4B2B2DFC691}"/>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269450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5165C-13C9-9477-608D-B38CC0EBAF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F744DE-C624-85FA-BD89-9A1D38D384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588A5F-6128-E9B4-D6AD-1332CBF3A4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BF0374-F5E5-199E-CA6E-3BEB135E8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483AA2-40FD-500C-FB15-69E7B232B8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7625EA-4D6E-BD1A-A6A5-9B327F776432}"/>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8" name="Footer Placeholder 7">
            <a:extLst>
              <a:ext uri="{FF2B5EF4-FFF2-40B4-BE49-F238E27FC236}">
                <a16:creationId xmlns:a16="http://schemas.microsoft.com/office/drawing/2014/main" id="{85B0BE15-0BE1-011B-71E7-40543F34E9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FB3750-79B0-E863-E39B-3A9C5A7403B8}"/>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1376991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3C992-8950-0AD3-0DE1-81754B1688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D587F7-0B4D-A86F-9DA5-FB53937B8B88}"/>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4" name="Footer Placeholder 3">
            <a:extLst>
              <a:ext uri="{FF2B5EF4-FFF2-40B4-BE49-F238E27FC236}">
                <a16:creationId xmlns:a16="http://schemas.microsoft.com/office/drawing/2014/main" id="{AFE53936-3B1E-CE74-671C-767253746B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2A5862-0847-E9EC-3E6E-9FD78A338A5B}"/>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1627308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7EB2E-8077-21CF-FA89-890E70C0EA1D}"/>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3" name="Footer Placeholder 2">
            <a:extLst>
              <a:ext uri="{FF2B5EF4-FFF2-40B4-BE49-F238E27FC236}">
                <a16:creationId xmlns:a16="http://schemas.microsoft.com/office/drawing/2014/main" id="{FC5BE998-5AD8-1DA9-1962-51DF35DC73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4BD6CC-586A-2937-94FE-A16CB7F3F646}"/>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373189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4DBFE-C8DE-FF20-77B9-BE87D9DE9A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9395AC-39A5-5D8F-3A3D-BF519A11CF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6DA5A6-3B4D-3D00-4124-484903DFD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B1C2AF-D80E-E1C7-0414-3445E349022C}"/>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6" name="Footer Placeholder 5">
            <a:extLst>
              <a:ext uri="{FF2B5EF4-FFF2-40B4-BE49-F238E27FC236}">
                <a16:creationId xmlns:a16="http://schemas.microsoft.com/office/drawing/2014/main" id="{04A4B672-D5E6-8593-838C-E530F2ABDE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7D1424-D896-A88E-C0C4-54C288B971FD}"/>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3457957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53EA-DC70-4ECE-7915-081E2389F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8F11FE-BC55-624A-90A8-32EC2A8156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0D4F57-D91C-159D-1941-E49C350C9C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33ACB0-3DB4-4437-B6D3-2DE266A57E38}"/>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6" name="Footer Placeholder 5">
            <a:extLst>
              <a:ext uri="{FF2B5EF4-FFF2-40B4-BE49-F238E27FC236}">
                <a16:creationId xmlns:a16="http://schemas.microsoft.com/office/drawing/2014/main" id="{A53D37B7-D47B-9C78-8C55-24EC54CB98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3E65B5-AC5E-4D14-AA56-3C84247FE5E0}"/>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339905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0A0C-B557-D44E-08DE-7130070385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428D29-94C4-8AE1-BC95-4F8BBB16E8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F6DA3-01E6-17E6-C5BC-B25EBDA0BFF4}"/>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025DF659-A72C-8BFC-6A67-AE8CBB53D6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F963F6-CF6F-3355-7E6A-2A574BC6775D}"/>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4149916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9EEFCF-6375-CABD-369E-9E9FAEADBD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920263-E400-111C-5EA5-7F241EB2C0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FC796-41D8-5C30-D14C-8DCD507AB822}"/>
              </a:ext>
            </a:extLst>
          </p:cNvPr>
          <p:cNvSpPr>
            <a:spLocks noGrp="1"/>
          </p:cNvSpPr>
          <p:nvPr>
            <p:ph type="dt" sz="half" idx="10"/>
          </p:nvPr>
        </p:nvSpPr>
        <p:spPr/>
        <p:txBody>
          <a:body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6507E371-3006-1FF7-C45D-7E4DCF59CD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F4869-E9FC-EF6D-6EDB-336FB2AD8E23}"/>
              </a:ext>
            </a:extLst>
          </p:cNvPr>
          <p:cNvSpPr>
            <a:spLocks noGrp="1"/>
          </p:cNvSpPr>
          <p:nvPr>
            <p:ph type="sldNum" sz="quarter" idx="12"/>
          </p:nvPr>
        </p:nvSpPr>
        <p:spPr/>
        <p:txBody>
          <a:bodyPr/>
          <a:lstStyle/>
          <a:p>
            <a:fld id="{BC5DA682-6943-4E73-9D57-CCCBB6F026F5}" type="slidenum">
              <a:rPr lang="en-IN" smtClean="0"/>
              <a:t>‹#›</a:t>
            </a:fld>
            <a:endParaRPr lang="en-IN"/>
          </a:p>
        </p:txBody>
      </p:sp>
    </p:spTree>
    <p:extLst>
      <p:ext uri="{BB962C8B-B14F-4D97-AF65-F5344CB8AC3E}">
        <p14:creationId xmlns:p14="http://schemas.microsoft.com/office/powerpoint/2010/main" val="415897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84B9D0-080F-71D8-5159-8E9EFCF9B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E6C808-50F9-5907-7038-E82D9D520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800DB8-AADA-8D2F-4CD6-21F1DA955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107F53-16C7-4DE4-BBF1-F79C1DED4589}" type="datetimeFigureOut">
              <a:rPr lang="en-IN" smtClean="0"/>
              <a:t>01-08-2025</a:t>
            </a:fld>
            <a:endParaRPr lang="en-IN"/>
          </a:p>
        </p:txBody>
      </p:sp>
      <p:sp>
        <p:nvSpPr>
          <p:cNvPr id="5" name="Footer Placeholder 4">
            <a:extLst>
              <a:ext uri="{FF2B5EF4-FFF2-40B4-BE49-F238E27FC236}">
                <a16:creationId xmlns:a16="http://schemas.microsoft.com/office/drawing/2014/main" id="{1F895393-CC89-B997-DBD9-775AFBBD2E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A180FB4-AE87-F80F-2D16-1217CA20C8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5DA682-6943-4E73-9D57-CCCBB6F026F5}" type="slidenum">
              <a:rPr lang="en-IN" smtClean="0"/>
              <a:t>‹#›</a:t>
            </a:fld>
            <a:endParaRPr lang="en-IN"/>
          </a:p>
        </p:txBody>
      </p:sp>
    </p:spTree>
    <p:extLst>
      <p:ext uri="{BB962C8B-B14F-4D97-AF65-F5344CB8AC3E}">
        <p14:creationId xmlns:p14="http://schemas.microsoft.com/office/powerpoint/2010/main" val="1510498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8">
            <a:extLst>
              <a:ext uri="{FF2B5EF4-FFF2-40B4-BE49-F238E27FC236}">
                <a16:creationId xmlns:a16="http://schemas.microsoft.com/office/drawing/2014/main" id="{26F087A6-FA28-6722-7530-D02A5339B01B}"/>
              </a:ext>
            </a:extLst>
          </p:cNvPr>
          <p:cNvSpPr/>
          <p:nvPr/>
        </p:nvSpPr>
        <p:spPr>
          <a:xfrm>
            <a:off x="8229600" y="377184"/>
            <a:ext cx="3282432" cy="65889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12" name="TextBox 10">
            <a:extLst>
              <a:ext uri="{FF2B5EF4-FFF2-40B4-BE49-F238E27FC236}">
                <a16:creationId xmlns:a16="http://schemas.microsoft.com/office/drawing/2014/main" id="{6BF50049-CFDD-EFED-F809-EDBE34CF44F5}"/>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13" name="TextBox 12">
            <a:extLst>
              <a:ext uri="{FF2B5EF4-FFF2-40B4-BE49-F238E27FC236}">
                <a16:creationId xmlns:a16="http://schemas.microsoft.com/office/drawing/2014/main" id="{33E50C26-3B41-DE90-1C6A-F8F71D44F71A}"/>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7</a:t>
            </a:r>
          </a:p>
        </p:txBody>
      </p:sp>
      <p:sp>
        <p:nvSpPr>
          <p:cNvPr id="14" name="TextBox 13">
            <a:extLst>
              <a:ext uri="{FF2B5EF4-FFF2-40B4-BE49-F238E27FC236}">
                <a16:creationId xmlns:a16="http://schemas.microsoft.com/office/drawing/2014/main" id="{70D3E93D-1CB7-7927-34D2-771ABB076642}"/>
              </a:ext>
            </a:extLst>
          </p:cNvPr>
          <p:cNvSpPr txBox="1"/>
          <p:nvPr/>
        </p:nvSpPr>
        <p:spPr>
          <a:xfrm>
            <a:off x="780712" y="2798106"/>
            <a:ext cx="5315287" cy="2554545"/>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Calling Convention</a:t>
            </a:r>
          </a:p>
          <a:p>
            <a:pPr algn="just"/>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 order for compilers, assemblers and linkers to produce a final working executable, an agreement must exist between them on the use of the stack and the registers used. Since we're using the GNU compiler collection in this course, let's discuss the GNU calling convention.</a:t>
            </a: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F56EB95E-0CA6-7216-3D5C-BC993505E2BC}"/>
              </a:ext>
            </a:extLst>
          </p:cNvPr>
          <p:cNvPicPr>
            <a:picLocks noChangeAspect="1"/>
          </p:cNvPicPr>
          <p:nvPr/>
        </p:nvPicPr>
        <p:blipFill>
          <a:blip r:embed="rId3"/>
          <a:stretch>
            <a:fillRect/>
          </a:stretch>
        </p:blipFill>
        <p:spPr>
          <a:xfrm>
            <a:off x="6095999" y="1997482"/>
            <a:ext cx="3939689" cy="4370898"/>
          </a:xfrm>
          <a:prstGeom prst="rect">
            <a:avLst/>
          </a:prstGeom>
        </p:spPr>
      </p:pic>
    </p:spTree>
    <p:extLst>
      <p:ext uri="{BB962C8B-B14F-4D97-AF65-F5344CB8AC3E}">
        <p14:creationId xmlns:p14="http://schemas.microsoft.com/office/powerpoint/2010/main" val="2191754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5197-A727-5ADF-22A9-A862EA09B98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Register Usage</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AA65413-C34D-6954-8AF9-772260CD49F8}"/>
              </a:ext>
            </a:extLst>
          </p:cNvPr>
          <p:cNvPicPr>
            <a:picLocks noGrp="1" noChangeAspect="1"/>
          </p:cNvPicPr>
          <p:nvPr>
            <p:ph idx="1"/>
          </p:nvPr>
        </p:nvPicPr>
        <p:blipFill>
          <a:blip r:embed="rId2"/>
          <a:stretch>
            <a:fillRect/>
          </a:stretch>
        </p:blipFill>
        <p:spPr>
          <a:xfrm>
            <a:off x="5871410" y="1153080"/>
            <a:ext cx="6115675" cy="4272400"/>
          </a:xfrm>
        </p:spPr>
      </p:pic>
      <p:sp>
        <p:nvSpPr>
          <p:cNvPr id="7" name="TextBox 6">
            <a:extLst>
              <a:ext uri="{FF2B5EF4-FFF2-40B4-BE49-F238E27FC236}">
                <a16:creationId xmlns:a16="http://schemas.microsoft.com/office/drawing/2014/main" id="{CE62C40E-66B3-0DD4-783C-00D22F30CE98}"/>
              </a:ext>
            </a:extLst>
          </p:cNvPr>
          <p:cNvSpPr txBox="1"/>
          <p:nvPr/>
        </p:nvSpPr>
        <p:spPr>
          <a:xfrm>
            <a:off x="625642" y="1432520"/>
            <a:ext cx="4908884" cy="3785652"/>
          </a:xfrm>
          <a:prstGeom prst="rect">
            <a:avLst/>
          </a:prstGeom>
          <a:noFill/>
        </p:spPr>
        <p:txBody>
          <a:bodyPr wrap="square">
            <a:spAutoFit/>
          </a:bodyPr>
          <a:lstStyle/>
          <a:p>
            <a:pPr algn="just"/>
            <a:r>
              <a:rPr lang="en-US" sz="2400" b="0" i="0" u="none" strike="noStrike" baseline="0" dirty="0">
                <a:latin typeface="Times New Roman" panose="02020603050405020304" pitchFamily="18" charset="0"/>
                <a:cs typeface="Times New Roman" panose="02020603050405020304" pitchFamily="18" charset="0"/>
              </a:rPr>
              <a:t>One of the first considerations of the convention is the use of available registers and who's responsible for saving and restoring them. Registers are limited in number and sometimes have architectural limitations.</a:t>
            </a:r>
          </a:p>
          <a:p>
            <a:pPr algn="just"/>
            <a:r>
              <a:rPr lang="en-US" sz="2400" b="0" i="0" u="none" strike="noStrike" baseline="0" dirty="0">
                <a:latin typeface="Times New Roman" panose="02020603050405020304" pitchFamily="18" charset="0"/>
                <a:cs typeface="Times New Roman" panose="02020603050405020304" pitchFamily="18" charset="0"/>
              </a:rPr>
              <a:t>RISC-V restricts us to using registers x1 to x31, since x0 has a hardwired zero or discard talent. The remaining registers are fully general purpose.</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9E2B67C-6B3E-F519-5C01-DD22E8833BAF}"/>
              </a:ext>
            </a:extLst>
          </p:cNvPr>
          <p:cNvSpPr txBox="1"/>
          <p:nvPr/>
        </p:nvSpPr>
        <p:spPr>
          <a:xfrm>
            <a:off x="641684" y="5639236"/>
            <a:ext cx="10042358" cy="830997"/>
          </a:xfrm>
          <a:prstGeom prst="rect">
            <a:avLst/>
          </a:prstGeom>
          <a:noFill/>
        </p:spPr>
        <p:txBody>
          <a:bodyPr wrap="square">
            <a:spAutoFit/>
          </a:bodyPr>
          <a:lstStyle/>
          <a:p>
            <a:pPr algn="l"/>
            <a:r>
              <a:rPr lang="en-US" sz="2400" b="0" i="0" u="none" strike="noStrike" baseline="0" dirty="0">
                <a:latin typeface="Times New Roman" panose="02020603050405020304" pitchFamily="18" charset="0"/>
                <a:cs typeface="Times New Roman" panose="02020603050405020304" pitchFamily="18" charset="0"/>
              </a:rPr>
              <a:t>The above table lists the registers that are available, their</a:t>
            </a:r>
            <a:r>
              <a:rPr lang="en-US"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intended function and who saves them when necessary.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5767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5182-A5F9-03AB-4BED-74AFF584A3B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Call Procedure</a:t>
            </a:r>
          </a:p>
        </p:txBody>
      </p:sp>
      <p:sp>
        <p:nvSpPr>
          <p:cNvPr id="3" name="Content Placeholder 2">
            <a:extLst>
              <a:ext uri="{FF2B5EF4-FFF2-40B4-BE49-F238E27FC236}">
                <a16:creationId xmlns:a16="http://schemas.microsoft.com/office/drawing/2014/main" id="{26EEEF44-74CC-08FD-8824-A0367FE3C56B}"/>
              </a:ext>
            </a:extLst>
          </p:cNvPr>
          <p:cNvSpPr>
            <a:spLocks noGrp="1"/>
          </p:cNvSpPr>
          <p:nvPr>
            <p:ph idx="1"/>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In order for a subroutine to return to the caller where it left off, a return address must be provided as part of the call. In RISC-V this is performed by the Jump and Link "</a:t>
            </a:r>
            <a:r>
              <a:rPr lang="en-US" dirty="0" err="1">
                <a:latin typeface="Times New Roman" panose="02020603050405020304" pitchFamily="18" charset="0"/>
                <a:cs typeface="Times New Roman" panose="02020603050405020304" pitchFamily="18" charset="0"/>
              </a:rPr>
              <a:t>jal</a:t>
            </a:r>
            <a:r>
              <a:rPr lang="en-US" dirty="0">
                <a:latin typeface="Times New Roman" panose="02020603050405020304" pitchFamily="18" charset="0"/>
                <a:cs typeface="Times New Roman" panose="02020603050405020304" pitchFamily="18" charset="0"/>
              </a:rPr>
              <a:t>" or the Jump and Link Register "</a:t>
            </a:r>
            <a:r>
              <a:rPr lang="en-US" dirty="0" err="1">
                <a:latin typeface="Times New Roman" panose="02020603050405020304" pitchFamily="18" charset="0"/>
                <a:cs typeface="Times New Roman" panose="02020603050405020304" pitchFamily="18" charset="0"/>
              </a:rPr>
              <a:t>jalr</a:t>
            </a:r>
            <a:r>
              <a:rPr lang="en-US" dirty="0">
                <a:latin typeface="Times New Roman" panose="02020603050405020304" pitchFamily="18" charset="0"/>
                <a:cs typeface="Times New Roman" panose="02020603050405020304" pitchFamily="18" charset="0"/>
              </a:rPr>
              <a:t>" instructions:</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Opcode </a:t>
            </a:r>
            <a:r>
              <a:rPr lang="en-IN" b="1" dirty="0" err="1">
                <a:latin typeface="Times New Roman" panose="02020603050405020304" pitchFamily="18" charset="0"/>
                <a:cs typeface="Times New Roman" panose="02020603050405020304" pitchFamily="18" charset="0"/>
              </a:rPr>
              <a:t>jal</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jal</a:t>
            </a:r>
            <a:r>
              <a:rPr lang="en-US" dirty="0">
                <a:latin typeface="Times New Roman" panose="02020603050405020304" pitchFamily="18" charset="0"/>
                <a:cs typeface="Times New Roman" panose="02020603050405020304" pitchFamily="18" charset="0"/>
              </a:rPr>
              <a:t>" instruction permits the programmer to code a "call" to a subroutine. It performs two things when it </a:t>
            </a:r>
            <a:r>
              <a:rPr lang="en-IN" dirty="0">
                <a:latin typeface="Times New Roman" panose="02020603050405020304" pitchFamily="18" charset="0"/>
                <a:cs typeface="Times New Roman" panose="02020603050405020304" pitchFamily="18" charset="0"/>
              </a:rPr>
              <a:t>executes:</a:t>
            </a:r>
          </a:p>
          <a:p>
            <a:pPr marL="0" indent="0">
              <a:buNone/>
            </a:pPr>
            <a:r>
              <a:rPr lang="en-US" dirty="0">
                <a:latin typeface="Times New Roman" panose="02020603050405020304" pitchFamily="18" charset="0"/>
                <a:cs typeface="Times New Roman" panose="02020603050405020304" pitchFamily="18" charset="0"/>
              </a:rPr>
              <a:t>1. Copies the current PC + n, which is the address </a:t>
            </a:r>
            <a:r>
              <a:rPr lang="en-IN" dirty="0">
                <a:latin typeface="Times New Roman" panose="02020603050405020304" pitchFamily="18" charset="0"/>
                <a:cs typeface="Times New Roman" panose="02020603050405020304" pitchFamily="18" charset="0"/>
              </a:rPr>
              <a:t>following the current instruction, </a:t>
            </a:r>
            <a:r>
              <a:rPr lang="en-US" dirty="0">
                <a:latin typeface="Times New Roman" panose="02020603050405020304" pitchFamily="18" charset="0"/>
                <a:cs typeface="Times New Roman" panose="02020603050405020304" pitchFamily="18" charset="0"/>
              </a:rPr>
              <a:t>to the destination register rd.</a:t>
            </a:r>
          </a:p>
          <a:p>
            <a:pPr marL="0" indent="0">
              <a:buNone/>
            </a:pPr>
            <a:r>
              <a:rPr lang="en-US" dirty="0">
                <a:latin typeface="Times New Roman" panose="02020603050405020304" pitchFamily="18" charset="0"/>
                <a:cs typeface="Times New Roman" panose="02020603050405020304" pitchFamily="18" charset="0"/>
              </a:rPr>
              <a:t>2. Adds the relative o set to the address PC + n to begin </a:t>
            </a:r>
            <a:r>
              <a:rPr lang="en-IN" dirty="0">
                <a:latin typeface="Times New Roman" panose="02020603050405020304" pitchFamily="18" charset="0"/>
                <a:cs typeface="Times New Roman" panose="02020603050405020304" pitchFamily="18" charset="0"/>
              </a:rPr>
              <a:t>execution at the called location.</a:t>
            </a:r>
          </a:p>
        </p:txBody>
      </p:sp>
      <p:pic>
        <p:nvPicPr>
          <p:cNvPr id="5" name="Picture 4">
            <a:extLst>
              <a:ext uri="{FF2B5EF4-FFF2-40B4-BE49-F238E27FC236}">
                <a16:creationId xmlns:a16="http://schemas.microsoft.com/office/drawing/2014/main" id="{9171DBF3-8BDC-E701-5C56-592AD64B955B}"/>
              </a:ext>
            </a:extLst>
          </p:cNvPr>
          <p:cNvPicPr>
            <a:picLocks noChangeAspect="1"/>
          </p:cNvPicPr>
          <p:nvPr/>
        </p:nvPicPr>
        <p:blipFill>
          <a:blip r:embed="rId2"/>
          <a:stretch>
            <a:fillRect/>
          </a:stretch>
        </p:blipFill>
        <p:spPr>
          <a:xfrm>
            <a:off x="3196350" y="2881799"/>
            <a:ext cx="5561092" cy="547201"/>
          </a:xfrm>
          <a:prstGeom prst="rect">
            <a:avLst/>
          </a:prstGeom>
        </p:spPr>
      </p:pic>
    </p:spTree>
    <p:extLst>
      <p:ext uri="{BB962C8B-B14F-4D97-AF65-F5344CB8AC3E}">
        <p14:creationId xmlns:p14="http://schemas.microsoft.com/office/powerpoint/2010/main" val="341435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63DD00-2EF0-72CA-FA74-28A11F9AB68A}"/>
              </a:ext>
            </a:extLst>
          </p:cNvPr>
          <p:cNvSpPr txBox="1"/>
          <p:nvPr/>
        </p:nvSpPr>
        <p:spPr>
          <a:xfrm>
            <a:off x="481263" y="258901"/>
            <a:ext cx="11149263" cy="6370975"/>
          </a:xfrm>
          <a:prstGeom prst="rect">
            <a:avLst/>
          </a:prstGeom>
          <a:noFill/>
        </p:spPr>
        <p:txBody>
          <a:bodyPr wrap="square">
            <a:spAutoFit/>
          </a:bodyPr>
          <a:lstStyle/>
          <a:p>
            <a:pPr algn="l"/>
            <a:r>
              <a:rPr lang="en-IN" sz="2400" b="1" i="0" u="none" strike="noStrike" baseline="0" dirty="0">
                <a:latin typeface="Times New Roman" panose="02020603050405020304" pitchFamily="18" charset="0"/>
                <a:cs typeface="Times New Roman" panose="02020603050405020304" pitchFamily="18" charset="0"/>
              </a:rPr>
              <a:t>Pseudo Opcode </a:t>
            </a:r>
            <a:r>
              <a:rPr lang="en-IN" sz="2400" b="1" i="0" u="none" strike="noStrike" baseline="0" dirty="0" err="1">
                <a:latin typeface="Times New Roman" panose="02020603050405020304" pitchFamily="18" charset="0"/>
                <a:cs typeface="Times New Roman" panose="02020603050405020304" pitchFamily="18" charset="0"/>
              </a:rPr>
              <a:t>jr</a:t>
            </a:r>
            <a:endParaRPr lang="en-IN" sz="2400" b="1"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 order to return from the call, the "</a:t>
            </a:r>
            <a:r>
              <a:rPr lang="en-US" sz="2400" b="0" i="0" u="none" strike="noStrike" baseline="0" dirty="0" err="1">
                <a:latin typeface="Times New Roman" panose="02020603050405020304" pitchFamily="18" charset="0"/>
                <a:cs typeface="Times New Roman" panose="02020603050405020304" pitchFamily="18" charset="0"/>
              </a:rPr>
              <a:t>jr</a:t>
            </a:r>
            <a:r>
              <a:rPr lang="en-US" sz="2400" b="0" i="0" u="none" strike="noStrike" baseline="0" dirty="0">
                <a:latin typeface="Times New Roman" panose="02020603050405020304" pitchFamily="18" charset="0"/>
                <a:cs typeface="Times New Roman" panose="02020603050405020304" pitchFamily="18" charset="0"/>
              </a:rPr>
              <a:t>" pseudo-opcode can be used to return to the address found in the specified </a:t>
            </a:r>
            <a:r>
              <a:rPr lang="en-IN" sz="2400" b="0" i="0" u="none" strike="noStrike" baseline="0" dirty="0">
                <a:latin typeface="Times New Roman" panose="02020603050405020304" pitchFamily="18" charset="0"/>
                <a:cs typeface="Times New Roman" panose="02020603050405020304" pitchFamily="18" charset="0"/>
              </a:rPr>
              <a:t>register.</a:t>
            </a:r>
          </a:p>
          <a:p>
            <a:pPr algn="l"/>
            <a:r>
              <a:rPr lang="en-IN" sz="2400" b="0" i="0" u="none" strike="noStrike" baseline="0" dirty="0">
                <a:latin typeface="Times New Roman" panose="02020603050405020304" pitchFamily="18" charset="0"/>
                <a:cs typeface="Times New Roman" panose="02020603050405020304" pitchFamily="18" charset="0"/>
              </a:rPr>
              <a:t>           </a:t>
            </a:r>
            <a:r>
              <a:rPr lang="en-IN" sz="2400" b="0" i="0" u="none" strike="noStrike" baseline="0" dirty="0" err="1">
                <a:latin typeface="Times New Roman" panose="02020603050405020304" pitchFamily="18" charset="0"/>
                <a:cs typeface="Times New Roman" panose="02020603050405020304" pitchFamily="18" charset="0"/>
              </a:rPr>
              <a:t>jr</a:t>
            </a:r>
            <a:r>
              <a:rPr lang="en-IN" sz="2400" b="0" i="0" u="none" strike="noStrike" baseline="0" dirty="0">
                <a:latin typeface="Times New Roman" panose="02020603050405020304" pitchFamily="18" charset="0"/>
                <a:cs typeface="Times New Roman" panose="02020603050405020304" pitchFamily="18" charset="0"/>
              </a:rPr>
              <a:t> </a:t>
            </a:r>
            <a:r>
              <a:rPr lang="en-IN" sz="2400" b="0" i="0" u="none" strike="noStrike" baseline="0" dirty="0" err="1">
                <a:latin typeface="Times New Roman" panose="02020603050405020304" pitchFamily="18" charset="0"/>
                <a:cs typeface="Times New Roman" panose="02020603050405020304" pitchFamily="18" charset="0"/>
              </a:rPr>
              <a:t>rs</a:t>
            </a:r>
            <a:endParaRPr lang="en-IN"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operation of this instruction sets the PC to the value </a:t>
            </a:r>
            <a:r>
              <a:rPr lang="en-IN" sz="2400" b="0" i="0" u="none" strike="noStrike" baseline="0" dirty="0">
                <a:latin typeface="Times New Roman" panose="02020603050405020304" pitchFamily="18" charset="0"/>
                <a:cs typeface="Times New Roman" panose="02020603050405020304" pitchFamily="18" charset="0"/>
              </a:rPr>
              <a:t>in register </a:t>
            </a:r>
            <a:r>
              <a:rPr lang="en-IN" sz="2400" b="0" i="0" u="none" strike="noStrike" baseline="0" dirty="0" err="1">
                <a:latin typeface="Times New Roman" panose="02020603050405020304" pitchFamily="18" charset="0"/>
                <a:cs typeface="Times New Roman" panose="02020603050405020304" pitchFamily="18" charset="0"/>
              </a:rPr>
              <a:t>rs</a:t>
            </a:r>
            <a:r>
              <a:rPr lang="en-IN" sz="2400" b="0" i="0" u="none" strike="noStrike" baseline="0" dirty="0">
                <a:latin typeface="Times New Roman" panose="02020603050405020304" pitchFamily="18" charset="0"/>
                <a:cs typeface="Times New Roman" panose="02020603050405020304" pitchFamily="18" charset="0"/>
              </a:rPr>
              <a:t>.</a:t>
            </a:r>
          </a:p>
          <a:p>
            <a:pPr algn="l"/>
            <a:r>
              <a:rPr lang="en-IN" sz="2400" b="0" i="0" u="none" strike="noStrike" baseline="0" dirty="0">
                <a:latin typeface="Times New Roman" panose="02020603050405020304" pitchFamily="18" charset="0"/>
                <a:cs typeface="Times New Roman" panose="02020603050405020304" pitchFamily="18" charset="0"/>
              </a:rPr>
              <a:t>           </a:t>
            </a:r>
            <a:r>
              <a:rPr lang="en-IN" sz="2400" b="0" i="0" u="none" strike="noStrike" baseline="0" dirty="0" err="1">
                <a:latin typeface="Times New Roman" panose="02020603050405020304" pitchFamily="18" charset="0"/>
                <a:cs typeface="Times New Roman" panose="02020603050405020304" pitchFamily="18" charset="0"/>
              </a:rPr>
              <a:t>jalr</a:t>
            </a:r>
            <a:r>
              <a:rPr lang="en-IN" sz="2400" b="0" i="0" u="none" strike="noStrike" baseline="0" dirty="0">
                <a:latin typeface="Times New Roman" panose="02020603050405020304" pitchFamily="18" charset="0"/>
                <a:cs typeface="Times New Roman" panose="02020603050405020304" pitchFamily="18" charset="0"/>
              </a:rPr>
              <a:t> x0,rs,0</a:t>
            </a:r>
          </a:p>
          <a:p>
            <a:pPr algn="l"/>
            <a:r>
              <a:rPr lang="en-IN" sz="2400" b="1" i="0" u="none" strike="noStrike" baseline="0" dirty="0">
                <a:latin typeface="Times New Roman" panose="02020603050405020304" pitchFamily="18" charset="0"/>
                <a:cs typeface="Times New Roman" panose="02020603050405020304" pitchFamily="18" charset="0"/>
              </a:rPr>
              <a:t>Pseudo Opcode ret</a:t>
            </a:r>
          </a:p>
          <a:p>
            <a:pPr algn="l"/>
            <a:r>
              <a:rPr lang="en-US" sz="2400" b="0" i="0" u="none" strike="noStrike" baseline="0" dirty="0">
                <a:latin typeface="Times New Roman" panose="02020603050405020304" pitchFamily="18" charset="0"/>
                <a:cs typeface="Times New Roman" panose="02020603050405020304" pitchFamily="18" charset="0"/>
              </a:rPr>
              <a:t>The "ret" is a pseudo-opcode that is expanded by the </a:t>
            </a:r>
            <a:r>
              <a:rPr lang="en-IN" sz="2400" b="0" i="0" u="none" strike="noStrike" baseline="0" dirty="0">
                <a:latin typeface="Times New Roman" panose="02020603050405020304" pitchFamily="18" charset="0"/>
                <a:cs typeface="Times New Roman" panose="02020603050405020304" pitchFamily="18" charset="0"/>
              </a:rPr>
              <a:t>assembler into:</a:t>
            </a:r>
          </a:p>
          <a:p>
            <a:pPr algn="l"/>
            <a:r>
              <a:rPr lang="en-IN" sz="2400" b="0" i="0" u="none" strike="noStrike" baseline="0" dirty="0">
                <a:latin typeface="Times New Roman" panose="02020603050405020304" pitchFamily="18" charset="0"/>
                <a:cs typeface="Times New Roman" panose="02020603050405020304" pitchFamily="18" charset="0"/>
              </a:rPr>
              <a:t>           </a:t>
            </a:r>
            <a:r>
              <a:rPr lang="en-IN" sz="2400" b="0" i="0" u="none" strike="noStrike" baseline="0" dirty="0" err="1">
                <a:latin typeface="Times New Roman" panose="02020603050405020304" pitchFamily="18" charset="0"/>
                <a:cs typeface="Times New Roman" panose="02020603050405020304" pitchFamily="18" charset="0"/>
              </a:rPr>
              <a:t>jalr</a:t>
            </a:r>
            <a:r>
              <a:rPr lang="en-IN" sz="2400" b="0" i="0" u="none" strike="noStrike" baseline="0" dirty="0">
                <a:latin typeface="Times New Roman" panose="02020603050405020304" pitchFamily="18" charset="0"/>
                <a:cs typeface="Times New Roman" panose="02020603050405020304" pitchFamily="18" charset="0"/>
              </a:rPr>
              <a:t> x0,ra,0</a:t>
            </a:r>
          </a:p>
          <a:p>
            <a:r>
              <a:rPr lang="en-US" sz="2400" b="1" dirty="0">
                <a:latin typeface="Times New Roman" panose="02020603050405020304" pitchFamily="18" charset="0"/>
                <a:cs typeface="Times New Roman" panose="02020603050405020304" pitchFamily="18" charset="0"/>
              </a:rPr>
              <a:t>Call to 32-bit Absolute Address</a:t>
            </a:r>
          </a:p>
          <a:p>
            <a:r>
              <a:rPr lang="en-US" sz="2400" dirty="0">
                <a:latin typeface="Times New Roman" panose="02020603050405020304" pitchFamily="18" charset="0"/>
                <a:cs typeface="Times New Roman" panose="02020603050405020304" pitchFamily="18" charset="0"/>
              </a:rPr>
              <a:t>The "call" pseudo-op comes to the rescue for calling, for example, a function named foo:</a:t>
            </a:r>
          </a:p>
          <a:p>
            <a:r>
              <a:rPr lang="en-US" sz="2400" dirty="0">
                <a:latin typeface="Times New Roman" panose="02020603050405020304" pitchFamily="18" charset="0"/>
                <a:cs typeface="Times New Roman" panose="02020603050405020304" pitchFamily="18" charset="0"/>
              </a:rPr>
              <a:t>           call </a:t>
            </a:r>
            <a:r>
              <a:rPr lang="en-US" sz="2400" dirty="0" err="1">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foo       # specified </a:t>
            </a:r>
            <a:r>
              <a:rPr lang="en-US" sz="2400" dirty="0" err="1">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register, or...</a:t>
            </a:r>
          </a:p>
          <a:p>
            <a:r>
              <a:rPr lang="en-US" sz="2400" dirty="0">
                <a:latin typeface="Times New Roman" panose="02020603050405020304" pitchFamily="18" charset="0"/>
                <a:cs typeface="Times New Roman" panose="02020603050405020304" pitchFamily="18" charset="0"/>
              </a:rPr>
              <a:t>           call foo        #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(x1) is assumed</a:t>
            </a:r>
          </a:p>
          <a:p>
            <a:r>
              <a:rPr lang="en-US" sz="2400" dirty="0">
                <a:latin typeface="Times New Roman" panose="02020603050405020304" pitchFamily="18" charset="0"/>
                <a:cs typeface="Times New Roman" panose="02020603050405020304" pitchFamily="18" charset="0"/>
              </a:rPr>
              <a:t>This pseudo-op is expanded into a pair of instructions "</a:t>
            </a:r>
            <a:r>
              <a:rPr lang="en-US" sz="2400" dirty="0" err="1">
                <a:latin typeface="Times New Roman" panose="02020603050405020304" pitchFamily="18" charset="0"/>
                <a:cs typeface="Times New Roman" panose="02020603050405020304" pitchFamily="18" charset="0"/>
              </a:rPr>
              <a:t>auipc</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jalr</a:t>
            </a:r>
            <a:r>
              <a:rPr lang="en-US" sz="2400" dirty="0">
                <a:latin typeface="Times New Roman" panose="02020603050405020304" pitchFamily="18" charset="0"/>
                <a:cs typeface="Times New Roman" panose="02020603050405020304" pitchFamily="18" charset="0"/>
              </a:rPr>
              <a:t>" to accomplish the far call. The expansion of the normal case of "call foo", would be:</a:t>
            </a:r>
          </a:p>
          <a:p>
            <a:r>
              <a:rPr lang="en-IN" sz="2400" dirty="0">
                <a:latin typeface="Times New Roman" panose="02020603050405020304" pitchFamily="18" charset="0"/>
                <a:cs typeface="Times New Roman" panose="02020603050405020304" pitchFamily="18" charset="0"/>
              </a:rPr>
              <a:t>1:            </a:t>
            </a:r>
            <a:r>
              <a:rPr lang="en-IN" sz="2400" dirty="0" err="1">
                <a:latin typeface="Times New Roman" panose="02020603050405020304" pitchFamily="18" charset="0"/>
                <a:cs typeface="Times New Roman" panose="02020603050405020304" pitchFamily="18" charset="0"/>
              </a:rPr>
              <a:t>auipc</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ra</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pcrel_hi</a:t>
            </a:r>
            <a:r>
              <a:rPr lang="en-IN" sz="2400" dirty="0">
                <a:latin typeface="Times New Roman" panose="02020603050405020304" pitchFamily="18" charset="0"/>
                <a:cs typeface="Times New Roman" panose="02020603050405020304" pitchFamily="18" charset="0"/>
              </a:rPr>
              <a:t>(foo)</a:t>
            </a:r>
          </a:p>
          <a:p>
            <a:r>
              <a:rPr lang="es-ES" sz="2400" dirty="0">
                <a:latin typeface="Times New Roman" panose="02020603050405020304" pitchFamily="18" charset="0"/>
                <a:cs typeface="Times New Roman" panose="02020603050405020304" pitchFamily="18" charset="0"/>
              </a:rPr>
              <a:t>               </a:t>
            </a:r>
            <a:r>
              <a:rPr lang="es-ES" sz="2400" dirty="0" err="1">
                <a:latin typeface="Times New Roman" panose="02020603050405020304" pitchFamily="18" charset="0"/>
                <a:cs typeface="Times New Roman" panose="02020603050405020304" pitchFamily="18" charset="0"/>
              </a:rPr>
              <a:t>jalr</a:t>
            </a:r>
            <a:r>
              <a:rPr lang="es-ES" sz="2400" dirty="0">
                <a:latin typeface="Times New Roman" panose="02020603050405020304" pitchFamily="18" charset="0"/>
                <a:cs typeface="Times New Roman" panose="02020603050405020304" pitchFamily="18" charset="0"/>
              </a:rPr>
              <a:t> ra,</a:t>
            </a:r>
            <a:r>
              <a:rPr lang="es-ES" sz="2400" dirty="0" err="1">
                <a:latin typeface="Times New Roman" panose="02020603050405020304" pitchFamily="18" charset="0"/>
                <a:cs typeface="Times New Roman" panose="02020603050405020304" pitchFamily="18" charset="0"/>
              </a:rPr>
              <a:t>ra</a:t>
            </a:r>
            <a:r>
              <a:rPr lang="es-ES" sz="2400" dirty="0">
                <a:latin typeface="Times New Roman" panose="02020603050405020304" pitchFamily="18" charset="0"/>
                <a:cs typeface="Times New Roman" panose="02020603050405020304" pitchFamily="18" charset="0"/>
              </a:rPr>
              <a:t>,%</a:t>
            </a:r>
            <a:r>
              <a:rPr lang="es-ES" sz="2400" dirty="0" err="1">
                <a:latin typeface="Times New Roman" panose="02020603050405020304" pitchFamily="18" charset="0"/>
                <a:cs typeface="Times New Roman" panose="02020603050405020304" pitchFamily="18" charset="0"/>
              </a:rPr>
              <a:t>pcrel_lo</a:t>
            </a:r>
            <a:r>
              <a:rPr lang="es-ES" sz="2400" dirty="0">
                <a:latin typeface="Times New Roman" panose="02020603050405020304" pitchFamily="18" charset="0"/>
                <a:cs typeface="Times New Roman" panose="02020603050405020304" pitchFamily="18" charset="0"/>
              </a:rPr>
              <a:t>(1b)</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215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CE7F-4717-C641-B9D5-2A05D1D545E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General Call Procedure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99E134-BADB-9765-114F-FB974EEFBC5C}"/>
              </a:ext>
            </a:extLst>
          </p:cNvPr>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1. The caller performs a "</a:t>
            </a:r>
            <a:r>
              <a:rPr lang="en-US" dirty="0" err="1">
                <a:latin typeface="Times New Roman" panose="02020603050405020304" pitchFamily="18" charset="0"/>
                <a:cs typeface="Times New Roman" panose="02020603050405020304" pitchFamily="18" charset="0"/>
              </a:rPr>
              <a:t>jal</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jalr</a:t>
            </a:r>
            <a:r>
              <a:rPr lang="en-US" dirty="0">
                <a:latin typeface="Times New Roman" panose="02020603050405020304" pitchFamily="18" charset="0"/>
                <a:cs typeface="Times New Roman" panose="02020603050405020304" pitchFamily="18" charset="0"/>
              </a:rPr>
              <a:t>", causing the return address to be placed in </a:t>
            </a:r>
            <a:r>
              <a:rPr lang="en-US" dirty="0" err="1">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which is normally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(x1).</a:t>
            </a:r>
          </a:p>
          <a:p>
            <a:pPr marL="0" indent="0">
              <a:buNone/>
            </a:pPr>
            <a:r>
              <a:rPr lang="en-US" dirty="0">
                <a:latin typeface="Times New Roman" panose="02020603050405020304" pitchFamily="18" charset="0"/>
                <a:cs typeface="Times New Roman" panose="02020603050405020304" pitchFamily="18" charset="0"/>
              </a:rPr>
              <a:t>2. The PC jumps to the offset +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to start executing the called code.</a:t>
            </a:r>
          </a:p>
          <a:p>
            <a:pPr marL="0" indent="0">
              <a:buNone/>
            </a:pPr>
            <a:r>
              <a:rPr lang="en-US" dirty="0">
                <a:latin typeface="Times New Roman" panose="02020603050405020304" pitchFamily="18" charset="0"/>
                <a:cs typeface="Times New Roman" panose="02020603050405020304" pitchFamily="18" charset="0"/>
              </a:rPr>
              <a:t>3. The called code, returns by "ret", or "</a:t>
            </a:r>
            <a:r>
              <a:rPr lang="en-US" dirty="0" err="1">
                <a:latin typeface="Times New Roman" panose="02020603050405020304" pitchFamily="18" charset="0"/>
                <a:cs typeface="Times New Roman" panose="02020603050405020304" pitchFamily="18" charset="0"/>
              </a:rPr>
              <a:t>jr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jalr</a:t>
            </a:r>
            <a:r>
              <a:rPr lang="en-US" dirty="0">
                <a:latin typeface="Times New Roman" panose="02020603050405020304" pitchFamily="18" charset="0"/>
                <a:cs typeface="Times New Roman" panose="02020603050405020304" pitchFamily="18" charset="0"/>
              </a:rPr>
              <a:t> x0,ra,0".</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Revised Call Procedure</a:t>
            </a:r>
          </a:p>
          <a:p>
            <a:pPr marL="0" indent="0">
              <a:buNone/>
            </a:pPr>
            <a:r>
              <a:rPr lang="en-US" dirty="0">
                <a:latin typeface="Times New Roman" panose="02020603050405020304" pitchFamily="18" charset="0"/>
                <a:cs typeface="Times New Roman" panose="02020603050405020304" pitchFamily="18" charset="0"/>
              </a:rPr>
              <a:t>1. The caller performs a "call", causing the return address to be placed in </a:t>
            </a:r>
            <a:r>
              <a:rPr lang="en-US" dirty="0" err="1">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which </a:t>
            </a:r>
            <a:r>
              <a:rPr lang="en-IN" dirty="0">
                <a:latin typeface="Times New Roman" panose="02020603050405020304" pitchFamily="18" charset="0"/>
                <a:cs typeface="Times New Roman" panose="02020603050405020304" pitchFamily="18" charset="0"/>
              </a:rPr>
              <a:t>is normally </a:t>
            </a:r>
            <a:r>
              <a:rPr lang="en-IN" dirty="0" err="1">
                <a:latin typeface="Times New Roman" panose="02020603050405020304" pitchFamily="18" charset="0"/>
                <a:cs typeface="Times New Roman" panose="02020603050405020304" pitchFamily="18" charset="0"/>
              </a:rPr>
              <a:t>ra</a:t>
            </a:r>
            <a:r>
              <a:rPr lang="en-IN" dirty="0">
                <a:latin typeface="Times New Roman" panose="02020603050405020304" pitchFamily="18" charset="0"/>
                <a:cs typeface="Times New Roman" panose="02020603050405020304" pitchFamily="18" charset="0"/>
              </a:rPr>
              <a:t> (x1).</a:t>
            </a:r>
          </a:p>
          <a:p>
            <a:pPr marL="0" indent="0">
              <a:buNone/>
            </a:pPr>
            <a:r>
              <a:rPr lang="en-US" dirty="0">
                <a:latin typeface="Times New Roman" panose="02020603050405020304" pitchFamily="18" charset="0"/>
                <a:cs typeface="Times New Roman" panose="02020603050405020304" pitchFamily="18" charset="0"/>
              </a:rPr>
              <a:t>2. The PC jumps to the subroutine address to start executing the called code.</a:t>
            </a:r>
          </a:p>
          <a:p>
            <a:pPr marL="0" indent="0">
              <a:buNone/>
            </a:pPr>
            <a:r>
              <a:rPr lang="en-US" dirty="0">
                <a:latin typeface="Times New Roman" panose="02020603050405020304" pitchFamily="18" charset="0"/>
                <a:cs typeface="Times New Roman" panose="02020603050405020304" pitchFamily="18" charset="0"/>
              </a:rPr>
              <a:t>3. The called code, eventually returns by "ret" (or "</a:t>
            </a:r>
            <a:r>
              <a:rPr lang="en-US" dirty="0" err="1">
                <a:latin typeface="Times New Roman" panose="02020603050405020304" pitchFamily="18" charset="0"/>
                <a:cs typeface="Times New Roman" panose="02020603050405020304" pitchFamily="18" charset="0"/>
              </a:rPr>
              <a:t>jr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when a different register </a:t>
            </a:r>
            <a:r>
              <a:rPr lang="en-IN" dirty="0">
                <a:latin typeface="Times New Roman" panose="02020603050405020304" pitchFamily="18" charset="0"/>
                <a:cs typeface="Times New Roman" panose="02020603050405020304" pitchFamily="18" charset="0"/>
              </a:rPr>
              <a:t>is used).</a:t>
            </a:r>
          </a:p>
        </p:txBody>
      </p:sp>
    </p:spTree>
    <p:extLst>
      <p:ext uri="{BB962C8B-B14F-4D97-AF65-F5344CB8AC3E}">
        <p14:creationId xmlns:p14="http://schemas.microsoft.com/office/powerpoint/2010/main" val="2963246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23B9D-3D79-83F3-223A-3709BC7A481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Concrete Call Example</a:t>
            </a:r>
          </a:p>
        </p:txBody>
      </p:sp>
      <p:sp>
        <p:nvSpPr>
          <p:cNvPr id="3" name="Content Placeholder 2">
            <a:extLst>
              <a:ext uri="{FF2B5EF4-FFF2-40B4-BE49-F238E27FC236}">
                <a16:creationId xmlns:a16="http://schemas.microsoft.com/office/drawing/2014/main" id="{E879D7A6-683E-E52F-9615-716E18A7D76F}"/>
              </a:ext>
            </a:extLst>
          </p:cNvPr>
          <p:cNvSpPr>
            <a:spLocks noGrp="1"/>
          </p:cNvSpPr>
          <p:nvPr>
            <p:ph idx="1"/>
          </p:nvPr>
        </p:nvSpPr>
        <p:spPr>
          <a:xfrm>
            <a:off x="308810" y="1687840"/>
            <a:ext cx="11044990" cy="4343992"/>
          </a:xfrm>
        </p:spPr>
        <p:txBody>
          <a:bodyPr>
            <a:normAutofit/>
          </a:bodyPr>
          <a:lstStyle/>
          <a:p>
            <a:pPr algn="just"/>
            <a:r>
              <a:rPr lang="en-US" dirty="0">
                <a:latin typeface="Times New Roman" panose="02020603050405020304" pitchFamily="18" charset="0"/>
                <a:cs typeface="Times New Roman" panose="02020603050405020304" pitchFamily="18" charset="0"/>
              </a:rPr>
              <a:t>In this example, we're going to call function foo(), which is assumed to be far away from the caller's current PC. In the </a:t>
            </a:r>
            <a:r>
              <a:rPr lang="en-US" dirty="0" err="1">
                <a:latin typeface="Times New Roman" panose="02020603050405020304" pitchFamily="18" charset="0"/>
                <a:cs typeface="Times New Roman" panose="02020603050405020304" pitchFamily="18" charset="0"/>
              </a:rPr>
              <a:t>fol</a:t>
            </a:r>
            <a:r>
              <a:rPr lang="en-US" dirty="0">
                <a:latin typeface="Times New Roman" panose="02020603050405020304" pitchFamily="18" charset="0"/>
                <a:cs typeface="Times New Roman" panose="02020603050405020304" pitchFamily="18" charset="0"/>
              </a:rPr>
              <a:t> lowing, the PC for the "</a:t>
            </a:r>
            <a:r>
              <a:rPr lang="en-US" dirty="0" err="1">
                <a:latin typeface="Times New Roman" panose="02020603050405020304" pitchFamily="18" charset="0"/>
                <a:cs typeface="Times New Roman" panose="02020603050405020304" pitchFamily="18" charset="0"/>
              </a:rPr>
              <a:t>auipc</a:t>
            </a:r>
            <a:r>
              <a:rPr lang="en-US" dirty="0">
                <a:latin typeface="Times New Roman" panose="02020603050405020304" pitchFamily="18" charset="0"/>
                <a:cs typeface="Times New Roman" panose="02020603050405020304" pitchFamily="18" charset="0"/>
              </a:rPr>
              <a:t>“ instruction is </a:t>
            </a:r>
            <a:r>
              <a:rPr lang="en-IN" dirty="0">
                <a:latin typeface="Times New Roman" panose="02020603050405020304" pitchFamily="18" charset="0"/>
                <a:cs typeface="Times New Roman" panose="02020603050405020304" pitchFamily="18" charset="0"/>
              </a:rPr>
              <a:t>0x42005e16</a:t>
            </a:r>
          </a:p>
          <a:p>
            <a:pPr algn="just"/>
            <a:r>
              <a:rPr lang="en-US" dirty="0">
                <a:latin typeface="Times New Roman" panose="02020603050405020304" pitchFamily="18" charset="0"/>
                <a:cs typeface="Times New Roman" panose="02020603050405020304" pitchFamily="18" charset="0"/>
              </a:rPr>
              <a:t>verify this calculation using </a:t>
            </a:r>
            <a:r>
              <a:rPr lang="en-US" dirty="0" err="1">
                <a:latin typeface="Times New Roman" panose="02020603050405020304" pitchFamily="18" charset="0"/>
                <a:cs typeface="Times New Roman" panose="02020603050405020304" pitchFamily="18" charset="0"/>
              </a:rPr>
              <a:t>gdb</a:t>
            </a:r>
            <a:r>
              <a:rPr lang="en-US"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D116AA3-300F-31B1-EFE9-F03D64A8DCC5}"/>
              </a:ext>
            </a:extLst>
          </p:cNvPr>
          <p:cNvPicPr>
            <a:picLocks noChangeAspect="1"/>
          </p:cNvPicPr>
          <p:nvPr/>
        </p:nvPicPr>
        <p:blipFill>
          <a:blip r:embed="rId3"/>
          <a:stretch>
            <a:fillRect/>
          </a:stretch>
        </p:blipFill>
        <p:spPr>
          <a:xfrm>
            <a:off x="308810" y="4112499"/>
            <a:ext cx="5318661" cy="1057661"/>
          </a:xfrm>
          <a:prstGeom prst="rect">
            <a:avLst/>
          </a:prstGeom>
        </p:spPr>
      </p:pic>
      <p:pic>
        <p:nvPicPr>
          <p:cNvPr id="10" name="Picture 9">
            <a:extLst>
              <a:ext uri="{FF2B5EF4-FFF2-40B4-BE49-F238E27FC236}">
                <a16:creationId xmlns:a16="http://schemas.microsoft.com/office/drawing/2014/main" id="{6A282FD0-9DD3-40DA-036C-BCC2DBA00314}"/>
              </a:ext>
            </a:extLst>
          </p:cNvPr>
          <p:cNvPicPr>
            <a:picLocks noChangeAspect="1"/>
          </p:cNvPicPr>
          <p:nvPr/>
        </p:nvPicPr>
        <p:blipFill>
          <a:blip r:embed="rId4"/>
          <a:stretch>
            <a:fillRect/>
          </a:stretch>
        </p:blipFill>
        <p:spPr>
          <a:xfrm>
            <a:off x="5783179" y="3007727"/>
            <a:ext cx="6244180" cy="3485148"/>
          </a:xfrm>
          <a:prstGeom prst="rect">
            <a:avLst/>
          </a:prstGeom>
        </p:spPr>
      </p:pic>
    </p:spTree>
    <p:extLst>
      <p:ext uri="{BB962C8B-B14F-4D97-AF65-F5344CB8AC3E}">
        <p14:creationId xmlns:p14="http://schemas.microsoft.com/office/powerpoint/2010/main" val="1443890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6948-420F-FDEF-2A6E-CD15DE91C77F}"/>
              </a:ext>
            </a:extLst>
          </p:cNvPr>
          <p:cNvSpPr>
            <a:spLocks noGrp="1"/>
          </p:cNvSpPr>
          <p:nvPr>
            <p:ph type="title"/>
          </p:nvPr>
        </p:nvSpPr>
        <p:spPr>
          <a:xfrm>
            <a:off x="838200" y="260976"/>
            <a:ext cx="10515600" cy="661570"/>
          </a:xfrm>
        </p:spPr>
        <p:txBody>
          <a:bodyPr>
            <a:normAutofit fontScale="90000"/>
          </a:bodyPr>
          <a:lstStyle/>
          <a:p>
            <a:pPr algn="just"/>
            <a:r>
              <a:rPr lang="en-IN" dirty="0">
                <a:latin typeface="Times New Roman" panose="02020603050405020304" pitchFamily="18" charset="0"/>
                <a:cs typeface="Times New Roman" panose="02020603050405020304" pitchFamily="18" charset="0"/>
              </a:rPr>
              <a:t>Simple Call Experiment</a:t>
            </a:r>
          </a:p>
        </p:txBody>
      </p:sp>
      <p:sp>
        <p:nvSpPr>
          <p:cNvPr id="3" name="Content Placeholder 2">
            <a:extLst>
              <a:ext uri="{FF2B5EF4-FFF2-40B4-BE49-F238E27FC236}">
                <a16:creationId xmlns:a16="http://schemas.microsoft.com/office/drawing/2014/main" id="{844B79B2-E4D2-A3E5-6DC6-6FB549B8AF1E}"/>
              </a:ext>
            </a:extLst>
          </p:cNvPr>
          <p:cNvSpPr>
            <a:spLocks noGrp="1"/>
          </p:cNvSpPr>
          <p:nvPr>
            <p:ph idx="1"/>
          </p:nvPr>
        </p:nvSpPr>
        <p:spPr>
          <a:xfrm>
            <a:off x="148389" y="1477544"/>
            <a:ext cx="4985085" cy="4351338"/>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1. Loads the value of 1 into the register a0 (x10) in line</a:t>
            </a:r>
            <a:r>
              <a:rPr lang="en-IN" dirty="0">
                <a:latin typeface="Times New Roman" panose="02020603050405020304" pitchFamily="18" charset="0"/>
                <a:cs typeface="Times New Roman" panose="02020603050405020304" pitchFamily="18" charset="0"/>
              </a:rPr>
              <a:t>4.</a:t>
            </a:r>
          </a:p>
          <a:p>
            <a:pPr marL="0" indent="0" algn="just">
              <a:buNone/>
            </a:pPr>
            <a:r>
              <a:rPr lang="en-US" dirty="0">
                <a:latin typeface="Times New Roman" panose="02020603050405020304" pitchFamily="18" charset="0"/>
                <a:cs typeface="Times New Roman" panose="02020603050405020304" pitchFamily="18" charset="0"/>
              </a:rPr>
              <a:t>2. Calls an internal subroutine named "intern" from line</a:t>
            </a:r>
            <a:r>
              <a:rPr lang="en-IN" dirty="0">
                <a:latin typeface="Times New Roman" panose="02020603050405020304" pitchFamily="18" charset="0"/>
                <a:cs typeface="Times New Roman" panose="02020603050405020304" pitchFamily="18" charset="0"/>
              </a:rPr>
              <a:t>5, using temporary register t0 (x5).</a:t>
            </a:r>
          </a:p>
          <a:p>
            <a:pPr marL="0" indent="0" algn="just">
              <a:buNone/>
            </a:pPr>
            <a:r>
              <a:rPr lang="en-US" dirty="0">
                <a:latin typeface="Times New Roman" panose="02020603050405020304" pitchFamily="18" charset="0"/>
                <a:cs typeface="Times New Roman" panose="02020603050405020304" pitchFamily="18" charset="0"/>
              </a:rPr>
              <a:t>3. Adds the value 2 to the value in a0 in line 8.</a:t>
            </a:r>
          </a:p>
          <a:p>
            <a:pPr marL="0" indent="0" algn="just">
              <a:buNone/>
            </a:pPr>
            <a:r>
              <a:rPr lang="en-US" dirty="0">
                <a:latin typeface="Times New Roman" panose="02020603050405020304" pitchFamily="18" charset="0"/>
                <a:cs typeface="Times New Roman" panose="02020603050405020304" pitchFamily="18" charset="0"/>
              </a:rPr>
              <a:t>4. Returns to the caller from line 9, via register t0 (x5), </a:t>
            </a:r>
            <a:r>
              <a:rPr lang="en-IN" dirty="0">
                <a:latin typeface="Times New Roman" panose="02020603050405020304" pitchFamily="18" charset="0"/>
                <a:cs typeface="Times New Roman" panose="02020603050405020304" pitchFamily="18" charset="0"/>
              </a:rPr>
              <a:t>to line 6.</a:t>
            </a:r>
          </a:p>
          <a:p>
            <a:pPr marL="0" indent="0" algn="just">
              <a:buNone/>
            </a:pPr>
            <a:r>
              <a:rPr lang="en-US" dirty="0">
                <a:latin typeface="Times New Roman" panose="02020603050405020304" pitchFamily="18" charset="0"/>
                <a:cs typeface="Times New Roman" panose="02020603050405020304" pitchFamily="18" charset="0"/>
              </a:rPr>
              <a:t>5. Control returns to </a:t>
            </a:r>
            <a:r>
              <a:rPr lang="en-US" dirty="0" err="1">
                <a:latin typeface="Times New Roman" panose="02020603050405020304" pitchFamily="18" charset="0"/>
                <a:cs typeface="Times New Roman" panose="02020603050405020304" pitchFamily="18" charset="0"/>
              </a:rPr>
              <a:t>app_main</a:t>
            </a:r>
            <a:r>
              <a:rPr lang="en-US" dirty="0">
                <a:latin typeface="Times New Roman" panose="02020603050405020304" pitchFamily="18" charset="0"/>
                <a:cs typeface="Times New Roman" panose="02020603050405020304" pitchFamily="18" charset="0"/>
              </a:rPr>
              <a:t>() from line 6, using </a:t>
            </a:r>
            <a:r>
              <a:rPr lang="en-IN" dirty="0">
                <a:latin typeface="Times New Roman" panose="02020603050405020304" pitchFamily="18" charset="0"/>
                <a:cs typeface="Times New Roman" panose="02020603050405020304" pitchFamily="18" charset="0"/>
              </a:rPr>
              <a:t>register </a:t>
            </a:r>
            <a:r>
              <a:rPr lang="en-IN" dirty="0" err="1">
                <a:latin typeface="Times New Roman" panose="02020603050405020304" pitchFamily="18" charset="0"/>
                <a:cs typeface="Times New Roman" panose="02020603050405020304" pitchFamily="18" charset="0"/>
              </a:rPr>
              <a:t>ra</a:t>
            </a:r>
            <a:r>
              <a:rPr lang="en-IN" dirty="0">
                <a:latin typeface="Times New Roman" panose="02020603050405020304" pitchFamily="18" charset="0"/>
                <a:cs typeface="Times New Roman" panose="02020603050405020304" pitchFamily="18" charset="0"/>
              </a:rPr>
              <a:t> (x1).</a:t>
            </a:r>
          </a:p>
          <a:p>
            <a:pPr algn="just"/>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riscv</a:t>
            </a:r>
            <a:r>
              <a:rPr lang="en-IN" dirty="0">
                <a:latin typeface="Times New Roman" panose="02020603050405020304" pitchFamily="18" charset="0"/>
                <a:cs typeface="Times New Roman" panose="02020603050405020304" pitchFamily="18" charset="0"/>
              </a:rPr>
              <a:t>/repo/07/</a:t>
            </a:r>
            <a:r>
              <a:rPr lang="en-IN" dirty="0" err="1">
                <a:latin typeface="Times New Roman" panose="02020603050405020304" pitchFamily="18" charset="0"/>
                <a:cs typeface="Times New Roman" panose="02020603050405020304" pitchFamily="18" charset="0"/>
              </a:rPr>
              <a:t>jal</a:t>
            </a:r>
            <a:r>
              <a:rPr lang="en-IN" dirty="0">
                <a:latin typeface="Times New Roman" panose="02020603050405020304" pitchFamily="18" charset="0"/>
                <a:cs typeface="Times New Roman" panose="02020603050405020304" pitchFamily="18" charset="0"/>
              </a:rPr>
              <a:t>/main/</a:t>
            </a:r>
            <a:r>
              <a:rPr lang="en-IN" dirty="0" err="1">
                <a:latin typeface="Times New Roman" panose="02020603050405020304" pitchFamily="18" charset="0"/>
                <a:cs typeface="Times New Roman" panose="02020603050405020304" pitchFamily="18" charset="0"/>
              </a:rPr>
              <a:t>main.c</a:t>
            </a:r>
            <a:r>
              <a:rPr lang="en-IN"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build and flash this code, the run output should report the </a:t>
            </a:r>
            <a:r>
              <a:rPr lang="en-IN" dirty="0">
                <a:latin typeface="Times New Roman" panose="02020603050405020304" pitchFamily="18" charset="0"/>
                <a:cs typeface="Times New Roman" panose="02020603050405020304" pitchFamily="18" charset="0"/>
              </a:rPr>
              <a:t>following</a:t>
            </a:r>
          </a:p>
        </p:txBody>
      </p:sp>
      <p:pic>
        <p:nvPicPr>
          <p:cNvPr id="5" name="Picture 4">
            <a:extLst>
              <a:ext uri="{FF2B5EF4-FFF2-40B4-BE49-F238E27FC236}">
                <a16:creationId xmlns:a16="http://schemas.microsoft.com/office/drawing/2014/main" id="{173CBA50-0D85-2975-3E26-424127FAB7B4}"/>
              </a:ext>
            </a:extLst>
          </p:cNvPr>
          <p:cNvPicPr>
            <a:picLocks noChangeAspect="1"/>
          </p:cNvPicPr>
          <p:nvPr/>
        </p:nvPicPr>
        <p:blipFill>
          <a:blip r:embed="rId2"/>
          <a:stretch>
            <a:fillRect/>
          </a:stretch>
        </p:blipFill>
        <p:spPr>
          <a:xfrm>
            <a:off x="5316736" y="1093972"/>
            <a:ext cx="6726875" cy="3463840"/>
          </a:xfrm>
          <a:prstGeom prst="rect">
            <a:avLst/>
          </a:prstGeom>
        </p:spPr>
      </p:pic>
      <p:sp>
        <p:nvSpPr>
          <p:cNvPr id="7" name="TextBox 6">
            <a:extLst>
              <a:ext uri="{FF2B5EF4-FFF2-40B4-BE49-F238E27FC236}">
                <a16:creationId xmlns:a16="http://schemas.microsoft.com/office/drawing/2014/main" id="{DD0FA5F4-8556-8BE0-FF18-621314033D20}"/>
              </a:ext>
            </a:extLst>
          </p:cNvPr>
          <p:cNvSpPr txBox="1"/>
          <p:nvPr/>
        </p:nvSpPr>
        <p:spPr>
          <a:xfrm>
            <a:off x="6288505" y="4729239"/>
            <a:ext cx="4985085" cy="372149"/>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This is the expected return value (1 + 2).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104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79F9-DCA7-7399-C810-B5D5C7A0E0E9}"/>
              </a:ext>
            </a:extLst>
          </p:cNvPr>
          <p:cNvSpPr>
            <a:spLocks noGrp="1"/>
          </p:cNvSpPr>
          <p:nvPr>
            <p:ph type="title"/>
          </p:nvPr>
        </p:nvSpPr>
        <p:spPr/>
        <p:txBody>
          <a:bodyPr>
            <a:noAutofit/>
          </a:bodyPr>
          <a:lstStyle/>
          <a:p>
            <a:r>
              <a:rPr lang="en-US" sz="3200" dirty="0">
                <a:latin typeface="Times New Roman" panose="02020603050405020304" pitchFamily="18" charset="0"/>
                <a:cs typeface="Times New Roman" panose="02020603050405020304" pitchFamily="18" charset="0"/>
              </a:rPr>
              <a:t>The same program exists for QEMU. build and run it as</a:t>
            </a:r>
            <a:br>
              <a:rPr lang="en-US"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follows:</a:t>
            </a:r>
          </a:p>
        </p:txBody>
      </p:sp>
      <p:sp>
        <p:nvSpPr>
          <p:cNvPr id="3" name="Content Placeholder 2">
            <a:extLst>
              <a:ext uri="{FF2B5EF4-FFF2-40B4-BE49-F238E27FC236}">
                <a16:creationId xmlns:a16="http://schemas.microsoft.com/office/drawing/2014/main" id="{0711F0D7-6DF0-FC34-DACA-D2A7F4071211}"/>
              </a:ext>
            </a:extLst>
          </p:cNvPr>
          <p:cNvSpPr>
            <a:spLocks noGrp="1"/>
          </p:cNvSpPr>
          <p:nvPr>
            <p:ph idx="1"/>
          </p:nvPr>
        </p:nvSpPr>
        <p:spPr>
          <a:xfrm>
            <a:off x="629652" y="1536867"/>
            <a:ext cx="5097379" cy="4351338"/>
          </a:xfrm>
        </p:spPr>
        <p:txBody>
          <a:bodyPr/>
          <a:lstStyle/>
          <a:p>
            <a:r>
              <a:rPr lang="pt-BR" dirty="0">
                <a:latin typeface="Times New Roman" panose="02020603050405020304" pitchFamily="18" charset="0"/>
                <a:cs typeface="Times New Roman" panose="02020603050405020304" pitchFamily="18" charset="0"/>
              </a:rPr>
              <a:t>$ cd ~/riscv/repo/07/jal/qemu64</a:t>
            </a:r>
          </a:p>
          <a:p>
            <a:r>
              <a:rPr lang="pt-BR" dirty="0">
                <a:latin typeface="Times New Roman" panose="02020603050405020304" pitchFamily="18" charset="0"/>
                <a:cs typeface="Times New Roman" panose="02020603050405020304" pitchFamily="18" charset="0"/>
              </a:rPr>
              <a:t>$ gcc -O0 -g jal.S main.c</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a.out</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r>
              <a:rPr lang="sv-SE" dirty="0">
                <a:latin typeface="Times New Roman" panose="02020603050405020304" pitchFamily="18" charset="0"/>
                <a:cs typeface="Times New Roman" panose="02020603050405020304" pitchFamily="18" charset="0"/>
              </a:rPr>
              <a:t>Running in gdb – fedora riscv qemu</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91F272B-E21A-C34D-5A97-A271AD2270C1}"/>
              </a:ext>
            </a:extLst>
          </p:cNvPr>
          <p:cNvPicPr>
            <a:picLocks noChangeAspect="1"/>
          </p:cNvPicPr>
          <p:nvPr/>
        </p:nvPicPr>
        <p:blipFill>
          <a:blip r:embed="rId2"/>
          <a:stretch>
            <a:fillRect/>
          </a:stretch>
        </p:blipFill>
        <p:spPr>
          <a:xfrm>
            <a:off x="265982" y="3429000"/>
            <a:ext cx="5097379" cy="857829"/>
          </a:xfrm>
          <a:prstGeom prst="rect">
            <a:avLst/>
          </a:prstGeom>
        </p:spPr>
      </p:pic>
      <p:pic>
        <p:nvPicPr>
          <p:cNvPr id="7" name="Picture 6">
            <a:extLst>
              <a:ext uri="{FF2B5EF4-FFF2-40B4-BE49-F238E27FC236}">
                <a16:creationId xmlns:a16="http://schemas.microsoft.com/office/drawing/2014/main" id="{DF635C8A-06FD-BAAA-FA3C-32F5035A1648}"/>
              </a:ext>
            </a:extLst>
          </p:cNvPr>
          <p:cNvPicPr>
            <a:picLocks noChangeAspect="1"/>
          </p:cNvPicPr>
          <p:nvPr/>
        </p:nvPicPr>
        <p:blipFill>
          <a:blip r:embed="rId3"/>
          <a:stretch>
            <a:fillRect/>
          </a:stretch>
        </p:blipFill>
        <p:spPr>
          <a:xfrm>
            <a:off x="5500816" y="1965781"/>
            <a:ext cx="6562847" cy="4351338"/>
          </a:xfrm>
          <a:prstGeom prst="rect">
            <a:avLst/>
          </a:prstGeom>
        </p:spPr>
      </p:pic>
    </p:spTree>
    <p:extLst>
      <p:ext uri="{BB962C8B-B14F-4D97-AF65-F5344CB8AC3E}">
        <p14:creationId xmlns:p14="http://schemas.microsoft.com/office/powerpoint/2010/main" val="128612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3C8E63-28BC-EE6C-8686-0E4330C5337A}"/>
              </a:ext>
            </a:extLst>
          </p:cNvPr>
          <p:cNvSpPr txBox="1"/>
          <p:nvPr/>
        </p:nvSpPr>
        <p:spPr>
          <a:xfrm>
            <a:off x="1483895" y="1143273"/>
            <a:ext cx="3096126" cy="64633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gdb</a:t>
            </a:r>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a.out</a:t>
            </a:r>
            <a:endParaRPr lang="en-IN" sz="1800" b="0" i="0" u="none" strike="noStrike" baseline="0" dirty="0">
              <a:latin typeface="Times New Roman" panose="02020603050405020304" pitchFamily="18" charset="0"/>
              <a:cs typeface="Times New Roman" panose="02020603050405020304" pitchFamily="18" charset="0"/>
            </a:endParaRPr>
          </a:p>
          <a:p>
            <a:pPr algn="l"/>
            <a:r>
              <a:rPr lang="en-IN" sz="1800" b="0" i="0" u="none" strike="noStrike" baseline="0" dirty="0">
                <a:latin typeface="Times New Roman" panose="02020603050405020304" pitchFamily="18" charset="0"/>
                <a:cs typeface="Times New Roman" panose="02020603050405020304" pitchFamily="18" charset="0"/>
              </a:rPr>
              <a:t>with the "list" command: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68D5E60-37D7-3FB7-F598-9C8054933F3C}"/>
              </a:ext>
            </a:extLst>
          </p:cNvPr>
          <p:cNvPicPr>
            <a:picLocks noChangeAspect="1"/>
          </p:cNvPicPr>
          <p:nvPr/>
        </p:nvPicPr>
        <p:blipFill>
          <a:blip r:embed="rId2"/>
          <a:stretch>
            <a:fillRect/>
          </a:stretch>
        </p:blipFill>
        <p:spPr>
          <a:xfrm>
            <a:off x="-16042" y="2413751"/>
            <a:ext cx="6096001" cy="3322121"/>
          </a:xfrm>
          <a:prstGeom prst="rect">
            <a:avLst/>
          </a:prstGeom>
        </p:spPr>
      </p:pic>
      <p:sp>
        <p:nvSpPr>
          <p:cNvPr id="9" name="TextBox 8">
            <a:extLst>
              <a:ext uri="{FF2B5EF4-FFF2-40B4-BE49-F238E27FC236}">
                <a16:creationId xmlns:a16="http://schemas.microsoft.com/office/drawing/2014/main" id="{39B62E06-1853-1204-734B-8619D905FB7B}"/>
              </a:ext>
            </a:extLst>
          </p:cNvPr>
          <p:cNvSpPr txBox="1"/>
          <p:nvPr/>
        </p:nvSpPr>
        <p:spPr>
          <a:xfrm>
            <a:off x="7090610" y="1004773"/>
            <a:ext cx="4138863" cy="923330"/>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let's set a "breakpoint" for the function </a:t>
            </a:r>
            <a:r>
              <a:rPr lang="en-US" sz="1800" b="0" i="0" u="none" strike="noStrike" baseline="0" dirty="0" err="1">
                <a:latin typeface="Times New Roman" panose="02020603050405020304" pitchFamily="18" charset="0"/>
                <a:cs typeface="Times New Roman" panose="02020603050405020304" pitchFamily="18" charset="0"/>
              </a:rPr>
              <a:t>callme</a:t>
            </a:r>
            <a:r>
              <a:rPr lang="en-US"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gdb</a:t>
            </a:r>
            <a:r>
              <a:rPr lang="en-IN" sz="1800" b="0" i="0" u="none" strike="noStrike" baseline="0" dirty="0">
                <a:latin typeface="Times New Roman" panose="02020603050405020304" pitchFamily="18" charset="0"/>
                <a:cs typeface="Times New Roman" panose="02020603050405020304" pitchFamily="18" charset="0"/>
              </a:rPr>
              <a:t>) b </a:t>
            </a:r>
            <a:r>
              <a:rPr lang="en-IN" sz="1800" b="0" i="0" u="none" strike="noStrike" baseline="0" dirty="0" err="1">
                <a:latin typeface="Times New Roman" panose="02020603050405020304" pitchFamily="18" charset="0"/>
                <a:cs typeface="Times New Roman" panose="02020603050405020304" pitchFamily="18" charset="0"/>
              </a:rPr>
              <a:t>callme</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8E413DB-10F8-94B8-32C6-F17702A78E42}"/>
              </a:ext>
            </a:extLst>
          </p:cNvPr>
          <p:cNvPicPr>
            <a:picLocks noChangeAspect="1"/>
          </p:cNvPicPr>
          <p:nvPr/>
        </p:nvPicPr>
        <p:blipFill>
          <a:blip r:embed="rId3"/>
          <a:stretch>
            <a:fillRect/>
          </a:stretch>
        </p:blipFill>
        <p:spPr>
          <a:xfrm>
            <a:off x="6112042" y="2400900"/>
            <a:ext cx="6096000" cy="3334972"/>
          </a:xfrm>
          <a:prstGeom prst="rect">
            <a:avLst/>
          </a:prstGeom>
        </p:spPr>
      </p:pic>
    </p:spTree>
    <p:extLst>
      <p:ext uri="{BB962C8B-B14F-4D97-AF65-F5344CB8AC3E}">
        <p14:creationId xmlns:p14="http://schemas.microsoft.com/office/powerpoint/2010/main" val="1802031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98C7A-0419-019D-591D-A7EC7B5F208B}"/>
              </a:ext>
            </a:extLst>
          </p:cNvPr>
          <p:cNvSpPr>
            <a:spLocks noGrp="1"/>
          </p:cNvSpPr>
          <p:nvPr>
            <p:ph type="title"/>
          </p:nvPr>
        </p:nvSpPr>
        <p:spPr/>
        <p:txBody>
          <a:bodyPr>
            <a:noAutofit/>
          </a:bodyPr>
          <a:lstStyle/>
          <a:p>
            <a:r>
              <a:rPr lang="en-US" sz="3200" dirty="0">
                <a:latin typeface="Times New Roman" panose="02020603050405020304" pitchFamily="18" charset="0"/>
                <a:cs typeface="Times New Roman" panose="02020603050405020304" pitchFamily="18" charset="0"/>
              </a:rPr>
              <a:t>Since the program is not running yet,</a:t>
            </a:r>
            <a:br>
              <a:rPr lang="en-US"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let's start it:</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t>
            </a:r>
            <a:r>
              <a:rPr lang="en-IN" sz="3200" dirty="0" err="1">
                <a:latin typeface="Times New Roman" panose="02020603050405020304" pitchFamily="18" charset="0"/>
                <a:cs typeface="Times New Roman" panose="02020603050405020304" pitchFamily="18" charset="0"/>
              </a:rPr>
              <a:t>gdb</a:t>
            </a:r>
            <a:r>
              <a:rPr lang="en-IN" sz="3200" dirty="0">
                <a:latin typeface="Times New Roman" panose="02020603050405020304" pitchFamily="18" charset="0"/>
                <a:cs typeface="Times New Roman" panose="02020603050405020304" pitchFamily="18" charset="0"/>
              </a:rPr>
              <a:t>) r</a:t>
            </a:r>
          </a:p>
        </p:txBody>
      </p:sp>
      <p:pic>
        <p:nvPicPr>
          <p:cNvPr id="5" name="Content Placeholder 4">
            <a:extLst>
              <a:ext uri="{FF2B5EF4-FFF2-40B4-BE49-F238E27FC236}">
                <a16:creationId xmlns:a16="http://schemas.microsoft.com/office/drawing/2014/main" id="{A966BCC3-8C0F-2B9E-E431-24CCF2FC4465}"/>
              </a:ext>
            </a:extLst>
          </p:cNvPr>
          <p:cNvPicPr>
            <a:picLocks noGrp="1" noChangeAspect="1"/>
          </p:cNvPicPr>
          <p:nvPr>
            <p:ph idx="1"/>
          </p:nvPr>
        </p:nvPicPr>
        <p:blipFill>
          <a:blip r:embed="rId3"/>
          <a:stretch>
            <a:fillRect/>
          </a:stretch>
        </p:blipFill>
        <p:spPr>
          <a:xfrm>
            <a:off x="2115257" y="1825625"/>
            <a:ext cx="7961486" cy="4351338"/>
          </a:xfrm>
        </p:spPr>
      </p:pic>
    </p:spTree>
    <p:extLst>
      <p:ext uri="{BB962C8B-B14F-4D97-AF65-F5344CB8AC3E}">
        <p14:creationId xmlns:p14="http://schemas.microsoft.com/office/powerpoint/2010/main" val="1458361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260FDF-67C9-7199-47CE-186B0F34434F}"/>
              </a:ext>
            </a:extLst>
          </p:cNvPr>
          <p:cNvSpPr txBox="1"/>
          <p:nvPr/>
        </p:nvSpPr>
        <p:spPr>
          <a:xfrm>
            <a:off x="144379" y="1028343"/>
            <a:ext cx="5333056" cy="4801314"/>
          </a:xfrm>
          <a:prstGeom prst="rect">
            <a:avLst/>
          </a:prstGeom>
          <a:noFill/>
        </p:spPr>
        <p:txBody>
          <a:bodyPr wrap="square">
            <a:spAutoFit/>
          </a:bodyPr>
          <a:lstStyle/>
          <a:p>
            <a:pPr algn="just"/>
            <a:r>
              <a:rPr lang="en-US" sz="1800" b="1" i="0" u="none" strike="noStrike" baseline="0" dirty="0">
                <a:latin typeface="Times New Roman" panose="02020603050405020304" pitchFamily="18" charset="0"/>
                <a:cs typeface="Times New Roman" panose="02020603050405020304" pitchFamily="18" charset="0"/>
              </a:rPr>
              <a:t>Let's step one more instruction:</a:t>
            </a:r>
          </a:p>
          <a:p>
            <a:pPr algn="just"/>
            <a:r>
              <a:rPr lang="en-US" sz="1800" b="0" i="0" u="none" strike="noStrike" baseline="0" dirty="0">
                <a:latin typeface="Times New Roman" panose="02020603050405020304" pitchFamily="18" charset="0"/>
                <a:cs typeface="Times New Roman" panose="02020603050405020304" pitchFamily="18" charset="0"/>
              </a:rPr>
              <a:t>we've called the intern() function by use of t0. Step once </a:t>
            </a:r>
            <a:r>
              <a:rPr lang="en-IN" sz="1800" b="0" i="0" u="none" strike="noStrike" baseline="0" dirty="0">
                <a:latin typeface="Times New Roman" panose="02020603050405020304" pitchFamily="18" charset="0"/>
                <a:cs typeface="Times New Roman" panose="02020603050405020304" pitchFamily="18" charset="0"/>
              </a:rPr>
              <a:t>again and display registers:</a:t>
            </a:r>
          </a:p>
          <a:p>
            <a:pPr algn="just"/>
            <a:r>
              <a:rPr lang="en-US" sz="1800" b="0" i="0" u="none" strike="noStrike" baseline="0" dirty="0">
                <a:latin typeface="Times New Roman" panose="02020603050405020304" pitchFamily="18" charset="0"/>
                <a:cs typeface="Times New Roman" panose="02020603050405020304" pitchFamily="18" charset="0"/>
              </a:rPr>
              <a:t>register a0 now has the value 3, and the register t0 has</a:t>
            </a:r>
          </a:p>
          <a:p>
            <a:pPr algn="just"/>
            <a:r>
              <a:rPr lang="en-US" sz="1800" b="0" i="0" u="none" strike="noStrike" baseline="0" dirty="0">
                <a:latin typeface="Times New Roman" panose="02020603050405020304" pitchFamily="18" charset="0"/>
                <a:cs typeface="Times New Roman" panose="02020603050405020304" pitchFamily="18" charset="0"/>
              </a:rPr>
              <a:t>the return address from the call in line 5. Let's step from</a:t>
            </a:r>
          </a:p>
          <a:p>
            <a:pPr algn="just"/>
            <a:r>
              <a:rPr lang="en-IN" sz="1800" b="0" i="0" u="none" strike="noStrike" baseline="0" dirty="0">
                <a:latin typeface="Times New Roman" panose="02020603050405020304" pitchFamily="18" charset="0"/>
                <a:cs typeface="Times New Roman" panose="02020603050405020304" pitchFamily="18" charset="0"/>
              </a:rPr>
              <a:t>line 9:</a:t>
            </a:r>
          </a:p>
          <a:p>
            <a:pPr algn="just"/>
            <a:r>
              <a:rPr lang="en-US" sz="1800" b="0" i="0" u="none" strike="noStrike" baseline="0" dirty="0">
                <a:latin typeface="Times New Roman" panose="02020603050405020304" pitchFamily="18" charset="0"/>
                <a:cs typeface="Times New Roman" panose="02020603050405020304" pitchFamily="18" charset="0"/>
              </a:rPr>
              <a:t>From this, we see the control has returned to after the</a:t>
            </a:r>
          </a:p>
          <a:p>
            <a:pPr algn="just"/>
            <a:r>
              <a:rPr lang="en-US" sz="1800" b="0" i="0" u="none" strike="noStrike" baseline="0" dirty="0">
                <a:latin typeface="Times New Roman" panose="02020603050405020304" pitchFamily="18" charset="0"/>
                <a:cs typeface="Times New Roman" panose="02020603050405020304" pitchFamily="18" charset="0"/>
              </a:rPr>
              <a:t>point of the call in line 6. Stepping once again should get us back to the main() program,</a:t>
            </a:r>
          </a:p>
          <a:p>
            <a:pPr algn="just"/>
            <a:r>
              <a:rPr lang="en-US" sz="1800" b="0" i="0" u="none" strike="noStrike" baseline="0" dirty="0">
                <a:latin typeface="Times New Roman" panose="02020603050405020304" pitchFamily="18" charset="0"/>
                <a:cs typeface="Times New Roman" panose="02020603050405020304" pitchFamily="18" charset="0"/>
              </a:rPr>
              <a:t>we see that the </a:t>
            </a:r>
            <a:r>
              <a:rPr lang="en-US" sz="1800" b="0" i="0" u="none" strike="noStrike" baseline="0" dirty="0" err="1">
                <a:latin typeface="Times New Roman" panose="02020603050405020304" pitchFamily="18" charset="0"/>
                <a:cs typeface="Times New Roman" panose="02020603050405020304" pitchFamily="18" charset="0"/>
              </a:rPr>
              <a:t>printf</a:t>
            </a:r>
            <a:r>
              <a:rPr lang="en-US" sz="1800" b="0" i="0" u="none" strike="noStrike" baseline="0" dirty="0">
                <a:latin typeface="Times New Roman" panose="02020603050405020304" pitchFamily="18" charset="0"/>
                <a:cs typeface="Times New Roman" panose="02020603050405020304" pitchFamily="18" charset="0"/>
              </a:rPr>
              <a:t>() call was also completed as part of the return, so that </a:t>
            </a:r>
            <a:r>
              <a:rPr lang="en-US" sz="1800" b="0" i="0" u="none" strike="noStrike" baseline="0" dirty="0" err="1">
                <a:latin typeface="Times New Roman" panose="02020603050405020304" pitchFamily="18" charset="0"/>
                <a:cs typeface="Times New Roman" panose="02020603050405020304" pitchFamily="18" charset="0"/>
              </a:rPr>
              <a:t>gdb</a:t>
            </a:r>
            <a:r>
              <a:rPr lang="en-US" sz="1800" b="0" i="0" u="none" strike="noStrike" baseline="0" dirty="0">
                <a:latin typeface="Times New Roman" panose="02020603050405020304" pitchFamily="18" charset="0"/>
                <a:cs typeface="Times New Roman" panose="02020603050405020304" pitchFamily="18" charset="0"/>
              </a:rPr>
              <a:t> could return a complete statement executed, returning to the statement following in line 9.</a:t>
            </a:r>
          </a:p>
          <a:p>
            <a:pPr algn="just"/>
            <a:r>
              <a:rPr lang="en-US" sz="1800" b="0" i="0" u="none" strike="noStrike" baseline="0" dirty="0">
                <a:latin typeface="Times New Roman" panose="02020603050405020304" pitchFamily="18" charset="0"/>
                <a:cs typeface="Times New Roman" panose="02020603050405020304" pitchFamily="18" charset="0"/>
              </a:rPr>
              <a:t>Since we don't care about tracing the rest of the program</a:t>
            </a:r>
          </a:p>
          <a:p>
            <a:pPr algn="just"/>
            <a:r>
              <a:rPr lang="en-US" sz="1800" b="0" i="0" u="none" strike="noStrike" baseline="0" dirty="0">
                <a:latin typeface="Times New Roman" panose="02020603050405020304" pitchFamily="18" charset="0"/>
                <a:cs typeface="Times New Roman" panose="02020603050405020304" pitchFamily="18" charset="0"/>
              </a:rPr>
              <a:t>you can just "continue" it as follows</a:t>
            </a:r>
          </a:p>
          <a:p>
            <a:pPr algn="just"/>
            <a:r>
              <a:rPr lang="en-US" sz="1800" b="0" i="0" u="none" strike="noStrike" baseline="0" dirty="0">
                <a:latin typeface="Times New Roman" panose="02020603050405020304" pitchFamily="18" charset="0"/>
                <a:cs typeface="Times New Roman" panose="02020603050405020304" pitchFamily="18" charset="0"/>
              </a:rPr>
              <a:t>The program then exits in the normal way</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F0427E9-96EE-6C6C-6CB7-626FDBA12F79}"/>
              </a:ext>
            </a:extLst>
          </p:cNvPr>
          <p:cNvPicPr>
            <a:picLocks noChangeAspect="1"/>
          </p:cNvPicPr>
          <p:nvPr/>
        </p:nvPicPr>
        <p:blipFill>
          <a:blip r:embed="rId2"/>
          <a:srcRect r="20481"/>
          <a:stretch>
            <a:fillRect/>
          </a:stretch>
        </p:blipFill>
        <p:spPr>
          <a:xfrm>
            <a:off x="5669298" y="817381"/>
            <a:ext cx="6378323" cy="5632312"/>
          </a:xfrm>
          <a:prstGeom prst="rect">
            <a:avLst/>
          </a:prstGeom>
        </p:spPr>
      </p:pic>
    </p:spTree>
    <p:extLst>
      <p:ext uri="{BB962C8B-B14F-4D97-AF65-F5344CB8AC3E}">
        <p14:creationId xmlns:p14="http://schemas.microsoft.com/office/powerpoint/2010/main" val="1064168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2142-ED5B-4EE9-992F-58A29D74A7BE}"/>
              </a:ext>
            </a:extLst>
          </p:cNvPr>
          <p:cNvSpPr>
            <a:spLocks noGrp="1"/>
          </p:cNvSpPr>
          <p:nvPr>
            <p:ph type="title"/>
          </p:nvPr>
        </p:nvSpPr>
        <p:spPr>
          <a:xfrm>
            <a:off x="838200" y="365125"/>
            <a:ext cx="10515600" cy="1110749"/>
          </a:xfrm>
        </p:spPr>
        <p:txBody>
          <a:bodyPr/>
          <a:lstStyle/>
          <a:p>
            <a:r>
              <a:rPr lang="en-IN" dirty="0">
                <a:latin typeface="Times New Roman" panose="02020603050405020304" pitchFamily="18" charset="0"/>
                <a:cs typeface="Times New Roman" panose="02020603050405020304" pitchFamily="18" charset="0"/>
              </a:rPr>
              <a:t>Argument Passing in Registers</a:t>
            </a:r>
          </a:p>
        </p:txBody>
      </p:sp>
      <p:sp>
        <p:nvSpPr>
          <p:cNvPr id="3" name="Content Placeholder 2">
            <a:extLst>
              <a:ext uri="{FF2B5EF4-FFF2-40B4-BE49-F238E27FC236}">
                <a16:creationId xmlns:a16="http://schemas.microsoft.com/office/drawing/2014/main" id="{212E787C-E028-2FC7-8A3C-1322DBD3D073}"/>
              </a:ext>
            </a:extLst>
          </p:cNvPr>
          <p:cNvSpPr>
            <a:spLocks noGrp="1"/>
          </p:cNvSpPr>
          <p:nvPr>
            <p:ph idx="1"/>
          </p:nvPr>
        </p:nvSpPr>
        <p:spPr>
          <a:xfrm>
            <a:off x="838200" y="1475874"/>
            <a:ext cx="10515600" cy="399593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Arguments are passed in registers starting with a0 (with exceptions for hardware floating point). And that return values are returned starting with a0. Arguments and return values less than or equal to XLEN bits in size are sign-extended into the register for signed types.</a:t>
            </a:r>
          </a:p>
          <a:p>
            <a:pPr marL="0" indent="0">
              <a:buNone/>
            </a:pPr>
            <a:r>
              <a:rPr lang="en-US" sz="2400" dirty="0">
                <a:latin typeface="Times New Roman" panose="02020603050405020304" pitchFamily="18" charset="0"/>
                <a:cs typeface="Times New Roman" panose="02020603050405020304" pitchFamily="18" charset="0"/>
              </a:rPr>
              <a:t>Figure below illustrates how a long </a:t>
            </a:r>
            <a:r>
              <a:rPr lang="en-US" sz="2400" dirty="0" err="1">
                <a:latin typeface="Times New Roman" panose="02020603050405020304" pitchFamily="18" charset="0"/>
                <a:cs typeface="Times New Roman" panose="02020603050405020304" pitchFamily="18" charset="0"/>
              </a:rPr>
              <a:t>long</a:t>
            </a:r>
            <a:r>
              <a:rPr lang="en-US" sz="2400" dirty="0">
                <a:latin typeface="Times New Roman" panose="02020603050405020304" pitchFamily="18" charset="0"/>
                <a:cs typeface="Times New Roman" panose="02020603050405020304" pitchFamily="18" charset="0"/>
              </a:rPr>
              <a:t> int is passed or </a:t>
            </a:r>
            <a:r>
              <a:rPr lang="en-IN" sz="2400" dirty="0">
                <a:latin typeface="Times New Roman" panose="02020603050405020304" pitchFamily="18" charset="0"/>
                <a:cs typeface="Times New Roman" panose="02020603050405020304" pitchFamily="18" charset="0"/>
              </a:rPr>
              <a:t>returned for the ESP32-C3</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D481C4-04F5-EC9B-BB4A-F291BC8CFF62}"/>
              </a:ext>
            </a:extLst>
          </p:cNvPr>
          <p:cNvPicPr>
            <a:picLocks noChangeAspect="1"/>
          </p:cNvPicPr>
          <p:nvPr/>
        </p:nvPicPr>
        <p:blipFill>
          <a:blip r:embed="rId2"/>
          <a:stretch>
            <a:fillRect/>
          </a:stretch>
        </p:blipFill>
        <p:spPr>
          <a:xfrm>
            <a:off x="2165686" y="3751644"/>
            <a:ext cx="7315200" cy="2297001"/>
          </a:xfrm>
          <a:prstGeom prst="rect">
            <a:avLst/>
          </a:prstGeom>
        </p:spPr>
      </p:pic>
    </p:spTree>
    <p:extLst>
      <p:ext uri="{BB962C8B-B14F-4D97-AF65-F5344CB8AC3E}">
        <p14:creationId xmlns:p14="http://schemas.microsoft.com/office/powerpoint/2010/main" val="224251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FF08DC-BAE5-4857-0F61-6A179B528A42}"/>
              </a:ext>
            </a:extLst>
          </p:cNvPr>
          <p:cNvSpPr txBox="1"/>
          <p:nvPr/>
        </p:nvSpPr>
        <p:spPr>
          <a:xfrm>
            <a:off x="977152" y="1138697"/>
            <a:ext cx="10237695" cy="1477328"/>
          </a:xfrm>
          <a:prstGeom prst="rect">
            <a:avLst/>
          </a:prstGeom>
          <a:noFill/>
        </p:spPr>
        <p:txBody>
          <a:bodyPr wrap="square">
            <a:spAutoFit/>
          </a:bodyPr>
          <a:lstStyle/>
          <a:p>
            <a:pPr algn="l"/>
            <a:r>
              <a:rPr lang="en-IN" sz="1800" b="1" i="0" u="none" strike="noStrike" baseline="0" dirty="0">
                <a:latin typeface="Times New Roman" panose="02020603050405020304" pitchFamily="18" charset="0"/>
                <a:cs typeface="Times New Roman" panose="02020603050405020304" pitchFamily="18" charset="0"/>
              </a:rPr>
              <a:t>The Stack</a:t>
            </a: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cs typeface="Times New Roman" panose="02020603050405020304" pitchFamily="18" charset="0"/>
              </a:rPr>
              <a:t>The stack pointer value is found in register </a:t>
            </a:r>
            <a:r>
              <a:rPr lang="en-US" sz="1800" b="0" i="0" u="none" strike="noStrike" baseline="0" dirty="0" err="1">
                <a:latin typeface="Times New Roman" panose="02020603050405020304" pitchFamily="18" charset="0"/>
                <a:cs typeface="Times New Roman" panose="02020603050405020304" pitchFamily="18" charset="0"/>
              </a:rPr>
              <a:t>sp</a:t>
            </a:r>
            <a:r>
              <a:rPr lang="en-US"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(x2) and is set to the high address of the stack and grows downward.</a:t>
            </a: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cs typeface="Times New Roman" panose="02020603050405020304" pitchFamily="18" charset="0"/>
              </a:rPr>
              <a:t>The stack pointer is maintained at an alignment boundary, which for ESP32-C3 (where XLEN=32) is a double word address (modulo 8 bytes). For XLEN=64 platforms (QEMU), this is modulo 16 bytes.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07444F5-707B-8567-10D5-BE3A86B1DAEA}"/>
              </a:ext>
            </a:extLst>
          </p:cNvPr>
          <p:cNvSpPr txBox="1"/>
          <p:nvPr/>
        </p:nvSpPr>
        <p:spPr>
          <a:xfrm>
            <a:off x="977152" y="3138006"/>
            <a:ext cx="10300449" cy="2308324"/>
          </a:xfrm>
          <a:prstGeom prst="rect">
            <a:avLst/>
          </a:prstGeom>
          <a:noFill/>
        </p:spPr>
        <p:txBody>
          <a:bodyPr wrap="square">
            <a:spAutoFit/>
          </a:bodyPr>
          <a:lstStyle/>
          <a:p>
            <a:pPr algn="l"/>
            <a:r>
              <a:rPr lang="en-IN" sz="1800" b="1" i="0" u="none" strike="noStrike" baseline="0" dirty="0">
                <a:latin typeface="Times New Roman" panose="02020603050405020304" pitchFamily="18" charset="0"/>
                <a:cs typeface="Times New Roman" panose="02020603050405020304" pitchFamily="18" charset="0"/>
              </a:rPr>
              <a:t>Prologue</a:t>
            </a:r>
          </a:p>
          <a:p>
            <a:pPr algn="l"/>
            <a:r>
              <a:rPr lang="en-US" sz="1800" b="0" i="0" u="none" strike="noStrike" baseline="0" dirty="0">
                <a:latin typeface="Times New Roman" panose="02020603050405020304" pitchFamily="18" charset="0"/>
                <a:cs typeface="Times New Roman" panose="02020603050405020304" pitchFamily="18" charset="0"/>
              </a:rPr>
              <a:t>At the start of the function, the prologue serves to perform any functions necessary to preserve the integrity </a:t>
            </a:r>
            <a:r>
              <a:rPr lang="en-IN" sz="1800" b="0" i="0" u="none" strike="noStrike" baseline="0" dirty="0">
                <a:latin typeface="Times New Roman" panose="02020603050405020304" pitchFamily="18" charset="0"/>
                <a:cs typeface="Times New Roman" panose="02020603050405020304" pitchFamily="18" charset="0"/>
              </a:rPr>
              <a:t>of the call.</a:t>
            </a:r>
          </a:p>
          <a:p>
            <a:pPr algn="l"/>
            <a:r>
              <a:rPr lang="en-IN" sz="1800" b="0" i="0" u="none" strike="noStrike" baseline="0" dirty="0">
                <a:latin typeface="Times New Roman" panose="02020603050405020304" pitchFamily="18" charset="0"/>
                <a:cs typeface="Times New Roman" panose="02020603050405020304" pitchFamily="18" charset="0"/>
              </a:rPr>
              <a:t>The general procedure is:</a:t>
            </a:r>
          </a:p>
          <a:p>
            <a:pPr algn="l"/>
            <a:r>
              <a:rPr lang="en-US" sz="1800" b="0" i="0" u="none" strike="noStrike" baseline="0" dirty="0">
                <a:latin typeface="Times New Roman" panose="02020603050405020304" pitchFamily="18" charset="0"/>
                <a:cs typeface="Times New Roman" panose="02020603050405020304" pitchFamily="18" charset="0"/>
              </a:rPr>
              <a:t>1. Decrement </a:t>
            </a:r>
            <a:r>
              <a:rPr lang="en-US" sz="1800" b="0" i="0" u="none" strike="noStrike" baseline="0" dirty="0" err="1">
                <a:latin typeface="Times New Roman" panose="02020603050405020304" pitchFamily="18" charset="0"/>
                <a:cs typeface="Times New Roman" panose="02020603050405020304" pitchFamily="18" charset="0"/>
              </a:rPr>
              <a:t>sp</a:t>
            </a:r>
            <a:r>
              <a:rPr lang="en-US" sz="1800" b="0" i="0" u="none" strike="noStrike" baseline="0" dirty="0">
                <a:latin typeface="Times New Roman" panose="02020603050405020304" pitchFamily="18" charset="0"/>
                <a:cs typeface="Times New Roman" panose="02020603050405020304" pitchFamily="18" charset="0"/>
              </a:rPr>
              <a:t> by the stack frame size for register saves, including any local variable space (the size is round up to mod 8 for XLEN=32, </a:t>
            </a:r>
            <a:r>
              <a:rPr lang="da-DK" sz="1800" b="0" i="0" u="none" strike="noStrike" baseline="0" dirty="0">
                <a:latin typeface="Times New Roman" panose="02020603050405020304" pitchFamily="18" charset="0"/>
                <a:cs typeface="Times New Roman" panose="02020603050405020304" pitchFamily="18" charset="0"/>
              </a:rPr>
              <a:t>or mod 16 for XLEN=64).</a:t>
            </a:r>
          </a:p>
          <a:p>
            <a:pPr algn="l"/>
            <a:r>
              <a:rPr lang="en-US" sz="1800" b="0" i="0" u="none" strike="noStrike" baseline="0" dirty="0">
                <a:latin typeface="Times New Roman" panose="02020603050405020304" pitchFamily="18" charset="0"/>
                <a:cs typeface="Times New Roman" panose="02020603050405020304" pitchFamily="18" charset="0"/>
              </a:rPr>
              <a:t>2. Store registers to be saved in the allocated stack frame </a:t>
            </a:r>
            <a:r>
              <a:rPr lang="en-IN" sz="1800" b="0" i="0" u="none" strike="noStrike" baseline="0" dirty="0">
                <a:latin typeface="Times New Roman" panose="02020603050405020304" pitchFamily="18" charset="0"/>
                <a:cs typeface="Times New Roman" panose="02020603050405020304" pitchFamily="18" charset="0"/>
              </a:rPr>
              <a:t>(this optionally includes </a:t>
            </a:r>
            <a:r>
              <a:rPr lang="en-US" sz="1800" b="0" i="0" u="none" strike="noStrike" baseline="0" dirty="0">
                <a:latin typeface="Times New Roman" panose="02020603050405020304" pitchFamily="18" charset="0"/>
                <a:cs typeface="Times New Roman" panose="02020603050405020304" pitchFamily="18" charset="0"/>
              </a:rPr>
              <a:t>the s0/</a:t>
            </a:r>
            <a:r>
              <a:rPr lang="en-US" sz="1800" b="0" i="0" u="none" strike="noStrike" baseline="0" dirty="0" err="1">
                <a:latin typeface="Times New Roman" panose="02020603050405020304" pitchFamily="18" charset="0"/>
                <a:cs typeface="Times New Roman" panose="02020603050405020304" pitchFamily="18" charset="0"/>
              </a:rPr>
              <a:t>fp</a:t>
            </a:r>
            <a:r>
              <a:rPr lang="en-US" sz="1800" b="0" i="0" u="none" strike="noStrike" baseline="0" dirty="0">
                <a:latin typeface="Times New Roman" panose="02020603050405020304" pitchFamily="18" charset="0"/>
                <a:cs typeface="Times New Roman" panose="02020603050405020304" pitchFamily="18" charset="0"/>
              </a:rPr>
              <a:t> (x8) register).</a:t>
            </a:r>
          </a:p>
          <a:p>
            <a:pPr algn="l"/>
            <a:r>
              <a:rPr lang="en-US" sz="1800" b="0" i="0" u="none" strike="noStrike" baseline="0" dirty="0">
                <a:latin typeface="Times New Roman" panose="02020603050405020304" pitchFamily="18" charset="0"/>
                <a:cs typeface="Times New Roman" panose="02020603050405020304" pitchFamily="18" charset="0"/>
              </a:rPr>
              <a:t>3. Save register </a:t>
            </a:r>
            <a:r>
              <a:rPr lang="en-US" sz="1800" b="0" i="0" u="none" strike="noStrike" baseline="0" dirty="0" err="1">
                <a:latin typeface="Times New Roman" panose="02020603050405020304" pitchFamily="18" charset="0"/>
                <a:cs typeface="Times New Roman" panose="02020603050405020304" pitchFamily="18" charset="0"/>
              </a:rPr>
              <a:t>ra</a:t>
            </a:r>
            <a:r>
              <a:rPr lang="en-US" sz="1800" b="0" i="0" u="none" strike="noStrike" baseline="0" dirty="0">
                <a:latin typeface="Times New Roman" panose="02020603050405020304" pitchFamily="18" charset="0"/>
                <a:cs typeface="Times New Roman" panose="02020603050405020304" pitchFamily="18" charset="0"/>
              </a:rPr>
              <a:t> (x1) when the called routine calls or </a:t>
            </a:r>
            <a:r>
              <a:rPr lang="en-IN" sz="1800" b="0" i="0" u="none" strike="noStrike" baseline="0" dirty="0">
                <a:latin typeface="Times New Roman" panose="02020603050405020304" pitchFamily="18" charset="0"/>
                <a:cs typeface="Times New Roman" panose="02020603050405020304" pitchFamily="18" charset="0"/>
              </a:rPr>
              <a:t>reuses register </a:t>
            </a:r>
            <a:r>
              <a:rPr lang="en-IN" sz="1800" b="0" i="0" u="none" strike="noStrike" baseline="0" dirty="0" err="1">
                <a:latin typeface="Times New Roman" panose="02020603050405020304" pitchFamily="18" charset="0"/>
                <a:cs typeface="Times New Roman" panose="02020603050405020304" pitchFamily="18" charset="0"/>
              </a:rPr>
              <a:t>ra.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753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535F2-075D-4F7D-F890-4D0B74193773}"/>
              </a:ext>
            </a:extLst>
          </p:cNvPr>
          <p:cNvSpPr txBox="1"/>
          <p:nvPr/>
        </p:nvSpPr>
        <p:spPr>
          <a:xfrm>
            <a:off x="1579675" y="841410"/>
            <a:ext cx="8740589" cy="2554545"/>
          </a:xfrm>
          <a:prstGeom prst="rect">
            <a:avLst/>
          </a:prstGeom>
          <a:noFill/>
        </p:spPr>
        <p:txBody>
          <a:bodyPr wrap="square">
            <a:spAutoFit/>
          </a:bodyPr>
          <a:lstStyle/>
          <a:p>
            <a:pPr algn="l"/>
            <a:r>
              <a:rPr lang="en-IN" sz="2000" b="1" i="0" u="none" strike="noStrike" baseline="0" dirty="0">
                <a:latin typeface="Times New Roman" panose="02020603050405020304" pitchFamily="18" charset="0"/>
                <a:cs typeface="Times New Roman" panose="02020603050405020304" pitchFamily="18" charset="0"/>
              </a:rPr>
              <a:t>Epilogue</a:t>
            </a:r>
          </a:p>
          <a:p>
            <a:pPr algn="l"/>
            <a:r>
              <a:rPr lang="en-US" sz="2000" b="0" i="0" u="none" strike="noStrike" baseline="0" dirty="0">
                <a:latin typeface="Times New Roman" panose="02020603050405020304" pitchFamily="18" charset="0"/>
                <a:cs typeface="Times New Roman" panose="02020603050405020304" pitchFamily="18" charset="0"/>
              </a:rPr>
              <a:t>When it is time to return to the caller, the stack changes must be undone, and the necessary registers restored.</a:t>
            </a:r>
          </a:p>
          <a:p>
            <a:pPr algn="l"/>
            <a:r>
              <a:rPr lang="en-IN" sz="2000" b="0" i="0" u="none" strike="noStrike" baseline="0" dirty="0">
                <a:latin typeface="Times New Roman" panose="02020603050405020304" pitchFamily="18" charset="0"/>
                <a:cs typeface="Times New Roman" panose="02020603050405020304" pitchFamily="18" charset="0"/>
              </a:rPr>
              <a:t>This procedure consists of:</a:t>
            </a:r>
          </a:p>
          <a:p>
            <a:pPr algn="l"/>
            <a:r>
              <a:rPr lang="en-US" sz="2000" b="0" i="0" u="none" strike="noStrike" baseline="0" dirty="0">
                <a:latin typeface="Times New Roman" panose="02020603050405020304" pitchFamily="18" charset="0"/>
                <a:cs typeface="Times New Roman" panose="02020603050405020304" pitchFamily="18" charset="0"/>
              </a:rPr>
              <a:t>1. Reload saved registers (including optional s0/</a:t>
            </a:r>
            <a:r>
              <a:rPr lang="en-US" sz="2000" b="0" i="0" u="none" strike="noStrike" baseline="0" dirty="0" err="1">
                <a:latin typeface="Times New Roman" panose="02020603050405020304" pitchFamily="18" charset="0"/>
                <a:cs typeface="Times New Roman" panose="02020603050405020304" pitchFamily="18" charset="0"/>
              </a:rPr>
              <a:t>fp</a:t>
            </a:r>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2. Reload </a:t>
            </a:r>
            <a:r>
              <a:rPr lang="en-US" sz="2000" b="0" i="0" u="none" strike="noStrike" baseline="0" dirty="0" err="1">
                <a:latin typeface="Times New Roman" panose="02020603050405020304" pitchFamily="18" charset="0"/>
                <a:cs typeface="Times New Roman" panose="02020603050405020304" pitchFamily="18" charset="0"/>
              </a:rPr>
              <a:t>ra</a:t>
            </a:r>
            <a:r>
              <a:rPr lang="en-US" sz="2000" b="0" i="0" u="none" strike="noStrike" baseline="0" dirty="0">
                <a:latin typeface="Times New Roman" panose="02020603050405020304" pitchFamily="18" charset="0"/>
                <a:cs typeface="Times New Roman" panose="02020603050405020304" pitchFamily="18" charset="0"/>
              </a:rPr>
              <a:t> (if necessary).</a:t>
            </a:r>
          </a:p>
          <a:p>
            <a:pPr algn="l"/>
            <a:r>
              <a:rPr lang="en-US" sz="2000" b="0" i="0" u="none" strike="noStrike" baseline="0" dirty="0">
                <a:latin typeface="Times New Roman" panose="02020603050405020304" pitchFamily="18" charset="0"/>
                <a:cs typeface="Times New Roman" panose="02020603050405020304" pitchFamily="18" charset="0"/>
              </a:rPr>
              <a:t>3. Increment </a:t>
            </a:r>
            <a:r>
              <a:rPr lang="en-US" sz="2000" b="0" i="0" u="none" strike="noStrike" baseline="0" dirty="0" err="1">
                <a:latin typeface="Times New Roman" panose="02020603050405020304" pitchFamily="18" charset="0"/>
                <a:cs typeface="Times New Roman" panose="02020603050405020304" pitchFamily="18" charset="0"/>
              </a:rPr>
              <a:t>sp</a:t>
            </a:r>
            <a:r>
              <a:rPr lang="en-US" sz="2000" b="0" i="0" u="none" strike="noStrike" baseline="0" dirty="0">
                <a:latin typeface="Times New Roman" panose="02020603050405020304" pitchFamily="18" charset="0"/>
                <a:cs typeface="Times New Roman" panose="02020603050405020304" pitchFamily="18" charset="0"/>
              </a:rPr>
              <a:t> by the amount it was subtracted in the </a:t>
            </a:r>
            <a:r>
              <a:rPr lang="en-IN" sz="2000" b="0" i="0" u="none" strike="noStrike" baseline="0" dirty="0">
                <a:latin typeface="Times New Roman" panose="02020603050405020304" pitchFamily="18" charset="0"/>
                <a:cs typeface="Times New Roman" panose="02020603050405020304" pitchFamily="18" charset="0"/>
              </a:rPr>
              <a:t>prologue.</a:t>
            </a:r>
          </a:p>
          <a:p>
            <a:pPr algn="l"/>
            <a:r>
              <a:rPr lang="en-US" sz="2000" b="0" i="0" u="none" strike="noStrike" baseline="0" dirty="0">
                <a:latin typeface="Times New Roman" panose="02020603050405020304" pitchFamily="18" charset="0"/>
                <a:cs typeface="Times New Roman" panose="02020603050405020304" pitchFamily="18" charset="0"/>
              </a:rPr>
              <a:t>4. Return to the caller's address in register </a:t>
            </a:r>
            <a:r>
              <a:rPr lang="en-US" sz="2000" b="0" i="0" u="none" strike="noStrike" baseline="0" dirty="0" err="1">
                <a:latin typeface="Times New Roman" panose="02020603050405020304" pitchFamily="18" charset="0"/>
                <a:cs typeface="Times New Roman" panose="02020603050405020304" pitchFamily="18" charset="0"/>
              </a:rPr>
              <a:t>ra.</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6FF67F-6D3E-F41E-0FA0-B8173E38682D}"/>
              </a:ext>
            </a:extLst>
          </p:cNvPr>
          <p:cNvSpPr txBox="1"/>
          <p:nvPr/>
        </p:nvSpPr>
        <p:spPr>
          <a:xfrm>
            <a:off x="1579675" y="3697378"/>
            <a:ext cx="7637930" cy="2246769"/>
          </a:xfrm>
          <a:prstGeom prst="rect">
            <a:avLst/>
          </a:prstGeom>
          <a:noFill/>
        </p:spPr>
        <p:txBody>
          <a:bodyPr wrap="square">
            <a:spAutoFit/>
          </a:bodyPr>
          <a:lstStyle/>
          <a:p>
            <a:pPr algn="l"/>
            <a:r>
              <a:rPr lang="en-IN" sz="2000" b="1" i="0" u="none" strike="noStrike" baseline="0" dirty="0">
                <a:latin typeface="Times New Roman" panose="02020603050405020304" pitchFamily="18" charset="0"/>
                <a:cs typeface="Times New Roman" panose="02020603050405020304" pitchFamily="18" charset="0"/>
              </a:rPr>
              <a:t>Floating Point Arguments</a:t>
            </a:r>
          </a:p>
          <a:p>
            <a:pPr algn="l"/>
            <a:r>
              <a:rPr lang="en-US" sz="2000" b="0" i="0" u="none" strike="noStrike" baseline="0" dirty="0">
                <a:latin typeface="Times New Roman" panose="02020603050405020304" pitchFamily="18" charset="0"/>
                <a:cs typeface="Times New Roman" panose="02020603050405020304" pitchFamily="18" charset="0"/>
              </a:rPr>
              <a:t>When floating-point hardware is supported, they are passed in floating-point registers fa0 to fa7 similar to the way that integer values are passed.</a:t>
            </a:r>
          </a:p>
          <a:p>
            <a:pPr algn="l"/>
            <a:r>
              <a:rPr lang="en-IN" sz="2000" b="0" i="0" u="none" strike="noStrike" baseline="0" dirty="0">
                <a:latin typeface="Times New Roman" panose="02020603050405020304" pitchFamily="18" charset="0"/>
                <a:cs typeface="Times New Roman" panose="02020603050405020304" pitchFamily="18" charset="0"/>
              </a:rPr>
              <a:t>Returned floating-point values are returned in fa0.</a:t>
            </a:r>
          </a:p>
          <a:p>
            <a:pPr algn="l"/>
            <a:r>
              <a:rPr lang="en-US" sz="2000" b="0" i="0" u="none" strike="noStrike" baseline="0" dirty="0">
                <a:latin typeface="Times New Roman" panose="02020603050405020304" pitchFamily="18" charset="0"/>
                <a:cs typeface="Times New Roman" panose="02020603050405020304" pitchFamily="18" charset="0"/>
              </a:rPr>
              <a:t>When the floating-point data type is handled by software, those values are passed in the </a:t>
            </a:r>
            <a:r>
              <a:rPr lang="en-IN" sz="2000" b="0" i="0" u="none" strike="noStrike" baseline="0" dirty="0">
                <a:latin typeface="Times New Roman" panose="02020603050405020304" pitchFamily="18" charset="0"/>
                <a:cs typeface="Times New Roman" panose="02020603050405020304" pitchFamily="18" charset="0"/>
              </a:rPr>
              <a:t>usual integer registers instead.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1942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500F-8665-3B2B-8C20-7DC933B88DC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 Big Call Experiment</a:t>
            </a:r>
          </a:p>
        </p:txBody>
      </p:sp>
      <p:sp>
        <p:nvSpPr>
          <p:cNvPr id="5" name="TextBox 4">
            <a:extLst>
              <a:ext uri="{FF2B5EF4-FFF2-40B4-BE49-F238E27FC236}">
                <a16:creationId xmlns:a16="http://schemas.microsoft.com/office/drawing/2014/main" id="{B17C2815-931A-96D2-CFAB-FBE5FA1374C7}"/>
              </a:ext>
            </a:extLst>
          </p:cNvPr>
          <p:cNvSpPr txBox="1"/>
          <p:nvPr/>
        </p:nvSpPr>
        <p:spPr>
          <a:xfrm>
            <a:off x="838200" y="1690688"/>
            <a:ext cx="9781674" cy="923330"/>
          </a:xfrm>
          <a:prstGeom prst="rect">
            <a:avLst/>
          </a:prstGeom>
          <a:noFill/>
        </p:spPr>
        <p:txBody>
          <a:bodyPr wrap="square">
            <a:spAutoFit/>
          </a:bodyPr>
          <a:lstStyle/>
          <a:p>
            <a:pPr algn="l"/>
            <a:r>
              <a:rPr lang="en-US" dirty="0">
                <a:latin typeface="Times New Roman" panose="02020603050405020304" pitchFamily="18" charset="0"/>
                <a:cs typeface="Times New Roman" panose="02020603050405020304" pitchFamily="18" charset="0"/>
              </a:rPr>
              <a:t>L</a:t>
            </a:r>
            <a:r>
              <a:rPr lang="en-US" sz="1800" b="0" i="0" u="none" strike="noStrike" baseline="0" dirty="0">
                <a:latin typeface="Times New Roman" panose="02020603050405020304" pitchFamily="18" charset="0"/>
                <a:cs typeface="Times New Roman" panose="02020603050405020304" pitchFamily="18" charset="0"/>
              </a:rPr>
              <a:t>et's exercise a C main program calling the assembler routine </a:t>
            </a:r>
            <a:r>
              <a:rPr lang="en-US" sz="1800" b="0" i="0" u="none" strike="noStrike" baseline="0" dirty="0" err="1">
                <a:latin typeface="Times New Roman" panose="02020603050405020304" pitchFamily="18" charset="0"/>
                <a:cs typeface="Times New Roman" panose="02020603050405020304" pitchFamily="18" charset="0"/>
              </a:rPr>
              <a:t>bigcall</a:t>
            </a:r>
            <a:r>
              <a:rPr lang="en-US" sz="1800" b="0" i="0" u="none" strike="noStrike" baseline="0" dirty="0">
                <a:latin typeface="Times New Roman" panose="02020603050405020304" pitchFamily="18" charset="0"/>
                <a:cs typeface="Times New Roman" panose="02020603050405020304" pitchFamily="18" charset="0"/>
              </a:rPr>
              <a:t>(), with nine arguments of type int32_t and int64_t using the ESP32-C3.</a:t>
            </a:r>
          </a:p>
          <a:p>
            <a:pPr algn="l"/>
            <a:r>
              <a:rPr lang="en-US" sz="1800" b="0" i="0" u="none" strike="noStrike" baseline="0" dirty="0">
                <a:latin typeface="Times New Roman" panose="02020603050405020304" pitchFamily="18" charset="0"/>
                <a:cs typeface="Times New Roman" panose="02020603050405020304" pitchFamily="18" charset="0"/>
              </a:rPr>
              <a:t>Program - ~/</a:t>
            </a:r>
            <a:r>
              <a:rPr lang="en-US" sz="1800" b="0" i="0" u="none" strike="noStrike" baseline="0" dirty="0" err="1">
                <a:latin typeface="Times New Roman" panose="02020603050405020304" pitchFamily="18" charset="0"/>
                <a:cs typeface="Times New Roman" panose="02020603050405020304" pitchFamily="18" charset="0"/>
              </a:rPr>
              <a:t>riscv</a:t>
            </a:r>
            <a:r>
              <a:rPr lang="en-US" sz="1800" b="0" i="0" u="none" strike="noStrike" baseline="0" dirty="0">
                <a:latin typeface="Times New Roman" panose="02020603050405020304" pitchFamily="18" charset="0"/>
                <a:cs typeface="Times New Roman" panose="02020603050405020304" pitchFamily="18" charset="0"/>
              </a:rPr>
              <a:t>/repo/07/call/main/</a:t>
            </a:r>
            <a:r>
              <a:rPr lang="en-US" sz="1800" b="0" i="0" u="none" strike="noStrike" baseline="0" dirty="0" err="1">
                <a:latin typeface="Times New Roman" panose="02020603050405020304" pitchFamily="18" charset="0"/>
                <a:cs typeface="Times New Roman" panose="02020603050405020304" pitchFamily="18" charset="0"/>
              </a:rPr>
              <a:t>bigcall.S</a:t>
            </a:r>
            <a:r>
              <a:rPr lang="en-US" sz="1800" b="0" i="0" u="none" strike="noStrike" baseline="0" dirty="0">
                <a:latin typeface="Times New Roman" panose="02020603050405020304" pitchFamily="18" charset="0"/>
                <a:cs typeface="Times New Roman" panose="02020603050405020304" pitchFamily="18" charset="0"/>
              </a:rPr>
              <a:t>, assembler </a:t>
            </a:r>
            <a:r>
              <a:rPr lang="en-IN" sz="1800" b="0" i="0" u="none" strike="noStrike" baseline="0" dirty="0">
                <a:latin typeface="Times New Roman" panose="02020603050405020304" pitchFamily="18" charset="0"/>
                <a:cs typeface="Times New Roman" panose="02020603050405020304" pitchFamily="18" charset="0"/>
              </a:rPr>
              <a:t>module for </a:t>
            </a:r>
            <a:r>
              <a:rPr lang="en-IN" sz="1800" b="0" i="0" u="none" strike="noStrike" baseline="0" dirty="0" err="1">
                <a:latin typeface="Times New Roman" panose="02020603050405020304" pitchFamily="18" charset="0"/>
                <a:cs typeface="Times New Roman" panose="02020603050405020304" pitchFamily="18" charset="0"/>
              </a:rPr>
              <a:t>bigcall</a:t>
            </a:r>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5CF6CA8-69E5-E480-3BF1-683A7B15FD4F}"/>
              </a:ext>
            </a:extLst>
          </p:cNvPr>
          <p:cNvPicPr>
            <a:picLocks noChangeAspect="1"/>
          </p:cNvPicPr>
          <p:nvPr/>
        </p:nvPicPr>
        <p:blipFill>
          <a:blip r:embed="rId2"/>
          <a:stretch>
            <a:fillRect/>
          </a:stretch>
        </p:blipFill>
        <p:spPr>
          <a:xfrm>
            <a:off x="3513536" y="2614018"/>
            <a:ext cx="4431001" cy="4058653"/>
          </a:xfrm>
          <a:prstGeom prst="rect">
            <a:avLst/>
          </a:prstGeom>
        </p:spPr>
      </p:pic>
    </p:spTree>
    <p:extLst>
      <p:ext uri="{BB962C8B-B14F-4D97-AF65-F5344CB8AC3E}">
        <p14:creationId xmlns:p14="http://schemas.microsoft.com/office/powerpoint/2010/main" val="2352989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05F1AD-4D86-F522-1F69-12D23DC1C055}"/>
              </a:ext>
            </a:extLst>
          </p:cNvPr>
          <p:cNvSpPr txBox="1"/>
          <p:nvPr/>
        </p:nvSpPr>
        <p:spPr>
          <a:xfrm>
            <a:off x="898359" y="414771"/>
            <a:ext cx="6096000" cy="64633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/repo/07/call</a:t>
            </a:r>
          </a:p>
          <a:p>
            <a:pPr algn="l"/>
            <a:r>
              <a:rPr lang="en-IN" sz="1800" b="0" i="0" u="none" strike="noStrike" baseline="0" dirty="0">
                <a:latin typeface="Times New Roman" panose="02020603050405020304" pitchFamily="18" charset="0"/>
                <a:cs typeface="Times New Roman" panose="02020603050405020304" pitchFamily="18" charset="0"/>
              </a:rPr>
              <a:t>Build, flash monitor</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A3A6956-FC56-5D13-7F0A-1DCA4F566A0E}"/>
              </a:ext>
            </a:extLst>
          </p:cNvPr>
          <p:cNvPicPr>
            <a:picLocks noChangeAspect="1"/>
          </p:cNvPicPr>
          <p:nvPr/>
        </p:nvPicPr>
        <p:blipFill>
          <a:blip r:embed="rId2"/>
          <a:stretch>
            <a:fillRect/>
          </a:stretch>
        </p:blipFill>
        <p:spPr>
          <a:xfrm>
            <a:off x="1642055" y="1061102"/>
            <a:ext cx="9298661" cy="4940044"/>
          </a:xfrm>
          <a:prstGeom prst="rect">
            <a:avLst/>
          </a:prstGeom>
        </p:spPr>
      </p:pic>
      <p:sp>
        <p:nvSpPr>
          <p:cNvPr id="7" name="TextBox 6">
            <a:extLst>
              <a:ext uri="{FF2B5EF4-FFF2-40B4-BE49-F238E27FC236}">
                <a16:creationId xmlns:a16="http://schemas.microsoft.com/office/drawing/2014/main" id="{5ACBBC76-4C88-66D2-DEFE-A135EA64F057}"/>
              </a:ext>
            </a:extLst>
          </p:cNvPr>
          <p:cNvSpPr txBox="1"/>
          <p:nvPr/>
        </p:nvSpPr>
        <p:spPr>
          <a:xfrm>
            <a:off x="898359" y="6183753"/>
            <a:ext cx="6096000" cy="369332"/>
          </a:xfrm>
          <a:prstGeom prst="rect">
            <a:avLst/>
          </a:prstGeom>
          <a:noFill/>
        </p:spPr>
        <p:txBody>
          <a:bodyPr wrap="square">
            <a:spAutoFit/>
          </a:bodyPr>
          <a:lstStyle/>
          <a:p>
            <a:r>
              <a:rPr lang="en-IN" sz="1800" b="0" i="0" u="none" strike="noStrike" baseline="0" dirty="0">
                <a:latin typeface="Times New Roman" panose="02020603050405020304" pitchFamily="18" charset="0"/>
                <a:cs typeface="Times New Roman" panose="02020603050405020304" pitchFamily="18" charset="0"/>
              </a:rPr>
              <a:t>Success!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980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445B-C81C-5D0E-424A-D4C89340441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Calling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8C4A6F16-B139-AE86-DC48-D97A08D6EC87}"/>
              </a:ext>
            </a:extLst>
          </p:cNvPr>
          <p:cNvSpPr>
            <a:spLocks noGrp="1"/>
          </p:cNvSpPr>
          <p:nvPr>
            <p:ph idx="1"/>
          </p:nvPr>
        </p:nvSpPr>
        <p:spPr>
          <a:xfrm>
            <a:off x="838200" y="1687047"/>
            <a:ext cx="10515600" cy="4351338"/>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Main program, ~/</a:t>
            </a:r>
            <a:r>
              <a:rPr lang="en-US" dirty="0" err="1">
                <a:latin typeface="Times New Roman" panose="02020603050405020304" pitchFamily="18" charset="0"/>
                <a:cs typeface="Times New Roman" panose="02020603050405020304" pitchFamily="18" charset="0"/>
              </a:rPr>
              <a:t>riscv</a:t>
            </a:r>
            <a:r>
              <a:rPr lang="en-US" dirty="0">
                <a:latin typeface="Times New Roman" panose="02020603050405020304" pitchFamily="18" charset="0"/>
                <a:cs typeface="Times New Roman" panose="02020603050405020304" pitchFamily="18" charset="0"/>
              </a:rPr>
              <a:t>/repo/07/bigcall2/main/</a:t>
            </a:r>
            <a:r>
              <a:rPr lang="en-US" dirty="0" err="1">
                <a:latin typeface="Times New Roman" panose="02020603050405020304" pitchFamily="18" charset="0"/>
                <a:cs typeface="Times New Roman" panose="02020603050405020304" pitchFamily="18" charset="0"/>
              </a:rPr>
              <a:t>main.c</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ESP32-C3.</a:t>
            </a:r>
          </a:p>
          <a:p>
            <a:pPr marL="0" indent="0">
              <a:buNone/>
            </a:pPr>
            <a:r>
              <a:rPr lang="en-US" dirty="0">
                <a:latin typeface="Times New Roman" panose="02020603050405020304" pitchFamily="18" charset="0"/>
                <a:cs typeface="Times New Roman" panose="02020603050405020304" pitchFamily="18" charset="0"/>
              </a:rPr>
              <a:t>The program illustrated in Listing 7.6 is much the same as before with the following changes:</a:t>
            </a:r>
          </a:p>
          <a:p>
            <a:pPr marL="0" indent="0">
              <a:buNone/>
            </a:pPr>
            <a:r>
              <a:rPr lang="en-US" dirty="0">
                <a:latin typeface="Times New Roman" panose="02020603050405020304" pitchFamily="18" charset="0"/>
                <a:cs typeface="Times New Roman" panose="02020603050405020304" pitchFamily="18" charset="0"/>
              </a:rPr>
              <a:t>1. Line 36 moves the sum to register a1, to act as a second int argument to the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 call.</a:t>
            </a:r>
          </a:p>
          <a:p>
            <a:pPr marL="0" indent="0">
              <a:buNone/>
            </a:pPr>
            <a:r>
              <a:rPr lang="en-US" dirty="0">
                <a:latin typeface="Times New Roman" panose="02020603050405020304" pitchFamily="18" charset="0"/>
                <a:cs typeface="Times New Roman" panose="02020603050405020304" pitchFamily="18" charset="0"/>
              </a:rPr>
              <a:t>2. Line 40 uses the pseudo-op "la" to load an address into a0. This is the pointer to the format string to be passed to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3. Line 42 calls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with the arguments in registers a0 and a1. Recall that the call (by default) clobbers register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(x1) with the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return address, which is why the register was saved in the function prologue.</a:t>
            </a:r>
          </a:p>
          <a:p>
            <a:pPr marL="0" indent="0">
              <a:buNone/>
            </a:pPr>
            <a:r>
              <a:rPr lang="en-US" dirty="0">
                <a:latin typeface="Times New Roman" panose="02020603050405020304" pitchFamily="18" charset="0"/>
                <a:cs typeface="Times New Roman" panose="02020603050405020304" pitchFamily="18" charset="0"/>
              </a:rPr>
              <a:t>4. Line 43 handles the value returned by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and saves it in our stack variable var1. We don't actually use it here but it demonstrates the </a:t>
            </a:r>
            <a:r>
              <a:rPr lang="en-IN" dirty="0">
                <a:latin typeface="Times New Roman" panose="02020603050405020304" pitchFamily="18" charset="0"/>
                <a:cs typeface="Times New Roman" panose="02020603050405020304" pitchFamily="18" charset="0"/>
              </a:rPr>
              <a:t>use of a stack-based variable.</a:t>
            </a:r>
          </a:p>
          <a:p>
            <a:pPr marL="0" indent="0">
              <a:buNone/>
            </a:pPr>
            <a:r>
              <a:rPr lang="en-US" dirty="0">
                <a:latin typeface="Times New Roman" panose="02020603050405020304" pitchFamily="18" charset="0"/>
                <a:cs typeface="Times New Roman" panose="02020603050405020304" pitchFamily="18" charset="0"/>
              </a:rPr>
              <a:t>5. Lines 52 and 53 defi ne the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format string in a </a:t>
            </a:r>
            <a:r>
              <a:rPr lang="en-IN" dirty="0">
                <a:latin typeface="Times New Roman" panose="02020603050405020304" pitchFamily="18" charset="0"/>
                <a:cs typeface="Times New Roman" panose="02020603050405020304" pitchFamily="18" charset="0"/>
              </a:rPr>
              <a:t>read-only section used for literals.</a:t>
            </a:r>
          </a:p>
        </p:txBody>
      </p:sp>
    </p:spTree>
    <p:extLst>
      <p:ext uri="{BB962C8B-B14F-4D97-AF65-F5344CB8AC3E}">
        <p14:creationId xmlns:p14="http://schemas.microsoft.com/office/powerpoint/2010/main" val="1659468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5A6D97-C837-566D-A6ED-0D182B81C7A0}"/>
              </a:ext>
            </a:extLst>
          </p:cNvPr>
          <p:cNvSpPr txBox="1"/>
          <p:nvPr/>
        </p:nvSpPr>
        <p:spPr>
          <a:xfrm>
            <a:off x="882315" y="511024"/>
            <a:ext cx="6096000" cy="64633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/repo/07/bigcall2</a:t>
            </a:r>
          </a:p>
          <a:p>
            <a:pPr algn="l"/>
            <a:r>
              <a:rPr lang="en-IN" sz="1800" b="0" i="0" u="none" strike="noStrike" baseline="0" dirty="0">
                <a:latin typeface="Times New Roman" panose="02020603050405020304" pitchFamily="18" charset="0"/>
                <a:cs typeface="Times New Roman" panose="02020603050405020304" pitchFamily="18" charset="0"/>
              </a:rPr>
              <a:t>Build, flash monitor</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DCF47D6-04EF-CDD9-649C-E526DF250ED9}"/>
              </a:ext>
            </a:extLst>
          </p:cNvPr>
          <p:cNvPicPr>
            <a:picLocks noChangeAspect="1"/>
          </p:cNvPicPr>
          <p:nvPr/>
        </p:nvPicPr>
        <p:blipFill>
          <a:blip r:embed="rId2"/>
          <a:stretch>
            <a:fillRect/>
          </a:stretch>
        </p:blipFill>
        <p:spPr>
          <a:xfrm>
            <a:off x="1441308" y="1548430"/>
            <a:ext cx="9309384" cy="4798546"/>
          </a:xfrm>
          <a:prstGeom prst="rect">
            <a:avLst/>
          </a:prstGeom>
        </p:spPr>
      </p:pic>
    </p:spTree>
    <p:extLst>
      <p:ext uri="{BB962C8B-B14F-4D97-AF65-F5344CB8AC3E}">
        <p14:creationId xmlns:p14="http://schemas.microsoft.com/office/powerpoint/2010/main" val="1762361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36EE9-5AE3-C1C6-7217-A9F6F6F84646}"/>
              </a:ext>
            </a:extLst>
          </p:cNvPr>
          <p:cNvSpPr>
            <a:spLocks noGrp="1"/>
          </p:cNvSpPr>
          <p:nvPr>
            <p:ph type="title"/>
          </p:nvPr>
        </p:nvSpPr>
        <p:spPr>
          <a:xfrm>
            <a:off x="4718384" y="2841541"/>
            <a:ext cx="2755232" cy="1174917"/>
          </a:xfrm>
        </p:spPr>
        <p:txBody>
          <a:bodyPr>
            <a:normAutofit fontScale="90000"/>
          </a:bodyPr>
          <a:lstStyle/>
          <a:p>
            <a:r>
              <a:rPr lang="en-US"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4613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1863</Words>
  <Application>Microsoft Office PowerPoint</Application>
  <PresentationFormat>Widescreen</PresentationFormat>
  <Paragraphs>137</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PowerPoint Presentation</vt:lpstr>
      <vt:lpstr>Register Usage</vt:lpstr>
      <vt:lpstr>Call Procedure</vt:lpstr>
      <vt:lpstr>PowerPoint Presentation</vt:lpstr>
      <vt:lpstr>General Call Procedure</vt:lpstr>
      <vt:lpstr>Concrete Call Example</vt:lpstr>
      <vt:lpstr>Simple Call Experiment</vt:lpstr>
      <vt:lpstr>The same program exists for QEMU. build and run it as follows:</vt:lpstr>
      <vt:lpstr>PowerPoint Presentation</vt:lpstr>
      <vt:lpstr>Since the program is not running yet, let's start it: (gdb) r</vt:lpstr>
      <vt:lpstr>PowerPoint Presentation</vt:lpstr>
      <vt:lpstr>Argument Passing in Registers</vt:lpstr>
      <vt:lpstr>PowerPoint Presentation</vt:lpstr>
      <vt:lpstr>PowerPoint Presentation</vt:lpstr>
      <vt:lpstr>A Big Call Experiment</vt:lpstr>
      <vt:lpstr>PowerPoint Presentation</vt:lpstr>
      <vt:lpstr>Calling printf()</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雷迪</dc:creator>
  <cp:lastModifiedBy>雷迪</cp:lastModifiedBy>
  <cp:revision>3</cp:revision>
  <dcterms:created xsi:type="dcterms:W3CDTF">2025-08-01T06:57:32Z</dcterms:created>
  <dcterms:modified xsi:type="dcterms:W3CDTF">2025-08-01T07:47:36Z</dcterms:modified>
</cp:coreProperties>
</file>