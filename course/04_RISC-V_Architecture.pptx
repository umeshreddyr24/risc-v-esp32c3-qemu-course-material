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31" autoAdjust="0"/>
    <p:restoredTop sz="94660"/>
  </p:normalViewPr>
  <p:slideViewPr>
    <p:cSldViewPr snapToGrid="0">
      <p:cViewPr varScale="1">
        <p:scale>
          <a:sx n="90" d="100"/>
          <a:sy n="90" d="100"/>
        </p:scale>
        <p:origin x="38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65D54-1832-917A-6019-43BCD1B96A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DC60277-8E9C-A251-EE6E-ABA40F8E02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0E4CD73-AB88-4752-9FC2-84E6A1F1525B}"/>
              </a:ext>
            </a:extLst>
          </p:cNvPr>
          <p:cNvSpPr>
            <a:spLocks noGrp="1"/>
          </p:cNvSpPr>
          <p:nvPr>
            <p:ph type="dt" sz="half" idx="10"/>
          </p:nvPr>
        </p:nvSpPr>
        <p:spPr/>
        <p:txBody>
          <a:bodyPr/>
          <a:lstStyle/>
          <a:p>
            <a:fld id="{EA51B51D-C8B5-4951-A7EE-4B7229EF13C5}" type="datetimeFigureOut">
              <a:rPr lang="en-IN" smtClean="0"/>
              <a:t>28-07-2025</a:t>
            </a:fld>
            <a:endParaRPr lang="en-IN"/>
          </a:p>
        </p:txBody>
      </p:sp>
      <p:sp>
        <p:nvSpPr>
          <p:cNvPr id="5" name="Footer Placeholder 4">
            <a:extLst>
              <a:ext uri="{FF2B5EF4-FFF2-40B4-BE49-F238E27FC236}">
                <a16:creationId xmlns:a16="http://schemas.microsoft.com/office/drawing/2014/main" id="{23EEFA1F-1AC5-554F-7C96-22445082A8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88D5751-9986-DE30-0FE0-1203A477A009}"/>
              </a:ext>
            </a:extLst>
          </p:cNvPr>
          <p:cNvSpPr>
            <a:spLocks noGrp="1"/>
          </p:cNvSpPr>
          <p:nvPr>
            <p:ph type="sldNum" sz="quarter" idx="12"/>
          </p:nvPr>
        </p:nvSpPr>
        <p:spPr/>
        <p:txBody>
          <a:bodyPr/>
          <a:lstStyle/>
          <a:p>
            <a:fld id="{9C7DED35-B3C8-4503-8FB6-69F227840F0F}" type="slidenum">
              <a:rPr lang="en-IN" smtClean="0"/>
              <a:t>‹#›</a:t>
            </a:fld>
            <a:endParaRPr lang="en-IN"/>
          </a:p>
        </p:txBody>
      </p:sp>
    </p:spTree>
    <p:extLst>
      <p:ext uri="{BB962C8B-B14F-4D97-AF65-F5344CB8AC3E}">
        <p14:creationId xmlns:p14="http://schemas.microsoft.com/office/powerpoint/2010/main" val="3926876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D78D6-51C4-950D-DC21-6A575EAACB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690A86-1E19-AB06-0301-7237D433CA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DCDD0F-66E5-2DEF-AD6F-931A3587D309}"/>
              </a:ext>
            </a:extLst>
          </p:cNvPr>
          <p:cNvSpPr>
            <a:spLocks noGrp="1"/>
          </p:cNvSpPr>
          <p:nvPr>
            <p:ph type="dt" sz="half" idx="10"/>
          </p:nvPr>
        </p:nvSpPr>
        <p:spPr/>
        <p:txBody>
          <a:bodyPr/>
          <a:lstStyle/>
          <a:p>
            <a:fld id="{EA51B51D-C8B5-4951-A7EE-4B7229EF13C5}" type="datetimeFigureOut">
              <a:rPr lang="en-IN" smtClean="0"/>
              <a:t>28-07-2025</a:t>
            </a:fld>
            <a:endParaRPr lang="en-IN"/>
          </a:p>
        </p:txBody>
      </p:sp>
      <p:sp>
        <p:nvSpPr>
          <p:cNvPr id="5" name="Footer Placeholder 4">
            <a:extLst>
              <a:ext uri="{FF2B5EF4-FFF2-40B4-BE49-F238E27FC236}">
                <a16:creationId xmlns:a16="http://schemas.microsoft.com/office/drawing/2014/main" id="{A97D9286-33C8-DB8E-A75E-DFC40946336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FC71D3-4A8C-B089-2969-AA0CA60532C7}"/>
              </a:ext>
            </a:extLst>
          </p:cNvPr>
          <p:cNvSpPr>
            <a:spLocks noGrp="1"/>
          </p:cNvSpPr>
          <p:nvPr>
            <p:ph type="sldNum" sz="quarter" idx="12"/>
          </p:nvPr>
        </p:nvSpPr>
        <p:spPr/>
        <p:txBody>
          <a:bodyPr/>
          <a:lstStyle/>
          <a:p>
            <a:fld id="{9C7DED35-B3C8-4503-8FB6-69F227840F0F}" type="slidenum">
              <a:rPr lang="en-IN" smtClean="0"/>
              <a:t>‹#›</a:t>
            </a:fld>
            <a:endParaRPr lang="en-IN"/>
          </a:p>
        </p:txBody>
      </p:sp>
    </p:spTree>
    <p:extLst>
      <p:ext uri="{BB962C8B-B14F-4D97-AF65-F5344CB8AC3E}">
        <p14:creationId xmlns:p14="http://schemas.microsoft.com/office/powerpoint/2010/main" val="1499603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1E260-C12A-EC01-2C6A-0F8099582F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2BE7C05-99CB-37B1-BF74-E5A5B77462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4D3F13-4EEC-C4A7-7343-D11945A9F33A}"/>
              </a:ext>
            </a:extLst>
          </p:cNvPr>
          <p:cNvSpPr>
            <a:spLocks noGrp="1"/>
          </p:cNvSpPr>
          <p:nvPr>
            <p:ph type="dt" sz="half" idx="10"/>
          </p:nvPr>
        </p:nvSpPr>
        <p:spPr/>
        <p:txBody>
          <a:bodyPr/>
          <a:lstStyle/>
          <a:p>
            <a:fld id="{EA51B51D-C8B5-4951-A7EE-4B7229EF13C5}" type="datetimeFigureOut">
              <a:rPr lang="en-IN" smtClean="0"/>
              <a:t>28-07-2025</a:t>
            </a:fld>
            <a:endParaRPr lang="en-IN"/>
          </a:p>
        </p:txBody>
      </p:sp>
      <p:sp>
        <p:nvSpPr>
          <p:cNvPr id="5" name="Footer Placeholder 4">
            <a:extLst>
              <a:ext uri="{FF2B5EF4-FFF2-40B4-BE49-F238E27FC236}">
                <a16:creationId xmlns:a16="http://schemas.microsoft.com/office/drawing/2014/main" id="{A88C1BB0-10C1-AE04-E6F4-223D427044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76BB02-C133-4F53-26FC-EEB98CBD73A8}"/>
              </a:ext>
            </a:extLst>
          </p:cNvPr>
          <p:cNvSpPr>
            <a:spLocks noGrp="1"/>
          </p:cNvSpPr>
          <p:nvPr>
            <p:ph type="sldNum" sz="quarter" idx="12"/>
          </p:nvPr>
        </p:nvSpPr>
        <p:spPr/>
        <p:txBody>
          <a:bodyPr/>
          <a:lstStyle/>
          <a:p>
            <a:fld id="{9C7DED35-B3C8-4503-8FB6-69F227840F0F}" type="slidenum">
              <a:rPr lang="en-IN" smtClean="0"/>
              <a:t>‹#›</a:t>
            </a:fld>
            <a:endParaRPr lang="en-IN"/>
          </a:p>
        </p:txBody>
      </p:sp>
    </p:spTree>
    <p:extLst>
      <p:ext uri="{BB962C8B-B14F-4D97-AF65-F5344CB8AC3E}">
        <p14:creationId xmlns:p14="http://schemas.microsoft.com/office/powerpoint/2010/main" val="2404817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D415F-3D6D-B337-85C8-89606FF39F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141BEA7-CA94-1C65-2836-F78ABB9511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443A0D8-EE52-E974-1705-F71717AF8C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DAD394-8400-B599-808D-98384695A4CF}"/>
              </a:ext>
            </a:extLst>
          </p:cNvPr>
          <p:cNvSpPr>
            <a:spLocks noGrp="1"/>
          </p:cNvSpPr>
          <p:nvPr>
            <p:ph type="dt" sz="half" idx="10"/>
          </p:nvPr>
        </p:nvSpPr>
        <p:spPr/>
        <p:txBody>
          <a:bodyPr/>
          <a:lstStyle/>
          <a:p>
            <a:fld id="{EA51B51D-C8B5-4951-A7EE-4B7229EF13C5}" type="datetimeFigureOut">
              <a:rPr lang="en-IN" smtClean="0"/>
              <a:t>28-07-2025</a:t>
            </a:fld>
            <a:endParaRPr lang="en-IN"/>
          </a:p>
        </p:txBody>
      </p:sp>
      <p:sp>
        <p:nvSpPr>
          <p:cNvPr id="6" name="Footer Placeholder 5">
            <a:extLst>
              <a:ext uri="{FF2B5EF4-FFF2-40B4-BE49-F238E27FC236}">
                <a16:creationId xmlns:a16="http://schemas.microsoft.com/office/drawing/2014/main" id="{B49CB4D2-E6FE-963D-00BB-FFEFB6F9C05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358A6E-BDD6-0DBB-3431-BB17A181A9C3}"/>
              </a:ext>
            </a:extLst>
          </p:cNvPr>
          <p:cNvSpPr>
            <a:spLocks noGrp="1"/>
          </p:cNvSpPr>
          <p:nvPr>
            <p:ph type="sldNum" sz="quarter" idx="12"/>
          </p:nvPr>
        </p:nvSpPr>
        <p:spPr/>
        <p:txBody>
          <a:bodyPr/>
          <a:lstStyle/>
          <a:p>
            <a:fld id="{9C7DED35-B3C8-4503-8FB6-69F227840F0F}" type="slidenum">
              <a:rPr lang="en-IN" smtClean="0"/>
              <a:t>‹#›</a:t>
            </a:fld>
            <a:endParaRPr lang="en-IN"/>
          </a:p>
        </p:txBody>
      </p:sp>
    </p:spTree>
    <p:extLst>
      <p:ext uri="{BB962C8B-B14F-4D97-AF65-F5344CB8AC3E}">
        <p14:creationId xmlns:p14="http://schemas.microsoft.com/office/powerpoint/2010/main" val="1263870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B0BEA-CBEE-BA36-2F2C-4DE72A259F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0765A1-2730-643D-D536-0F676C6B0B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A1E205-3454-374B-37CA-69F6BC37F4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BA48A5A-2062-8AF7-0AA5-B71BF6564C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947AE2F-3F74-0959-C86C-88F62B3454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399326B-D833-09CB-F750-C02A7186303E}"/>
              </a:ext>
            </a:extLst>
          </p:cNvPr>
          <p:cNvSpPr>
            <a:spLocks noGrp="1"/>
          </p:cNvSpPr>
          <p:nvPr>
            <p:ph type="dt" sz="half" idx="10"/>
          </p:nvPr>
        </p:nvSpPr>
        <p:spPr/>
        <p:txBody>
          <a:bodyPr/>
          <a:lstStyle/>
          <a:p>
            <a:fld id="{EA51B51D-C8B5-4951-A7EE-4B7229EF13C5}" type="datetimeFigureOut">
              <a:rPr lang="en-IN" smtClean="0"/>
              <a:t>28-07-2025</a:t>
            </a:fld>
            <a:endParaRPr lang="en-IN"/>
          </a:p>
        </p:txBody>
      </p:sp>
      <p:sp>
        <p:nvSpPr>
          <p:cNvPr id="8" name="Footer Placeholder 7">
            <a:extLst>
              <a:ext uri="{FF2B5EF4-FFF2-40B4-BE49-F238E27FC236}">
                <a16:creationId xmlns:a16="http://schemas.microsoft.com/office/drawing/2014/main" id="{5953CDE2-8295-F023-34A5-DD22029A75A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4B977AD-FA57-3767-8DE8-445CCA8BB203}"/>
              </a:ext>
            </a:extLst>
          </p:cNvPr>
          <p:cNvSpPr>
            <a:spLocks noGrp="1"/>
          </p:cNvSpPr>
          <p:nvPr>
            <p:ph type="sldNum" sz="quarter" idx="12"/>
          </p:nvPr>
        </p:nvSpPr>
        <p:spPr/>
        <p:txBody>
          <a:bodyPr/>
          <a:lstStyle/>
          <a:p>
            <a:fld id="{9C7DED35-B3C8-4503-8FB6-69F227840F0F}" type="slidenum">
              <a:rPr lang="en-IN" smtClean="0"/>
              <a:t>‹#›</a:t>
            </a:fld>
            <a:endParaRPr lang="en-IN"/>
          </a:p>
        </p:txBody>
      </p:sp>
    </p:spTree>
    <p:extLst>
      <p:ext uri="{BB962C8B-B14F-4D97-AF65-F5344CB8AC3E}">
        <p14:creationId xmlns:p14="http://schemas.microsoft.com/office/powerpoint/2010/main" val="838006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3DBCD-D535-3CCD-AF23-D81937C83F5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EB49D5-7ABC-CA72-F746-9C709087FD2A}"/>
              </a:ext>
            </a:extLst>
          </p:cNvPr>
          <p:cNvSpPr>
            <a:spLocks noGrp="1"/>
          </p:cNvSpPr>
          <p:nvPr>
            <p:ph type="dt" sz="half" idx="10"/>
          </p:nvPr>
        </p:nvSpPr>
        <p:spPr/>
        <p:txBody>
          <a:bodyPr/>
          <a:lstStyle/>
          <a:p>
            <a:fld id="{EA51B51D-C8B5-4951-A7EE-4B7229EF13C5}" type="datetimeFigureOut">
              <a:rPr lang="en-IN" smtClean="0"/>
              <a:t>28-07-2025</a:t>
            </a:fld>
            <a:endParaRPr lang="en-IN"/>
          </a:p>
        </p:txBody>
      </p:sp>
      <p:sp>
        <p:nvSpPr>
          <p:cNvPr id="4" name="Footer Placeholder 3">
            <a:extLst>
              <a:ext uri="{FF2B5EF4-FFF2-40B4-BE49-F238E27FC236}">
                <a16:creationId xmlns:a16="http://schemas.microsoft.com/office/drawing/2014/main" id="{117DA083-12C3-4358-8EB1-34615E62D6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3424129-8F6B-53B1-195A-A321DF1B6482}"/>
              </a:ext>
            </a:extLst>
          </p:cNvPr>
          <p:cNvSpPr>
            <a:spLocks noGrp="1"/>
          </p:cNvSpPr>
          <p:nvPr>
            <p:ph type="sldNum" sz="quarter" idx="12"/>
          </p:nvPr>
        </p:nvSpPr>
        <p:spPr/>
        <p:txBody>
          <a:bodyPr/>
          <a:lstStyle/>
          <a:p>
            <a:fld id="{9C7DED35-B3C8-4503-8FB6-69F227840F0F}" type="slidenum">
              <a:rPr lang="en-IN" smtClean="0"/>
              <a:t>‹#›</a:t>
            </a:fld>
            <a:endParaRPr lang="en-IN"/>
          </a:p>
        </p:txBody>
      </p:sp>
    </p:spTree>
    <p:extLst>
      <p:ext uri="{BB962C8B-B14F-4D97-AF65-F5344CB8AC3E}">
        <p14:creationId xmlns:p14="http://schemas.microsoft.com/office/powerpoint/2010/main" val="3015387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D69433-9BED-9FA3-DE96-B7B8415057B8}"/>
              </a:ext>
            </a:extLst>
          </p:cNvPr>
          <p:cNvSpPr>
            <a:spLocks noGrp="1"/>
          </p:cNvSpPr>
          <p:nvPr>
            <p:ph type="dt" sz="half" idx="10"/>
          </p:nvPr>
        </p:nvSpPr>
        <p:spPr/>
        <p:txBody>
          <a:bodyPr/>
          <a:lstStyle/>
          <a:p>
            <a:fld id="{EA51B51D-C8B5-4951-A7EE-4B7229EF13C5}" type="datetimeFigureOut">
              <a:rPr lang="en-IN" smtClean="0"/>
              <a:t>28-07-2025</a:t>
            </a:fld>
            <a:endParaRPr lang="en-IN"/>
          </a:p>
        </p:txBody>
      </p:sp>
      <p:sp>
        <p:nvSpPr>
          <p:cNvPr id="3" name="Footer Placeholder 2">
            <a:extLst>
              <a:ext uri="{FF2B5EF4-FFF2-40B4-BE49-F238E27FC236}">
                <a16:creationId xmlns:a16="http://schemas.microsoft.com/office/drawing/2014/main" id="{6CC263A6-E20E-37F0-097A-FCF91DE234C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E7801C9-5DCC-FCB2-ADEF-80E97075F55B}"/>
              </a:ext>
            </a:extLst>
          </p:cNvPr>
          <p:cNvSpPr>
            <a:spLocks noGrp="1"/>
          </p:cNvSpPr>
          <p:nvPr>
            <p:ph type="sldNum" sz="quarter" idx="12"/>
          </p:nvPr>
        </p:nvSpPr>
        <p:spPr/>
        <p:txBody>
          <a:bodyPr/>
          <a:lstStyle/>
          <a:p>
            <a:fld id="{9C7DED35-B3C8-4503-8FB6-69F227840F0F}" type="slidenum">
              <a:rPr lang="en-IN" smtClean="0"/>
              <a:t>‹#›</a:t>
            </a:fld>
            <a:endParaRPr lang="en-IN"/>
          </a:p>
        </p:txBody>
      </p:sp>
    </p:spTree>
    <p:extLst>
      <p:ext uri="{BB962C8B-B14F-4D97-AF65-F5344CB8AC3E}">
        <p14:creationId xmlns:p14="http://schemas.microsoft.com/office/powerpoint/2010/main" val="416505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75334-B5D7-CCC1-4C40-7282B49D19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BB0FF94-390E-BBE6-54E4-4567D2B8AE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4D64C2-B63A-EDA9-5110-F9035BB2C1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8E21A5-E28D-6597-02B7-3E2F97A4E546}"/>
              </a:ext>
            </a:extLst>
          </p:cNvPr>
          <p:cNvSpPr>
            <a:spLocks noGrp="1"/>
          </p:cNvSpPr>
          <p:nvPr>
            <p:ph type="dt" sz="half" idx="10"/>
          </p:nvPr>
        </p:nvSpPr>
        <p:spPr/>
        <p:txBody>
          <a:bodyPr/>
          <a:lstStyle/>
          <a:p>
            <a:fld id="{EA51B51D-C8B5-4951-A7EE-4B7229EF13C5}" type="datetimeFigureOut">
              <a:rPr lang="en-IN" smtClean="0"/>
              <a:t>28-07-2025</a:t>
            </a:fld>
            <a:endParaRPr lang="en-IN"/>
          </a:p>
        </p:txBody>
      </p:sp>
      <p:sp>
        <p:nvSpPr>
          <p:cNvPr id="6" name="Footer Placeholder 5">
            <a:extLst>
              <a:ext uri="{FF2B5EF4-FFF2-40B4-BE49-F238E27FC236}">
                <a16:creationId xmlns:a16="http://schemas.microsoft.com/office/drawing/2014/main" id="{7AA4C920-FEF0-A5DC-B56C-5084E931CA8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7CAB78-1B56-46AF-4E95-1EDFE78CC321}"/>
              </a:ext>
            </a:extLst>
          </p:cNvPr>
          <p:cNvSpPr>
            <a:spLocks noGrp="1"/>
          </p:cNvSpPr>
          <p:nvPr>
            <p:ph type="sldNum" sz="quarter" idx="12"/>
          </p:nvPr>
        </p:nvSpPr>
        <p:spPr/>
        <p:txBody>
          <a:bodyPr/>
          <a:lstStyle/>
          <a:p>
            <a:fld id="{9C7DED35-B3C8-4503-8FB6-69F227840F0F}" type="slidenum">
              <a:rPr lang="en-IN" smtClean="0"/>
              <a:t>‹#›</a:t>
            </a:fld>
            <a:endParaRPr lang="en-IN"/>
          </a:p>
        </p:txBody>
      </p:sp>
    </p:spTree>
    <p:extLst>
      <p:ext uri="{BB962C8B-B14F-4D97-AF65-F5344CB8AC3E}">
        <p14:creationId xmlns:p14="http://schemas.microsoft.com/office/powerpoint/2010/main" val="3350657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C5CB9-86F0-5835-25BF-C10E5FA580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0D1B8A3-44C0-9350-AB78-FD74DDA3C5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6D08750-2D5A-89CD-FB2D-6CABC392CE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B24854-2A5C-0C72-9B68-106D9509A108}"/>
              </a:ext>
            </a:extLst>
          </p:cNvPr>
          <p:cNvSpPr>
            <a:spLocks noGrp="1"/>
          </p:cNvSpPr>
          <p:nvPr>
            <p:ph type="dt" sz="half" idx="10"/>
          </p:nvPr>
        </p:nvSpPr>
        <p:spPr/>
        <p:txBody>
          <a:bodyPr/>
          <a:lstStyle/>
          <a:p>
            <a:fld id="{EA51B51D-C8B5-4951-A7EE-4B7229EF13C5}" type="datetimeFigureOut">
              <a:rPr lang="en-IN" smtClean="0"/>
              <a:t>28-07-2025</a:t>
            </a:fld>
            <a:endParaRPr lang="en-IN"/>
          </a:p>
        </p:txBody>
      </p:sp>
      <p:sp>
        <p:nvSpPr>
          <p:cNvPr id="6" name="Footer Placeholder 5">
            <a:extLst>
              <a:ext uri="{FF2B5EF4-FFF2-40B4-BE49-F238E27FC236}">
                <a16:creationId xmlns:a16="http://schemas.microsoft.com/office/drawing/2014/main" id="{5417B3C7-4C02-6656-132D-EAF1E4BF219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10379D-1B32-10B1-5B78-18DF3F982F6A}"/>
              </a:ext>
            </a:extLst>
          </p:cNvPr>
          <p:cNvSpPr>
            <a:spLocks noGrp="1"/>
          </p:cNvSpPr>
          <p:nvPr>
            <p:ph type="sldNum" sz="quarter" idx="12"/>
          </p:nvPr>
        </p:nvSpPr>
        <p:spPr/>
        <p:txBody>
          <a:bodyPr/>
          <a:lstStyle/>
          <a:p>
            <a:fld id="{9C7DED35-B3C8-4503-8FB6-69F227840F0F}" type="slidenum">
              <a:rPr lang="en-IN" smtClean="0"/>
              <a:t>‹#›</a:t>
            </a:fld>
            <a:endParaRPr lang="en-IN"/>
          </a:p>
        </p:txBody>
      </p:sp>
    </p:spTree>
    <p:extLst>
      <p:ext uri="{BB962C8B-B14F-4D97-AF65-F5344CB8AC3E}">
        <p14:creationId xmlns:p14="http://schemas.microsoft.com/office/powerpoint/2010/main" val="2484738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C1647-8F39-3D09-551B-F03DF92D7A4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1736406-A247-CC55-29AF-E45EED6D8B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A601BA-C340-EF07-37FD-0CF671C91078}"/>
              </a:ext>
            </a:extLst>
          </p:cNvPr>
          <p:cNvSpPr>
            <a:spLocks noGrp="1"/>
          </p:cNvSpPr>
          <p:nvPr>
            <p:ph type="dt" sz="half" idx="10"/>
          </p:nvPr>
        </p:nvSpPr>
        <p:spPr/>
        <p:txBody>
          <a:bodyPr/>
          <a:lstStyle/>
          <a:p>
            <a:fld id="{EA51B51D-C8B5-4951-A7EE-4B7229EF13C5}" type="datetimeFigureOut">
              <a:rPr lang="en-IN" smtClean="0"/>
              <a:t>28-07-2025</a:t>
            </a:fld>
            <a:endParaRPr lang="en-IN"/>
          </a:p>
        </p:txBody>
      </p:sp>
      <p:sp>
        <p:nvSpPr>
          <p:cNvPr id="5" name="Footer Placeholder 4">
            <a:extLst>
              <a:ext uri="{FF2B5EF4-FFF2-40B4-BE49-F238E27FC236}">
                <a16:creationId xmlns:a16="http://schemas.microsoft.com/office/drawing/2014/main" id="{61628916-D502-B652-EE30-888B2617074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14ADC51-8C10-CDE6-C02F-5A632D094CBA}"/>
              </a:ext>
            </a:extLst>
          </p:cNvPr>
          <p:cNvSpPr>
            <a:spLocks noGrp="1"/>
          </p:cNvSpPr>
          <p:nvPr>
            <p:ph type="sldNum" sz="quarter" idx="12"/>
          </p:nvPr>
        </p:nvSpPr>
        <p:spPr/>
        <p:txBody>
          <a:bodyPr/>
          <a:lstStyle/>
          <a:p>
            <a:fld id="{9C7DED35-B3C8-4503-8FB6-69F227840F0F}" type="slidenum">
              <a:rPr lang="en-IN" smtClean="0"/>
              <a:t>‹#›</a:t>
            </a:fld>
            <a:endParaRPr lang="en-IN"/>
          </a:p>
        </p:txBody>
      </p:sp>
    </p:spTree>
    <p:extLst>
      <p:ext uri="{BB962C8B-B14F-4D97-AF65-F5344CB8AC3E}">
        <p14:creationId xmlns:p14="http://schemas.microsoft.com/office/powerpoint/2010/main" val="3461144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771F5C-308F-D96C-5F26-6907A73693E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918FE0D-1081-B8FE-58AB-78300D4BAA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7A699A-B3C5-36FD-DF15-45514E2687E6}"/>
              </a:ext>
            </a:extLst>
          </p:cNvPr>
          <p:cNvSpPr>
            <a:spLocks noGrp="1"/>
          </p:cNvSpPr>
          <p:nvPr>
            <p:ph type="dt" sz="half" idx="10"/>
          </p:nvPr>
        </p:nvSpPr>
        <p:spPr/>
        <p:txBody>
          <a:bodyPr/>
          <a:lstStyle/>
          <a:p>
            <a:fld id="{EA51B51D-C8B5-4951-A7EE-4B7229EF13C5}" type="datetimeFigureOut">
              <a:rPr lang="en-IN" smtClean="0"/>
              <a:t>28-07-2025</a:t>
            </a:fld>
            <a:endParaRPr lang="en-IN"/>
          </a:p>
        </p:txBody>
      </p:sp>
      <p:sp>
        <p:nvSpPr>
          <p:cNvPr id="5" name="Footer Placeholder 4">
            <a:extLst>
              <a:ext uri="{FF2B5EF4-FFF2-40B4-BE49-F238E27FC236}">
                <a16:creationId xmlns:a16="http://schemas.microsoft.com/office/drawing/2014/main" id="{7A18E8BB-0B3E-87B5-730E-9E6C2B1E02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031097-9392-EBCD-1EDF-50F4BAB7A0D3}"/>
              </a:ext>
            </a:extLst>
          </p:cNvPr>
          <p:cNvSpPr>
            <a:spLocks noGrp="1"/>
          </p:cNvSpPr>
          <p:nvPr>
            <p:ph type="sldNum" sz="quarter" idx="12"/>
          </p:nvPr>
        </p:nvSpPr>
        <p:spPr/>
        <p:txBody>
          <a:bodyPr/>
          <a:lstStyle/>
          <a:p>
            <a:fld id="{9C7DED35-B3C8-4503-8FB6-69F227840F0F}" type="slidenum">
              <a:rPr lang="en-IN" smtClean="0"/>
              <a:t>‹#›</a:t>
            </a:fld>
            <a:endParaRPr lang="en-IN"/>
          </a:p>
        </p:txBody>
      </p:sp>
    </p:spTree>
    <p:extLst>
      <p:ext uri="{BB962C8B-B14F-4D97-AF65-F5344CB8AC3E}">
        <p14:creationId xmlns:p14="http://schemas.microsoft.com/office/powerpoint/2010/main" val="28536390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A9176A-8FDC-9607-3F0D-B2ED5907DE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6D8A3AA-0569-15A3-E889-EB486DCF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523DCD-52AA-98CA-0262-A8F87CFF76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51B51D-C8B5-4951-A7EE-4B7229EF13C5}" type="datetimeFigureOut">
              <a:rPr lang="en-IN" smtClean="0"/>
              <a:t>28-07-2025</a:t>
            </a:fld>
            <a:endParaRPr lang="en-IN"/>
          </a:p>
        </p:txBody>
      </p:sp>
      <p:sp>
        <p:nvSpPr>
          <p:cNvPr id="5" name="Footer Placeholder 4">
            <a:extLst>
              <a:ext uri="{FF2B5EF4-FFF2-40B4-BE49-F238E27FC236}">
                <a16:creationId xmlns:a16="http://schemas.microsoft.com/office/drawing/2014/main" id="{0090D85E-8B44-8D6E-2BD3-3B8714F5A9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6B4533E-C9F4-8032-2010-2C5D168B88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7DED35-B3C8-4503-8FB6-69F227840F0F}" type="slidenum">
              <a:rPr lang="en-IN" smtClean="0"/>
              <a:t>‹#›</a:t>
            </a:fld>
            <a:endParaRPr lang="en-IN"/>
          </a:p>
        </p:txBody>
      </p:sp>
    </p:spTree>
    <p:extLst>
      <p:ext uri="{BB962C8B-B14F-4D97-AF65-F5344CB8AC3E}">
        <p14:creationId xmlns:p14="http://schemas.microsoft.com/office/powerpoint/2010/main" val="7724128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8">
            <a:extLst>
              <a:ext uri="{FF2B5EF4-FFF2-40B4-BE49-F238E27FC236}">
                <a16:creationId xmlns:a16="http://schemas.microsoft.com/office/drawing/2014/main" id="{328DA802-C8B4-1FBC-D4FE-8E04CE855E07}"/>
              </a:ext>
            </a:extLst>
          </p:cNvPr>
          <p:cNvSpPr/>
          <p:nvPr/>
        </p:nvSpPr>
        <p:spPr>
          <a:xfrm>
            <a:off x="8382000" y="377185"/>
            <a:ext cx="3130032" cy="545682"/>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
        <p:nvSpPr>
          <p:cNvPr id="9" name="TextBox 10">
            <a:extLst>
              <a:ext uri="{FF2B5EF4-FFF2-40B4-BE49-F238E27FC236}">
                <a16:creationId xmlns:a16="http://schemas.microsoft.com/office/drawing/2014/main" id="{DF89B18A-AA40-6ED3-7779-66922672D0A9}"/>
              </a:ext>
            </a:extLst>
          </p:cNvPr>
          <p:cNvSpPr txBox="1"/>
          <p:nvPr/>
        </p:nvSpPr>
        <p:spPr>
          <a:xfrm>
            <a:off x="604696" y="927972"/>
            <a:ext cx="6619064" cy="658898"/>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5604"/>
              </a:lnSpc>
            </a:pPr>
            <a:r>
              <a:rPr lang="en-US" sz="4002" dirty="0">
                <a:solidFill>
                  <a:srgbClr val="000000"/>
                </a:solidFill>
                <a:latin typeface="Times New Roman" panose="02020603050405020304" pitchFamily="18" charset="0"/>
                <a:cs typeface="Times New Roman" panose="02020603050405020304" pitchFamily="18" charset="0"/>
              </a:rPr>
              <a:t>Presentation by Yi-</a:t>
            </a:r>
            <a:r>
              <a:rPr lang="en-US" sz="4002" dirty="0" err="1">
                <a:solidFill>
                  <a:srgbClr val="000000"/>
                </a:solidFill>
                <a:latin typeface="Times New Roman" panose="02020603050405020304" pitchFamily="18" charset="0"/>
                <a:cs typeface="Times New Roman" panose="02020603050405020304" pitchFamily="18" charset="0"/>
              </a:rPr>
              <a:t>Chih</a:t>
            </a:r>
            <a:r>
              <a:rPr lang="en-US" sz="4002" dirty="0">
                <a:solidFill>
                  <a:srgbClr val="000000"/>
                </a:solidFill>
                <a:latin typeface="Times New Roman" panose="02020603050405020304" pitchFamily="18" charset="0"/>
                <a:cs typeface="Times New Roman" panose="02020603050405020304" pitchFamily="18" charset="0"/>
              </a:rPr>
              <a:t> Tung</a:t>
            </a:r>
          </a:p>
        </p:txBody>
      </p:sp>
      <p:sp>
        <p:nvSpPr>
          <p:cNvPr id="10" name="TextBox 9">
            <a:extLst>
              <a:ext uri="{FF2B5EF4-FFF2-40B4-BE49-F238E27FC236}">
                <a16:creationId xmlns:a16="http://schemas.microsoft.com/office/drawing/2014/main" id="{04D5CF2F-5FBD-67D4-B46B-87965DA8721D}"/>
              </a:ext>
            </a:extLst>
          </p:cNvPr>
          <p:cNvSpPr txBox="1"/>
          <p:nvPr/>
        </p:nvSpPr>
        <p:spPr>
          <a:xfrm>
            <a:off x="604696" y="1586870"/>
            <a:ext cx="3939689" cy="1053750"/>
          </a:xfrm>
          <a:prstGeom prst="rect">
            <a:avLst/>
          </a:prstGeom>
        </p:spPr>
        <p:txBody>
          <a:bodyPr wrap="square" lIns="0" tIns="0"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9021"/>
              </a:lnSpc>
            </a:pPr>
            <a:r>
              <a:rPr lang="en-US" sz="6444" dirty="0">
                <a:solidFill>
                  <a:srgbClr val="000000"/>
                </a:solidFill>
                <a:latin typeface="Times New Roman" panose="02020603050405020304" pitchFamily="18" charset="0"/>
                <a:cs typeface="Times New Roman" panose="02020603050405020304" pitchFamily="18" charset="0"/>
              </a:rPr>
              <a:t>Chapter 4</a:t>
            </a:r>
          </a:p>
        </p:txBody>
      </p:sp>
      <p:sp>
        <p:nvSpPr>
          <p:cNvPr id="12" name="TextBox 11">
            <a:extLst>
              <a:ext uri="{FF2B5EF4-FFF2-40B4-BE49-F238E27FC236}">
                <a16:creationId xmlns:a16="http://schemas.microsoft.com/office/drawing/2014/main" id="{8D4AC286-2937-87E1-4ED9-3A07AE2C2D6E}"/>
              </a:ext>
            </a:extLst>
          </p:cNvPr>
          <p:cNvSpPr txBox="1"/>
          <p:nvPr/>
        </p:nvSpPr>
        <p:spPr>
          <a:xfrm>
            <a:off x="604696" y="2798106"/>
            <a:ext cx="1894664"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Architecture</a:t>
            </a:r>
          </a:p>
        </p:txBody>
      </p:sp>
    </p:spTree>
    <p:extLst>
      <p:ext uri="{BB962C8B-B14F-4D97-AF65-F5344CB8AC3E}">
        <p14:creationId xmlns:p14="http://schemas.microsoft.com/office/powerpoint/2010/main" val="1897431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97E289-1E6D-B28F-FC3D-578A8FB543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3497" y="964385"/>
            <a:ext cx="4525006" cy="2572109"/>
          </a:xfrm>
          <a:prstGeom prst="rect">
            <a:avLst/>
          </a:prstGeom>
        </p:spPr>
      </p:pic>
      <p:sp>
        <p:nvSpPr>
          <p:cNvPr id="5" name="TextBox 4">
            <a:extLst>
              <a:ext uri="{FF2B5EF4-FFF2-40B4-BE49-F238E27FC236}">
                <a16:creationId xmlns:a16="http://schemas.microsoft.com/office/drawing/2014/main" id="{BA1EBFE9-3AD2-9568-B26C-9F21454AAE1A}"/>
              </a:ext>
            </a:extLst>
          </p:cNvPr>
          <p:cNvSpPr txBox="1"/>
          <p:nvPr/>
        </p:nvSpPr>
        <p:spPr>
          <a:xfrm>
            <a:off x="1546860" y="4083507"/>
            <a:ext cx="9098280" cy="1938992"/>
          </a:xfrm>
          <a:prstGeom prst="rect">
            <a:avLst/>
          </a:prstGeom>
          <a:noFill/>
        </p:spPr>
        <p:txBody>
          <a:bodyPr wrap="square">
            <a:spAutoFit/>
          </a:bodyPr>
          <a:lstStyle/>
          <a:p>
            <a:pPr algn="just"/>
            <a:r>
              <a:rPr lang="en-US" sz="2400" dirty="0">
                <a:latin typeface="Times New Roman" panose="02020603050405020304" pitchFamily="18" charset="0"/>
                <a:cs typeface="Times New Roman" panose="02020603050405020304" pitchFamily="18" charset="0"/>
              </a:rPr>
              <a:t>Before a programmer can program in assembly language, he/she needs to know something about the machine's architecture. What registers are available? What flag bits are evaluated? How is memory accessed? What are the available opcodes? In short, we need to know how the machine is organized</a:t>
            </a:r>
            <a:endParaRPr lang="en-IN" sz="2400" dirty="0">
              <a:latin typeface="Times New Roman" panose="02020603050405020304" pitchFamily="18" charset="0"/>
              <a:cs typeface="Times New Roman" panose="02020603050405020304" pitchFamily="18" charset="0"/>
            </a:endParaRPr>
          </a:p>
        </p:txBody>
      </p:sp>
      <p:sp>
        <p:nvSpPr>
          <p:cNvPr id="2" name="Freeform 8">
            <a:extLst>
              <a:ext uri="{FF2B5EF4-FFF2-40B4-BE49-F238E27FC236}">
                <a16:creationId xmlns:a16="http://schemas.microsoft.com/office/drawing/2014/main" id="{030812D2-784E-A6D0-A68A-F413F75013B1}"/>
              </a:ext>
            </a:extLst>
          </p:cNvPr>
          <p:cNvSpPr/>
          <p:nvPr/>
        </p:nvSpPr>
        <p:spPr>
          <a:xfrm>
            <a:off x="8758518" y="289819"/>
            <a:ext cx="3130032" cy="545682"/>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3"/>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4115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04E86F-5B09-E6A7-EE79-472A7D43B580}"/>
              </a:ext>
            </a:extLst>
          </p:cNvPr>
          <p:cNvSpPr txBox="1"/>
          <p:nvPr/>
        </p:nvSpPr>
        <p:spPr>
          <a:xfrm>
            <a:off x="658585" y="1283764"/>
            <a:ext cx="10874829" cy="3785652"/>
          </a:xfrm>
          <a:prstGeom prst="rect">
            <a:avLst/>
          </a:prstGeom>
          <a:noFill/>
        </p:spPr>
        <p:txBody>
          <a:bodyPr wrap="square">
            <a:spAutoFit/>
          </a:bodyPr>
          <a:lstStyle/>
          <a:p>
            <a:pPr algn="just"/>
            <a:r>
              <a:rPr lang="en-US" sz="2400" b="1" dirty="0">
                <a:latin typeface="Times New Roman" panose="02020603050405020304" pitchFamily="18" charset="0"/>
                <a:cs typeface="Times New Roman" panose="02020603050405020304" pitchFamily="18" charset="0"/>
              </a:rPr>
              <a:t>Welcome to the Machine! </a:t>
            </a:r>
          </a:p>
          <a:p>
            <a:pPr algn="just"/>
            <a:r>
              <a:rPr lang="en-US" sz="2400" dirty="0">
                <a:latin typeface="Times New Roman" panose="02020603050405020304" pitchFamily="18" charset="0"/>
                <a:cs typeface="Times New Roman" panose="02020603050405020304" pitchFamily="18" charset="0"/>
              </a:rPr>
              <a:t>The best part of assembly language is the fact that you have full control over "the machine". You're not specifying C language code that is indirectly re-interpreted by the compiler into the machine's native language. You're specifying to the machine exactly what you want it to do. But to do that, you need to know about the resources that you have available.</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RISC-V value of XLEN is the number of bits for the </a:t>
            </a:r>
            <a:r>
              <a:rPr lang="en-US" sz="2400" dirty="0" err="1">
                <a:latin typeface="Times New Roman" panose="02020603050405020304" pitchFamily="18" charset="0"/>
                <a:cs typeface="Times New Roman" panose="02020603050405020304" pitchFamily="18" charset="0"/>
              </a:rPr>
              <a:t>corre</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sponding</a:t>
            </a:r>
            <a:r>
              <a:rPr lang="en-US" sz="2400" dirty="0">
                <a:latin typeface="Times New Roman" panose="02020603050405020304" pitchFamily="18" charset="0"/>
                <a:cs typeface="Times New Roman" panose="02020603050405020304" pitchFamily="18" charset="0"/>
              </a:rPr>
              <a:t> architecture. For the ESP32-C3 for example, XLEN is 32 (for 32 bits). For the QEMU emulated RISC-V 64-bit CPU, XLEN is 64 bits. So let's start with the program counter register.</a:t>
            </a:r>
            <a:endParaRPr lang="en-IN" sz="2400" dirty="0">
              <a:latin typeface="Times New Roman" panose="02020603050405020304" pitchFamily="18" charset="0"/>
              <a:cs typeface="Times New Roman" panose="02020603050405020304" pitchFamily="18" charset="0"/>
            </a:endParaRPr>
          </a:p>
        </p:txBody>
      </p:sp>
      <p:sp>
        <p:nvSpPr>
          <p:cNvPr id="2" name="Freeform 8">
            <a:extLst>
              <a:ext uri="{FF2B5EF4-FFF2-40B4-BE49-F238E27FC236}">
                <a16:creationId xmlns:a16="http://schemas.microsoft.com/office/drawing/2014/main" id="{EBE45FA9-24B8-77A0-7578-9C9AD1D0EC65}"/>
              </a:ext>
            </a:extLst>
          </p:cNvPr>
          <p:cNvSpPr/>
          <p:nvPr/>
        </p:nvSpPr>
        <p:spPr>
          <a:xfrm>
            <a:off x="8382000" y="377185"/>
            <a:ext cx="3130032" cy="545682"/>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2177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E9B724-AA82-1FAF-F59D-E08B80013628}"/>
              </a:ext>
            </a:extLst>
          </p:cNvPr>
          <p:cNvSpPr txBox="1"/>
          <p:nvPr/>
        </p:nvSpPr>
        <p:spPr>
          <a:xfrm>
            <a:off x="746352" y="2817206"/>
            <a:ext cx="6098720" cy="3170099"/>
          </a:xfrm>
          <a:prstGeom prst="rect">
            <a:avLst/>
          </a:prstGeom>
          <a:noFill/>
        </p:spPr>
        <p:txBody>
          <a:bodyPr wrap="square">
            <a:spAutoFit/>
          </a:bodyPr>
          <a:lstStyle/>
          <a:p>
            <a:pPr algn="just"/>
            <a:endParaRPr lang="en-IN" sz="2000" b="1"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Endianness</a:t>
            </a:r>
            <a:endParaRPr lang="en-IN" sz="2000" b="1" dirty="0">
              <a:latin typeface="Times New Roman" panose="02020603050405020304" pitchFamily="18" charset="0"/>
              <a:cs typeface="Times New Roman" panose="02020603050405020304" pitchFamily="18" charset="0"/>
            </a:endParaRPr>
          </a:p>
          <a:p>
            <a:pPr algn="just"/>
            <a:endParaRPr lang="en-IN" sz="20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RISC-V memory architecture is little endian based and is byte addressable. Little endian means that a word (of 4 bytes) orders the bytes with least significant bytes first (lowest addressable unit). The last (highest addressed) byte of the word is the most significant byte. Figure illustrates two 32-bit words with byte addresses and their word values at right.</a:t>
            </a:r>
            <a:endParaRPr lang="en-IN" sz="20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EED9D10-49F5-BEC9-A833-9E332D814666}"/>
              </a:ext>
            </a:extLst>
          </p:cNvPr>
          <p:cNvSpPr txBox="1"/>
          <p:nvPr/>
        </p:nvSpPr>
        <p:spPr>
          <a:xfrm>
            <a:off x="746352" y="403392"/>
            <a:ext cx="10699296" cy="2246769"/>
          </a:xfrm>
          <a:prstGeom prst="rect">
            <a:avLst/>
          </a:prstGeom>
          <a:noFill/>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Program Counter Register</a:t>
            </a:r>
          </a:p>
          <a:p>
            <a:pPr algn="just"/>
            <a:endParaRPr lang="en-IN" sz="20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Every CPU includes a program counter (PC) register. Unless an instruction is branching, this counter increments to form the address of the next instruction to perform. Standard RISC-V instructions have a 32-bit word length and must be aligned on 32-bit boundaries. There is provision for extending the instruction set to include variable length instructions based upon parcels of half-words (16-bits), which then must be half-word aligned. This allows for compressed instructions.</a:t>
            </a:r>
            <a:endParaRPr lang="en-IN" sz="2000" b="1"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8361AD13-46D0-80F6-F3AC-87B07B1965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45072" y="3429000"/>
            <a:ext cx="5046246" cy="2472934"/>
          </a:xfrm>
          <a:prstGeom prst="rect">
            <a:avLst/>
          </a:prstGeom>
        </p:spPr>
      </p:pic>
      <p:sp>
        <p:nvSpPr>
          <p:cNvPr id="2" name="Freeform 8">
            <a:extLst>
              <a:ext uri="{FF2B5EF4-FFF2-40B4-BE49-F238E27FC236}">
                <a16:creationId xmlns:a16="http://schemas.microsoft.com/office/drawing/2014/main" id="{5F210108-B57D-E0F9-246E-D09492ED33CD}"/>
              </a:ext>
            </a:extLst>
          </p:cNvPr>
          <p:cNvSpPr/>
          <p:nvPr/>
        </p:nvSpPr>
        <p:spPr>
          <a:xfrm>
            <a:off x="8462682" y="236347"/>
            <a:ext cx="3130032" cy="545682"/>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3"/>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4418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15FAE2-0943-1FA0-DBBF-84320ACA4EF4}"/>
              </a:ext>
            </a:extLst>
          </p:cNvPr>
          <p:cNvSpPr txBox="1"/>
          <p:nvPr/>
        </p:nvSpPr>
        <p:spPr>
          <a:xfrm>
            <a:off x="1138989" y="537228"/>
            <a:ext cx="9737557" cy="5324535"/>
          </a:xfrm>
          <a:prstGeom prst="rect">
            <a:avLst/>
          </a:prstGeom>
          <a:noFill/>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General Purpose Registers</a:t>
            </a:r>
          </a:p>
          <a:p>
            <a:pPr algn="just"/>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Most Central Processing Units (CPU) designs today include one or more operation registers. The operations occur between registers or between registers and memory. Registers are similar to memory words except that they are instantly available to the CPU and fast. Mem </a:t>
            </a:r>
            <a:r>
              <a:rPr lang="en-US" sz="2000" dirty="0" err="1">
                <a:latin typeface="Times New Roman" panose="02020603050405020304" pitchFamily="18" charset="0"/>
                <a:cs typeface="Times New Roman" panose="02020603050405020304" pitchFamily="18" charset="0"/>
              </a:rPr>
              <a:t>ory</a:t>
            </a:r>
            <a:r>
              <a:rPr lang="en-US" sz="2000" dirty="0">
                <a:latin typeface="Times New Roman" panose="02020603050405020304" pitchFamily="18" charset="0"/>
                <a:cs typeface="Times New Roman" panose="02020603050405020304" pitchFamily="18" charset="0"/>
              </a:rPr>
              <a:t> fetches or stores by contrast require more time to complete.</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width of the register is defined by constant XLEN in the given architecture. So, registers are 32-bits wide for the ESP32-C3 where XLEN=32. Registers are 64-bits wide for the QEMU emulated CPU where XLEN=64. For most architectural subsets have 32 general purpose registers available. These are known as registers X0 through X31</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Introducing Subsets</a:t>
            </a:r>
          </a:p>
          <a:p>
            <a:pPr algn="just"/>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most basic architectural subset is RV32I. This defines the most basic opcodes, register set and memory operations as a "base architecture". The "32" indicates that the </a:t>
            </a:r>
            <a:r>
              <a:rPr lang="en-US" sz="2000" dirty="0" err="1">
                <a:latin typeface="Times New Roman" panose="02020603050405020304" pitchFamily="18" charset="0"/>
                <a:cs typeface="Times New Roman" panose="02020603050405020304" pitchFamily="18" charset="0"/>
              </a:rPr>
              <a:t>architec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tural</a:t>
            </a:r>
            <a:r>
              <a:rPr lang="en-US" sz="2000" dirty="0">
                <a:latin typeface="Times New Roman" panose="02020603050405020304" pitchFamily="18" charset="0"/>
                <a:cs typeface="Times New Roman" panose="02020603050405020304" pitchFamily="18" charset="0"/>
              </a:rPr>
              <a:t> width, is 32 bits (XLEN=32). So, in RV32I we know that the register size is 32 bits wide.</a:t>
            </a:r>
            <a:endParaRPr lang="en-IN" sz="2000" dirty="0">
              <a:latin typeface="Times New Roman" panose="02020603050405020304" pitchFamily="18" charset="0"/>
              <a:cs typeface="Times New Roman" panose="02020603050405020304" pitchFamily="18" charset="0"/>
            </a:endParaRPr>
          </a:p>
        </p:txBody>
      </p:sp>
      <p:sp>
        <p:nvSpPr>
          <p:cNvPr id="2" name="Freeform 8">
            <a:extLst>
              <a:ext uri="{FF2B5EF4-FFF2-40B4-BE49-F238E27FC236}">
                <a16:creationId xmlns:a16="http://schemas.microsoft.com/office/drawing/2014/main" id="{A76BBAEB-37F1-F9F5-32D1-59B323393CD9}"/>
              </a:ext>
            </a:extLst>
          </p:cNvPr>
          <p:cNvSpPr/>
          <p:nvPr/>
        </p:nvSpPr>
        <p:spPr>
          <a:xfrm>
            <a:off x="8543365" y="275344"/>
            <a:ext cx="3130032" cy="523768"/>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3509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6B992A-56B4-9EF0-1510-1DB8FB8CF1DE}"/>
              </a:ext>
            </a:extLst>
          </p:cNvPr>
          <p:cNvSpPr txBox="1"/>
          <p:nvPr/>
        </p:nvSpPr>
        <p:spPr>
          <a:xfrm>
            <a:off x="721894" y="2787314"/>
            <a:ext cx="5325980" cy="2246769"/>
          </a:xfrm>
          <a:prstGeom prst="rect">
            <a:avLst/>
          </a:prstGeom>
          <a:noFill/>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Register Specifics</a:t>
            </a:r>
            <a:endParaRPr lang="en-US" sz="2000" b="1"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There are 32 basic registers provided by RV32I and RV64I. These are known by symbolic names x0 to x31. The usage described in that table are according to the GNU compiler convention for RISC-V.</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874794B-DBA4-8E08-FD4B-648E9BDB2388}"/>
              </a:ext>
            </a:extLst>
          </p:cNvPr>
          <p:cNvSpPr txBox="1"/>
          <p:nvPr/>
        </p:nvSpPr>
        <p:spPr>
          <a:xfrm>
            <a:off x="721894" y="662879"/>
            <a:ext cx="10924673" cy="132343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A minimal RISC-V 64-bit implementation is defined as the RV64I subset. This expands upon RV32I by widening the registers to 64 bits (XLEN=64). A few additional operations are add ed to allow for loading and storing of 64-bit register values. There also exists the RV32E subset for use in embedded processors where minimum cost and low power are the focus.</a:t>
            </a:r>
          </a:p>
        </p:txBody>
      </p:sp>
      <p:pic>
        <p:nvPicPr>
          <p:cNvPr id="7" name="Picture 6">
            <a:extLst>
              <a:ext uri="{FF2B5EF4-FFF2-40B4-BE49-F238E27FC236}">
                <a16:creationId xmlns:a16="http://schemas.microsoft.com/office/drawing/2014/main" id="{8F37785B-A74C-4D09-E044-3E762040F8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4128" y="2371328"/>
            <a:ext cx="5633153" cy="3564250"/>
          </a:xfrm>
          <a:prstGeom prst="rect">
            <a:avLst/>
          </a:prstGeom>
        </p:spPr>
      </p:pic>
      <p:sp>
        <p:nvSpPr>
          <p:cNvPr id="2" name="Freeform 8">
            <a:extLst>
              <a:ext uri="{FF2B5EF4-FFF2-40B4-BE49-F238E27FC236}">
                <a16:creationId xmlns:a16="http://schemas.microsoft.com/office/drawing/2014/main" id="{71B30FF3-49F9-350C-C83E-AD1FA2255656}"/>
              </a:ext>
            </a:extLst>
          </p:cNvPr>
          <p:cNvSpPr/>
          <p:nvPr/>
        </p:nvSpPr>
        <p:spPr>
          <a:xfrm>
            <a:off x="721894" y="5922280"/>
            <a:ext cx="3130032" cy="545682"/>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3"/>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517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1A563A-3613-F64F-9559-D8CF2AAC2C7A}"/>
              </a:ext>
            </a:extLst>
          </p:cNvPr>
          <p:cNvSpPr txBox="1"/>
          <p:nvPr/>
        </p:nvSpPr>
        <p:spPr>
          <a:xfrm>
            <a:off x="810126" y="920621"/>
            <a:ext cx="10571747" cy="5016758"/>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register x0 (zero) is special to RISC-V in that it always returns the value zero when used as a source register or discards a value when it is used as a destination.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remainder of registers, from x1 to x32 are each XLEN bits wide and can be used as source or destination.</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rightmost column of Table indicates who saves the register when saving is required, according to the GNU calling convention. Either the calling code (caller) or the called code (callee) must save the register, if it is modified. Registers marked with "-" like registers </a:t>
            </a:r>
            <a:r>
              <a:rPr lang="en-US" sz="2000" dirty="0" err="1">
                <a:latin typeface="Times New Roman" panose="02020603050405020304" pitchFamily="18" charset="0"/>
                <a:cs typeface="Times New Roman" panose="02020603050405020304" pitchFamily="18" charset="0"/>
              </a:rPr>
              <a:t>gp</a:t>
            </a:r>
            <a:r>
              <a:rPr lang="en-US" sz="2000" dirty="0">
                <a:latin typeface="Times New Roman" panose="02020603050405020304" pitchFamily="18" charset="0"/>
                <a:cs typeface="Times New Roman" panose="02020603050405020304" pitchFamily="18" charset="0"/>
              </a:rPr>
              <a:t> or </a:t>
            </a:r>
            <a:r>
              <a:rPr lang="en-US" sz="2000" dirty="0" err="1">
                <a:latin typeface="Times New Roman" panose="02020603050405020304" pitchFamily="18" charset="0"/>
                <a:cs typeface="Times New Roman" panose="02020603050405020304" pitchFamily="18" charset="0"/>
              </a:rPr>
              <a:t>tp</a:t>
            </a:r>
            <a:r>
              <a:rPr lang="en-US" sz="2000" dirty="0">
                <a:latin typeface="Times New Roman" panose="02020603050405020304" pitchFamily="18" charset="0"/>
                <a:cs typeface="Times New Roman" panose="02020603050405020304" pitchFamily="18" charset="0"/>
              </a:rPr>
              <a:t>, have no requirement for being preserved. The description field indicates how these registers are typically used.</a:t>
            </a:r>
          </a:p>
          <a:p>
            <a:pPr algn="just"/>
            <a:endParaRPr lang="en-US"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1. No Flag Bits</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One unique characteristic of the RISC-V architecture is that it does not define a status reg </a:t>
            </a:r>
            <a:r>
              <a:rPr lang="en-US" sz="2000" dirty="0" err="1">
                <a:latin typeface="Times New Roman" panose="02020603050405020304" pitchFamily="18" charset="0"/>
                <a:cs typeface="Times New Roman" panose="02020603050405020304" pitchFamily="18" charset="0"/>
              </a:rPr>
              <a:t>ister</a:t>
            </a:r>
            <a:r>
              <a:rPr lang="en-US" sz="2000" dirty="0">
                <a:latin typeface="Times New Roman" panose="02020603050405020304" pitchFamily="18" charset="0"/>
                <a:cs typeface="Times New Roman" panose="02020603050405020304" pitchFamily="18" charset="0"/>
              </a:rPr>
              <a:t> containing any "flag bits". Many architectures like Intel, define a Z (zero), C (carry) and other flag bits that are updated during the execution of some opcodes. The benefit of flag bits is that a ready computed state is made available.</a:t>
            </a:r>
            <a:endParaRPr lang="en-IN" sz="2000" dirty="0">
              <a:latin typeface="Times New Roman" panose="02020603050405020304" pitchFamily="18" charset="0"/>
              <a:cs typeface="Times New Roman" panose="02020603050405020304" pitchFamily="18" charset="0"/>
            </a:endParaRPr>
          </a:p>
        </p:txBody>
      </p:sp>
      <p:sp>
        <p:nvSpPr>
          <p:cNvPr id="2" name="Freeform 8">
            <a:extLst>
              <a:ext uri="{FF2B5EF4-FFF2-40B4-BE49-F238E27FC236}">
                <a16:creationId xmlns:a16="http://schemas.microsoft.com/office/drawing/2014/main" id="{D490855F-AEC7-605E-04A0-630C1D6C13A3}"/>
              </a:ext>
            </a:extLst>
          </p:cNvPr>
          <p:cNvSpPr/>
          <p:nvPr/>
        </p:nvSpPr>
        <p:spPr>
          <a:xfrm>
            <a:off x="8570259" y="269608"/>
            <a:ext cx="3130032" cy="545682"/>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6474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0892A6-BD59-2802-4902-7AF2D350FDB7}"/>
              </a:ext>
            </a:extLst>
          </p:cNvPr>
          <p:cNvSpPr txBox="1"/>
          <p:nvPr/>
        </p:nvSpPr>
        <p:spPr>
          <a:xfrm>
            <a:off x="689810" y="521186"/>
            <a:ext cx="10828421" cy="5940088"/>
          </a:xfrm>
          <a:prstGeom prst="rect">
            <a:avLst/>
          </a:prstGeom>
          <a:noFill/>
        </p:spPr>
        <p:txBody>
          <a:bodyPr wrap="square">
            <a:spAutoFit/>
          </a:bodyPr>
          <a:lstStyle/>
          <a:p>
            <a:pPr algn="just"/>
            <a:r>
              <a:rPr lang="en-IN" sz="2000" dirty="0">
                <a:latin typeface="Times New Roman" panose="02020603050405020304" pitchFamily="18" charset="0"/>
                <a:cs typeface="Times New Roman" panose="02020603050405020304" pitchFamily="18" charset="0"/>
              </a:rPr>
              <a:t>2. Register x0 / Zero</a:t>
            </a:r>
          </a:p>
          <a:p>
            <a:pPr algn="just"/>
            <a:r>
              <a:rPr lang="en-US" sz="2000" dirty="0">
                <a:latin typeface="Times New Roman" panose="02020603050405020304" pitchFamily="18" charset="0"/>
                <a:cs typeface="Times New Roman" panose="02020603050405020304" pitchFamily="18" charset="0"/>
              </a:rPr>
              <a:t>When used as a source register, it always sup plies a binary value of zero. When used as a destination register, it discards the result. This is a hard-wired feature of the CPU and cannot be changed. This special talent of x0 will frequently allow creativity in the computed results.</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3. </a:t>
            </a:r>
            <a:r>
              <a:rPr lang="en-US" sz="2000" dirty="0">
                <a:latin typeface="Times New Roman" panose="02020603050405020304" pitchFamily="18" charset="0"/>
                <a:cs typeface="Times New Roman" panose="02020603050405020304" pitchFamily="18" charset="0"/>
              </a:rPr>
              <a:t>Register x1 / </a:t>
            </a:r>
            <a:r>
              <a:rPr lang="en-US" sz="2000" dirty="0" err="1">
                <a:latin typeface="Times New Roman" panose="02020603050405020304" pitchFamily="18" charset="0"/>
                <a:cs typeface="Times New Roman" panose="02020603050405020304" pitchFamily="18" charset="0"/>
              </a:rPr>
              <a:t>ra</a:t>
            </a:r>
            <a:r>
              <a:rPr lang="en-US" sz="2000" dirty="0">
                <a:latin typeface="Times New Roman" panose="02020603050405020304" pitchFamily="18" charset="0"/>
                <a:cs typeface="Times New Roman" panose="02020603050405020304" pitchFamily="18" charset="0"/>
              </a:rPr>
              <a:t> - This register is traditionally used as the return address register. </a:t>
            </a: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4. </a:t>
            </a:r>
            <a:r>
              <a:rPr lang="en-US" sz="2000" dirty="0">
                <a:latin typeface="Times New Roman" panose="02020603050405020304" pitchFamily="18" charset="0"/>
                <a:cs typeface="Times New Roman" panose="02020603050405020304" pitchFamily="18" charset="0"/>
              </a:rPr>
              <a:t>Register x2 / </a:t>
            </a:r>
            <a:r>
              <a:rPr lang="en-US" sz="2000" dirty="0" err="1">
                <a:latin typeface="Times New Roman" panose="02020603050405020304" pitchFamily="18" charset="0"/>
                <a:cs typeface="Times New Roman" panose="02020603050405020304" pitchFamily="18" charset="0"/>
              </a:rPr>
              <a:t>sp</a:t>
            </a:r>
            <a:r>
              <a:rPr lang="en-US" sz="2000" dirty="0">
                <a:latin typeface="Times New Roman" panose="02020603050405020304" pitchFamily="18" charset="0"/>
                <a:cs typeface="Times New Roman" panose="02020603050405020304" pitchFamily="18" charset="0"/>
              </a:rPr>
              <a:t> - The x2 or </a:t>
            </a:r>
            <a:r>
              <a:rPr lang="en-US" sz="2000" dirty="0" err="1">
                <a:latin typeface="Times New Roman" panose="02020603050405020304" pitchFamily="18" charset="0"/>
                <a:cs typeface="Times New Roman" panose="02020603050405020304" pitchFamily="18" charset="0"/>
              </a:rPr>
              <a:t>sp</a:t>
            </a:r>
            <a:r>
              <a:rPr lang="en-US" sz="2000" dirty="0">
                <a:latin typeface="Times New Roman" panose="02020603050405020304" pitchFamily="18" charset="0"/>
                <a:cs typeface="Times New Roman" panose="02020603050405020304" pitchFamily="18" charset="0"/>
              </a:rPr>
              <a:t> register is used as the stack pointer</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5. </a:t>
            </a:r>
            <a:r>
              <a:rPr lang="en-IN" sz="2000" dirty="0">
                <a:latin typeface="Times New Roman" panose="02020603050405020304" pitchFamily="18" charset="0"/>
                <a:cs typeface="Times New Roman" panose="02020603050405020304" pitchFamily="18" charset="0"/>
              </a:rPr>
              <a:t>Register x3 / </a:t>
            </a:r>
            <a:r>
              <a:rPr lang="en-IN" sz="2000" dirty="0" err="1">
                <a:latin typeface="Times New Roman" panose="02020603050405020304" pitchFamily="18" charset="0"/>
                <a:cs typeface="Times New Roman" panose="02020603050405020304" pitchFamily="18" charset="0"/>
              </a:rPr>
              <a:t>gp</a:t>
            </a:r>
            <a:r>
              <a:rPr lang="en-US" sz="2000" dirty="0">
                <a:latin typeface="Times New Roman" panose="02020603050405020304" pitchFamily="18" charset="0"/>
                <a:cs typeface="Times New Roman" panose="02020603050405020304" pitchFamily="18" charset="0"/>
              </a:rPr>
              <a:t> - </a:t>
            </a:r>
            <a:r>
              <a:rPr lang="en-IN" sz="2000" dirty="0">
                <a:latin typeface="Times New Roman" panose="02020603050405020304" pitchFamily="18" charset="0"/>
                <a:cs typeface="Times New Roman" panose="02020603050405020304" pitchFamily="18" charset="0"/>
              </a:rPr>
              <a:t>This register serves as a global pointer.</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6. Register x4 / </a:t>
            </a:r>
            <a:r>
              <a:rPr lang="en-IN" sz="2000" dirty="0" err="1">
                <a:latin typeface="Times New Roman" panose="02020603050405020304" pitchFamily="18" charset="0"/>
                <a:cs typeface="Times New Roman" panose="02020603050405020304" pitchFamily="18" charset="0"/>
              </a:rPr>
              <a:t>tp</a:t>
            </a:r>
            <a:r>
              <a:rPr lang="en-IN" sz="2000" dirty="0">
                <a:latin typeface="Times New Roman" panose="02020603050405020304" pitchFamily="18" charset="0"/>
                <a:cs typeface="Times New Roman" panose="02020603050405020304" pitchFamily="18" charset="0"/>
              </a:rPr>
              <a:t> - </a:t>
            </a:r>
            <a:r>
              <a:rPr lang="en-US" sz="2000" dirty="0">
                <a:latin typeface="Times New Roman" panose="02020603050405020304" pitchFamily="18" charset="0"/>
                <a:cs typeface="Times New Roman" panose="02020603050405020304" pitchFamily="18" charset="0"/>
              </a:rPr>
              <a:t>This register is used for thread local storage access.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7. </a:t>
            </a:r>
            <a:r>
              <a:rPr lang="en-IN" sz="2000" dirty="0">
                <a:latin typeface="Times New Roman" panose="02020603050405020304" pitchFamily="18" charset="0"/>
                <a:cs typeface="Times New Roman" panose="02020603050405020304" pitchFamily="18" charset="0"/>
              </a:rPr>
              <a:t>Registers x5-x7 / t0-t2</a:t>
            </a:r>
            <a:r>
              <a:rPr lang="en-US" sz="2000" dirty="0">
                <a:latin typeface="Times New Roman" panose="02020603050405020304" pitchFamily="18" charset="0"/>
                <a:cs typeface="Times New Roman" panose="02020603050405020304" pitchFamily="18" charset="0"/>
              </a:rPr>
              <a:t> – These are temporary registers</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8. Register x8 / s0 / </a:t>
            </a:r>
            <a:r>
              <a:rPr lang="en-US" sz="2000" dirty="0" err="1">
                <a:latin typeface="Times New Roman" panose="02020603050405020304" pitchFamily="18" charset="0"/>
                <a:cs typeface="Times New Roman" panose="02020603050405020304" pitchFamily="18" charset="0"/>
              </a:rPr>
              <a:t>fp</a:t>
            </a:r>
            <a:r>
              <a:rPr lang="en-US" sz="2000" dirty="0">
                <a:latin typeface="Times New Roman" panose="02020603050405020304" pitchFamily="18" charset="0"/>
                <a:cs typeface="Times New Roman" panose="02020603050405020304" pitchFamily="18" charset="0"/>
              </a:rPr>
              <a:t> </a:t>
            </a:r>
          </a:p>
          <a:p>
            <a:pPr algn="just"/>
            <a:r>
              <a:rPr lang="en-US" sz="2000" dirty="0">
                <a:latin typeface="Times New Roman" panose="02020603050405020304" pitchFamily="18" charset="0"/>
                <a:cs typeface="Times New Roman" panose="02020603050405020304" pitchFamily="18" charset="0"/>
              </a:rPr>
              <a:t>The x8 register, has two basic purposes: s0 is the first saved register value, while </a:t>
            </a:r>
            <a:r>
              <a:rPr lang="en-US" sz="2000" dirty="0" err="1">
                <a:latin typeface="Times New Roman" panose="02020603050405020304" pitchFamily="18" charset="0"/>
                <a:cs typeface="Times New Roman" panose="02020603050405020304" pitchFamily="18" charset="0"/>
              </a:rPr>
              <a:t>fp</a:t>
            </a:r>
            <a:r>
              <a:rPr lang="en-US" sz="2000" dirty="0">
                <a:latin typeface="Times New Roman" panose="02020603050405020304" pitchFamily="18" charset="0"/>
                <a:cs typeface="Times New Roman" panose="02020603050405020304" pitchFamily="18" charset="0"/>
              </a:rPr>
              <a:t> rep resents a stack frame pointer. This value must be saved and restored by the called (callee) code if the register value is modified.</a:t>
            </a:r>
            <a:endParaRPr lang="en-IN" sz="2000" dirty="0">
              <a:latin typeface="Times New Roman" panose="02020603050405020304" pitchFamily="18" charset="0"/>
              <a:cs typeface="Times New Roman" panose="02020603050405020304" pitchFamily="18" charset="0"/>
            </a:endParaRPr>
          </a:p>
        </p:txBody>
      </p:sp>
      <p:sp>
        <p:nvSpPr>
          <p:cNvPr id="2" name="Freeform 8">
            <a:extLst>
              <a:ext uri="{FF2B5EF4-FFF2-40B4-BE49-F238E27FC236}">
                <a16:creationId xmlns:a16="http://schemas.microsoft.com/office/drawing/2014/main" id="{084621B2-1A6B-4875-C192-95434268F17C}"/>
              </a:ext>
            </a:extLst>
          </p:cNvPr>
          <p:cNvSpPr/>
          <p:nvPr/>
        </p:nvSpPr>
        <p:spPr>
          <a:xfrm>
            <a:off x="8597153" y="248345"/>
            <a:ext cx="3130032" cy="545682"/>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025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5C4433-995F-A18D-995C-9FE41640A70F}"/>
              </a:ext>
            </a:extLst>
          </p:cNvPr>
          <p:cNvSpPr txBox="1"/>
          <p:nvPr/>
        </p:nvSpPr>
        <p:spPr>
          <a:xfrm>
            <a:off x="657725" y="305068"/>
            <a:ext cx="10876549" cy="6247864"/>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9. Register x9 / s1 </a:t>
            </a:r>
          </a:p>
          <a:p>
            <a:r>
              <a:rPr lang="en-US" sz="2000" dirty="0">
                <a:latin typeface="Times New Roman" panose="02020603050405020304" pitchFamily="18" charset="0"/>
                <a:cs typeface="Times New Roman" panose="02020603050405020304" pitchFamily="18" charset="0"/>
              </a:rPr>
              <a:t>Register x9 or s1, is similar to register s0. It is a second saved register value. The called (callee) code must save and restore this value when it is modified</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10. </a:t>
            </a:r>
            <a:r>
              <a:rPr lang="en-IN" sz="2000" dirty="0">
                <a:latin typeface="Times New Roman" panose="02020603050405020304" pitchFamily="18" charset="0"/>
                <a:cs typeface="Times New Roman" panose="02020603050405020304" pitchFamily="18" charset="0"/>
              </a:rPr>
              <a:t>Registers x10-x11 / a0-a1</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When a function call has an argument, the first argument goes into register x10 / a0</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11. Registers x12-x17 / a2-a7 </a:t>
            </a:r>
          </a:p>
          <a:p>
            <a:r>
              <a:rPr lang="en-US" sz="2000" dirty="0">
                <a:latin typeface="Times New Roman" panose="02020603050405020304" pitchFamily="18" charset="0"/>
                <a:cs typeface="Times New Roman" panose="02020603050405020304" pitchFamily="18" charset="0"/>
              </a:rPr>
              <a:t>Additional arguments are passed in registers a2 to a7, depending upon their size like reg </a:t>
            </a:r>
            <a:r>
              <a:rPr lang="en-US" sz="2000" dirty="0" err="1">
                <a:latin typeface="Times New Roman" panose="02020603050405020304" pitchFamily="18" charset="0"/>
                <a:cs typeface="Times New Roman" panose="02020603050405020304" pitchFamily="18" charset="0"/>
              </a:rPr>
              <a:t>isters</a:t>
            </a:r>
            <a:r>
              <a:rPr lang="en-US" sz="2000" dirty="0">
                <a:latin typeface="Times New Roman" panose="02020603050405020304" pitchFamily="18" charset="0"/>
                <a:cs typeface="Times New Roman" panose="02020603050405020304" pitchFamily="18" charset="0"/>
              </a:rPr>
              <a:t> a0 and a1.</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12. Registers x17-x27 / s2-s11</a:t>
            </a:r>
          </a:p>
          <a:p>
            <a:r>
              <a:rPr lang="en-US" sz="2000" dirty="0">
                <a:latin typeface="Times New Roman" panose="02020603050405020304" pitchFamily="18" charset="0"/>
                <a:cs typeface="Times New Roman" panose="02020603050405020304" pitchFamily="18" charset="0"/>
              </a:rPr>
              <a:t> These registers must be preserved by the called function (callee) if the register's content is modified in any way</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13. </a:t>
            </a:r>
            <a:r>
              <a:rPr lang="en-IN" sz="2000" dirty="0">
                <a:latin typeface="Times New Roman" panose="02020603050405020304" pitchFamily="18" charset="0"/>
                <a:cs typeface="Times New Roman" panose="02020603050405020304" pitchFamily="18" charset="0"/>
              </a:rPr>
              <a:t>Registers x28-x31 / t3-t6</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Additional temporary registers t3 through t6 are available for temporary use.</a:t>
            </a:r>
          </a:p>
          <a:p>
            <a:endParaRPr lang="en-US" sz="2000"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Register Summary</a:t>
            </a:r>
            <a:r>
              <a:rPr lang="en-US" sz="2000" b="1"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For RISC-V, the only register with a hardwired talent is register x0. It can supply zero or discard a value. All other registers are general purpose and used as described only by convention.</a:t>
            </a:r>
            <a:endParaRPr lang="en-IN" sz="2000" dirty="0">
              <a:latin typeface="Times New Roman" panose="02020603050405020304" pitchFamily="18" charset="0"/>
              <a:cs typeface="Times New Roman" panose="02020603050405020304" pitchFamily="18" charset="0"/>
            </a:endParaRPr>
          </a:p>
        </p:txBody>
      </p:sp>
      <p:sp>
        <p:nvSpPr>
          <p:cNvPr id="2" name="Freeform 8">
            <a:extLst>
              <a:ext uri="{FF2B5EF4-FFF2-40B4-BE49-F238E27FC236}">
                <a16:creationId xmlns:a16="http://schemas.microsoft.com/office/drawing/2014/main" id="{47B007F6-881C-A448-AB8B-AE0E58FD66EF}"/>
              </a:ext>
            </a:extLst>
          </p:cNvPr>
          <p:cNvSpPr/>
          <p:nvPr/>
        </p:nvSpPr>
        <p:spPr>
          <a:xfrm>
            <a:off x="8691282" y="32227"/>
            <a:ext cx="3130032" cy="545682"/>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1647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C8C1FA-4483-1AF3-E3EF-C1CFBB95584D}"/>
              </a:ext>
            </a:extLst>
          </p:cNvPr>
          <p:cNvSpPr txBox="1"/>
          <p:nvPr/>
        </p:nvSpPr>
        <p:spPr>
          <a:xfrm>
            <a:off x="802105" y="344722"/>
            <a:ext cx="4684295" cy="5940088"/>
          </a:xfrm>
          <a:prstGeom prst="rect">
            <a:avLst/>
          </a:prstGeom>
          <a:noFill/>
        </p:spPr>
        <p:txBody>
          <a:bodyPr wrap="square">
            <a:spAutoFit/>
          </a:bodyPr>
          <a:lstStyle/>
          <a:p>
            <a:pPr algn="just"/>
            <a:r>
              <a:rPr lang="en-IN" sz="2000" b="1" dirty="0">
                <a:latin typeface="Times New Roman" panose="02020603050405020304" pitchFamily="18" charset="0"/>
                <a:cs typeface="Times New Roman" panose="02020603050405020304" pitchFamily="18" charset="0"/>
              </a:rPr>
              <a:t>Instruction Set Base Subsets/Extensions</a:t>
            </a:r>
          </a:p>
          <a:p>
            <a:pPr algn="just"/>
            <a:endParaRPr lang="en-IN"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most basic set of base instructions is the "I" Base Integer subset. This defines the most basic integer-type op </a:t>
            </a:r>
            <a:r>
              <a:rPr lang="en-US" sz="2000" dirty="0" err="1">
                <a:latin typeface="Times New Roman" panose="02020603050405020304" pitchFamily="18" charset="0"/>
                <a:cs typeface="Times New Roman" panose="02020603050405020304" pitchFamily="18" charset="0"/>
              </a:rPr>
              <a:t>erations</a:t>
            </a:r>
            <a:r>
              <a:rPr lang="en-US" sz="2000" dirty="0">
                <a:latin typeface="Times New Roman" panose="02020603050405020304" pitchFamily="18" charset="0"/>
                <a:cs typeface="Times New Roman" panose="02020603050405020304" pitchFamily="18" charset="0"/>
              </a:rPr>
              <a:t> that a programmer must have. Two examples include the RV32I (XLEN=32) and RV64I (XLEN=64) subsets. The instructions are normally fixed in size at 32-bits.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a:t>
            </a:r>
            <a:r>
              <a:rPr lang="en-US" sz="2000" dirty="0" err="1">
                <a:latin typeface="Times New Roman" panose="02020603050405020304" pitchFamily="18" charset="0"/>
                <a:cs typeface="Times New Roman" panose="02020603050405020304" pitchFamily="18" charset="0"/>
              </a:rPr>
              <a:t>Espressif</a:t>
            </a:r>
            <a:r>
              <a:rPr lang="en-US" sz="2000" dirty="0">
                <a:latin typeface="Times New Roman" panose="02020603050405020304" pitchFamily="18" charset="0"/>
                <a:cs typeface="Times New Roman" panose="02020603050405020304" pitchFamily="18" charset="0"/>
              </a:rPr>
              <a:t> ESP32-C3 device, supports the RV32IMC ISA. This indicates that the base integer subset "I", and the "C" compressed extensions apply. The "M" in the RC32IMC indicates that the "M" extension is also supported, providing hardware multiply and divide instructions. The "32" by way of review means that the registers are 32-bits wide (XLEN=32).</a:t>
            </a:r>
            <a:endParaRPr lang="en-IN" sz="2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51886FB-A804-75F6-E054-DD903947DF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5112" y="344723"/>
            <a:ext cx="5525271" cy="5963482"/>
          </a:xfrm>
          <a:prstGeom prst="rect">
            <a:avLst/>
          </a:prstGeom>
        </p:spPr>
      </p:pic>
    </p:spTree>
    <p:extLst>
      <p:ext uri="{BB962C8B-B14F-4D97-AF65-F5344CB8AC3E}">
        <p14:creationId xmlns:p14="http://schemas.microsoft.com/office/powerpoint/2010/main" val="1665280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33AB8A4-B3EB-B9D2-BD58-2F6D088D687F}"/>
              </a:ext>
            </a:extLst>
          </p:cNvPr>
          <p:cNvSpPr txBox="1"/>
          <p:nvPr/>
        </p:nvSpPr>
        <p:spPr>
          <a:xfrm>
            <a:off x="657726" y="3429000"/>
            <a:ext cx="4684295" cy="1631216"/>
          </a:xfrm>
          <a:prstGeom prst="rect">
            <a:avLst/>
          </a:prstGeom>
          <a:noFill/>
        </p:spPr>
        <p:txBody>
          <a:bodyPr wrap="square">
            <a:spAutoFit/>
          </a:bodyPr>
          <a:lstStyle/>
          <a:p>
            <a:pPr algn="just"/>
            <a:r>
              <a:rPr lang="sv-SE" sz="2000" b="1" dirty="0">
                <a:latin typeface="Times New Roman" panose="02020603050405020304" pitchFamily="18" charset="0"/>
                <a:cs typeface="Times New Roman" panose="02020603050405020304" pitchFamily="18" charset="0"/>
              </a:rPr>
              <a:t>QEMU RISC-V 64 Bit Emulator</a:t>
            </a:r>
          </a:p>
          <a:p>
            <a:pPr algn="just"/>
            <a:endParaRPr lang="sv-SE" sz="20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Boot Fedora Linux under the emulator, Use </a:t>
            </a:r>
            <a:endParaRPr lang="en-US" sz="2000" b="1"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 cat /proc/</a:t>
            </a:r>
            <a:r>
              <a:rPr lang="en-IN" sz="2000" dirty="0" err="1">
                <a:latin typeface="Times New Roman" panose="02020603050405020304" pitchFamily="18" charset="0"/>
                <a:cs typeface="Times New Roman" panose="02020603050405020304" pitchFamily="18" charset="0"/>
              </a:rPr>
              <a:t>cpuinfo</a:t>
            </a:r>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To </a:t>
            </a:r>
            <a:r>
              <a:rPr lang="en-US" sz="2000" dirty="0">
                <a:latin typeface="Times New Roman" panose="02020603050405020304" pitchFamily="18" charset="0"/>
                <a:cs typeface="Times New Roman" panose="02020603050405020304" pitchFamily="18" charset="0"/>
              </a:rPr>
              <a:t>discover the level of support</a:t>
            </a:r>
            <a:r>
              <a:rPr lang="en-IN" sz="2000" dirty="0">
                <a:latin typeface="Times New Roman" panose="02020603050405020304" pitchFamily="18" charset="0"/>
                <a:cs typeface="Times New Roman" panose="02020603050405020304" pitchFamily="18" charset="0"/>
              </a:rPr>
              <a:t>.</a:t>
            </a:r>
          </a:p>
        </p:txBody>
      </p:sp>
      <p:pic>
        <p:nvPicPr>
          <p:cNvPr id="7" name="Picture 6">
            <a:extLst>
              <a:ext uri="{FF2B5EF4-FFF2-40B4-BE49-F238E27FC236}">
                <a16:creationId xmlns:a16="http://schemas.microsoft.com/office/drawing/2014/main" id="{9FD48F20-59DF-E2D0-DB52-3DFD224D4F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0708" y="2796915"/>
            <a:ext cx="5782626" cy="3818715"/>
          </a:xfrm>
          <a:prstGeom prst="rect">
            <a:avLst/>
          </a:prstGeom>
        </p:spPr>
      </p:pic>
      <p:sp>
        <p:nvSpPr>
          <p:cNvPr id="9" name="TextBox 8">
            <a:extLst>
              <a:ext uri="{FF2B5EF4-FFF2-40B4-BE49-F238E27FC236}">
                <a16:creationId xmlns:a16="http://schemas.microsoft.com/office/drawing/2014/main" id="{C54B99F0-4C5B-6B2E-4AE1-C3260F82538B}"/>
              </a:ext>
            </a:extLst>
          </p:cNvPr>
          <p:cNvSpPr txBox="1"/>
          <p:nvPr/>
        </p:nvSpPr>
        <p:spPr>
          <a:xfrm>
            <a:off x="657726" y="242370"/>
            <a:ext cx="9368589" cy="2554545"/>
          </a:xfrm>
          <a:prstGeom prst="rect">
            <a:avLst/>
          </a:prstGeom>
          <a:noFill/>
        </p:spPr>
        <p:txBody>
          <a:bodyPr wrap="square">
            <a:spAutoFit/>
          </a:bodyPr>
          <a:lstStyle/>
          <a:p>
            <a:pPr algn="just"/>
            <a:r>
              <a:rPr lang="en-US" sz="2000" b="1" dirty="0">
                <a:latin typeface="Times New Roman" panose="02020603050405020304" pitchFamily="18" charset="0"/>
                <a:cs typeface="Times New Roman" panose="02020603050405020304" pitchFamily="18" charset="0"/>
              </a:rPr>
              <a:t>ESP32-C3 Hardware: </a:t>
            </a:r>
          </a:p>
          <a:p>
            <a:pPr algn="just"/>
            <a:r>
              <a:rPr lang="en-US" sz="2000" dirty="0">
                <a:latin typeface="Times New Roman" panose="02020603050405020304" pitchFamily="18" charset="0"/>
                <a:cs typeface="Times New Roman" panose="02020603050405020304" pitchFamily="18" charset="0"/>
              </a:rPr>
              <a:t>Focusing on the CPU resource, </a:t>
            </a:r>
            <a:r>
              <a:rPr lang="en-US" sz="2000" dirty="0" err="1">
                <a:latin typeface="Times New Roman" panose="02020603050405020304" pitchFamily="18" charset="0"/>
                <a:cs typeface="Times New Roman" panose="02020603050405020304" pitchFamily="18" charset="0"/>
              </a:rPr>
              <a:t>Espressif</a:t>
            </a:r>
            <a:r>
              <a:rPr lang="en-US" sz="2000" dirty="0">
                <a:latin typeface="Times New Roman" panose="02020603050405020304" pitchFamily="18" charset="0"/>
                <a:cs typeface="Times New Roman" panose="02020603050405020304" pitchFamily="18" charset="0"/>
              </a:rPr>
              <a:t> states that the ESP32-C3 device supports the RV32IMC ISA.</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following base and extensions are supported: </a:t>
            </a:r>
          </a:p>
          <a:p>
            <a:pPr algn="just"/>
            <a:r>
              <a:rPr lang="en-US" sz="2000" dirty="0">
                <a:latin typeface="Times New Roman" panose="02020603050405020304" pitchFamily="18" charset="0"/>
                <a:cs typeface="Times New Roman" panose="02020603050405020304" pitchFamily="18" charset="0"/>
              </a:rPr>
              <a:t>• I - Base Integer Instruction Set, 32-bit </a:t>
            </a:r>
          </a:p>
          <a:p>
            <a:pPr algn="just"/>
            <a:r>
              <a:rPr lang="en-US" sz="2000" dirty="0">
                <a:latin typeface="Times New Roman" panose="02020603050405020304" pitchFamily="18" charset="0"/>
                <a:cs typeface="Times New Roman" panose="02020603050405020304" pitchFamily="18" charset="0"/>
              </a:rPr>
              <a:t>• M - Standard Extension for Integer Multiplication and Division • C - Standard Extension for Compressed Instructions</a:t>
            </a:r>
          </a:p>
        </p:txBody>
      </p:sp>
      <p:sp>
        <p:nvSpPr>
          <p:cNvPr id="2" name="Freeform 8">
            <a:extLst>
              <a:ext uri="{FF2B5EF4-FFF2-40B4-BE49-F238E27FC236}">
                <a16:creationId xmlns:a16="http://schemas.microsoft.com/office/drawing/2014/main" id="{456528D7-980E-C4BA-4624-7F3882969134}"/>
              </a:ext>
            </a:extLst>
          </p:cNvPr>
          <p:cNvSpPr/>
          <p:nvPr/>
        </p:nvSpPr>
        <p:spPr>
          <a:xfrm>
            <a:off x="273424" y="5917373"/>
            <a:ext cx="3130032" cy="545682"/>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3"/>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9085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C36EAF-1A70-5C14-ADA2-1998443E736A}"/>
              </a:ext>
            </a:extLst>
          </p:cNvPr>
          <p:cNvSpPr txBox="1"/>
          <p:nvPr/>
        </p:nvSpPr>
        <p:spPr>
          <a:xfrm>
            <a:off x="807720" y="476518"/>
            <a:ext cx="9814560" cy="2554545"/>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following RISC-V base and extensions are supported: </a:t>
            </a:r>
          </a:p>
          <a:p>
            <a:pPr algn="just"/>
            <a:r>
              <a:rPr lang="en-US" sz="2000" dirty="0">
                <a:latin typeface="Times New Roman" panose="02020603050405020304" pitchFamily="18" charset="0"/>
                <a:cs typeface="Times New Roman" panose="02020603050405020304" pitchFamily="18" charset="0"/>
              </a:rPr>
              <a:t>• I - Base Integer Instruction Set, 64-bit </a:t>
            </a:r>
          </a:p>
          <a:p>
            <a:pPr algn="just"/>
            <a:r>
              <a:rPr lang="en-US" sz="2000" dirty="0">
                <a:latin typeface="Times New Roman" panose="02020603050405020304" pitchFamily="18" charset="0"/>
                <a:cs typeface="Times New Roman" panose="02020603050405020304" pitchFamily="18" charset="0"/>
              </a:rPr>
              <a:t>• M - Standard Extension for Integer Multiplication and Division • A - Standard Extension for Atomic Instructions </a:t>
            </a:r>
          </a:p>
          <a:p>
            <a:pPr algn="just"/>
            <a:r>
              <a:rPr lang="en-US" sz="2000" dirty="0">
                <a:latin typeface="Times New Roman" panose="02020603050405020304" pitchFamily="18" charset="0"/>
                <a:cs typeface="Times New Roman" panose="02020603050405020304" pitchFamily="18" charset="0"/>
              </a:rPr>
              <a:t>• F - Standard Extension for Single-Precision Floating-Point </a:t>
            </a:r>
          </a:p>
          <a:p>
            <a:pPr algn="just"/>
            <a:r>
              <a:rPr lang="en-US" sz="2000" dirty="0">
                <a:latin typeface="Times New Roman" panose="02020603050405020304" pitchFamily="18" charset="0"/>
                <a:cs typeface="Times New Roman" panose="02020603050405020304" pitchFamily="18" charset="0"/>
              </a:rPr>
              <a:t>• D - Standard Extension for Double-Precision Floating-Point </a:t>
            </a:r>
          </a:p>
          <a:p>
            <a:pPr algn="just"/>
            <a:r>
              <a:rPr lang="en-US" sz="2000" dirty="0">
                <a:latin typeface="Times New Roman" panose="02020603050405020304" pitchFamily="18" charset="0"/>
                <a:cs typeface="Times New Roman" panose="02020603050405020304" pitchFamily="18" charset="0"/>
              </a:rPr>
              <a:t>• C - Standard Extension for Compressed Instructions </a:t>
            </a:r>
          </a:p>
          <a:p>
            <a:pPr algn="just"/>
            <a:r>
              <a:rPr lang="en-US" sz="2000" dirty="0">
                <a:latin typeface="Times New Roman" panose="02020603050405020304" pitchFamily="18" charset="0"/>
                <a:cs typeface="Times New Roman" panose="02020603050405020304" pitchFamily="18" charset="0"/>
              </a:rPr>
              <a:t>• S - Standard Extension for Supervisor-level Instructions</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D6013D8-4B63-C8B9-8F3E-0C5F5B826FA3}"/>
              </a:ext>
            </a:extLst>
          </p:cNvPr>
          <p:cNvSpPr txBox="1"/>
          <p:nvPr/>
        </p:nvSpPr>
        <p:spPr>
          <a:xfrm>
            <a:off x="1127760" y="3473813"/>
            <a:ext cx="4968240" cy="1938992"/>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RISC-V Privilege Levels</a:t>
            </a:r>
          </a:p>
          <a:p>
            <a:endParaRPr lang="en-IN"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RISC-V specification identifies four classes of privilege levels for a CPU. </a:t>
            </a: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94FEE9F-3609-CF1B-C23B-AD59327ADC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5911" y="3415458"/>
            <a:ext cx="4757480" cy="2055702"/>
          </a:xfrm>
          <a:prstGeom prst="rect">
            <a:avLst/>
          </a:prstGeom>
        </p:spPr>
      </p:pic>
      <p:sp>
        <p:nvSpPr>
          <p:cNvPr id="2" name="Freeform 8">
            <a:extLst>
              <a:ext uri="{FF2B5EF4-FFF2-40B4-BE49-F238E27FC236}">
                <a16:creationId xmlns:a16="http://schemas.microsoft.com/office/drawing/2014/main" id="{371AAA31-C02C-3B96-2F0B-18B50CFB8A67}"/>
              </a:ext>
            </a:extLst>
          </p:cNvPr>
          <p:cNvSpPr/>
          <p:nvPr/>
        </p:nvSpPr>
        <p:spPr>
          <a:xfrm>
            <a:off x="481848" y="5855555"/>
            <a:ext cx="3130032" cy="545682"/>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3"/>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5208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9313541-C265-A2FF-1458-92876B6B6604}"/>
              </a:ext>
            </a:extLst>
          </p:cNvPr>
          <p:cNvSpPr txBox="1"/>
          <p:nvPr/>
        </p:nvSpPr>
        <p:spPr>
          <a:xfrm>
            <a:off x="1036320" y="1074509"/>
            <a:ext cx="10119360" cy="4708981"/>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The most basic of these privilege modes is the "m" for machine mode. Machine mode is the only mandatory privilege mode for RISC-V implementations. This mode is normally used on embedded systems with unrestricted access to all resources. The "m", "s" and "u" modes together will be used by hardware (and emulators) that sup port Unix/Linux/*BSD type systems. </a:t>
            </a: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Under Fedora Linux using the QEMU emulator, </a:t>
            </a:r>
            <a:r>
              <a:rPr lang="en-US" sz="2000" dirty="0" err="1">
                <a:latin typeface="Times New Roman" panose="02020603050405020304" pitchFamily="18" charset="0"/>
                <a:cs typeface="Times New Roman" panose="02020603050405020304" pitchFamily="18" charset="0"/>
              </a:rPr>
              <a:t>however,we</a:t>
            </a:r>
            <a:r>
              <a:rPr lang="en-US" sz="2000" dirty="0">
                <a:latin typeface="Times New Roman" panose="02020603050405020304" pitchFamily="18" charset="0"/>
                <a:cs typeface="Times New Roman" panose="02020603050405020304" pitchFamily="18" charset="0"/>
              </a:rPr>
              <a:t>  will be running code in the "u" user mode. code will be restricted in what it can do, including the reading of the MISA register. If you try to read the MISA register, your code will fail. To determine the level of support available, you must rely on the Linux kernel's special file /proc/</a:t>
            </a:r>
            <a:r>
              <a:rPr lang="en-US" sz="2000" dirty="0" err="1">
                <a:latin typeface="Times New Roman" panose="02020603050405020304" pitchFamily="18" charset="0"/>
                <a:cs typeface="Times New Roman" panose="02020603050405020304" pitchFamily="18" charset="0"/>
              </a:rPr>
              <a:t>cpuinfo</a:t>
            </a:r>
            <a:r>
              <a:rPr lang="en-US" sz="2000" dirty="0">
                <a:latin typeface="Times New Roman" panose="02020603050405020304" pitchFamily="18" charset="0"/>
                <a:cs typeface="Times New Roman" panose="02020603050405020304" pitchFamily="18" charset="0"/>
              </a:rPr>
              <a:t>. </a:t>
            </a:r>
          </a:p>
          <a:p>
            <a:pPr algn="just"/>
            <a:endParaRPr lang="en-US" sz="2000" dirty="0">
              <a:latin typeface="Times New Roman" panose="02020603050405020304" pitchFamily="18" charset="0"/>
              <a:cs typeface="Times New Roman" panose="02020603050405020304" pitchFamily="18" charset="0"/>
            </a:endParaRPr>
          </a:p>
          <a:p>
            <a:pPr algn="just"/>
            <a:r>
              <a:rPr lang="en-IN" sz="2000" b="1" dirty="0">
                <a:latin typeface="Times New Roman" panose="02020603050405020304" pitchFamily="18" charset="0"/>
                <a:cs typeface="Times New Roman" panose="02020603050405020304" pitchFamily="18" charset="0"/>
              </a:rPr>
              <a:t>RISC-V is Huge</a:t>
            </a:r>
          </a:p>
          <a:p>
            <a:pPr algn="just"/>
            <a:endParaRPr lang="en-IN" sz="20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There has been an incredible amount of e ort put into the RISC-V specification and it con </a:t>
            </a:r>
            <a:r>
              <a:rPr lang="en-US" sz="2000" dirty="0" err="1">
                <a:latin typeface="Times New Roman" panose="02020603050405020304" pitchFamily="18" charset="0"/>
                <a:cs typeface="Times New Roman" panose="02020603050405020304" pitchFamily="18" charset="0"/>
              </a:rPr>
              <a:t>tinues</a:t>
            </a:r>
            <a:r>
              <a:rPr lang="en-US" sz="2000" dirty="0">
                <a:latin typeface="Times New Roman" panose="02020603050405020304" pitchFamily="18" charset="0"/>
                <a:cs typeface="Times New Roman" panose="02020603050405020304" pitchFamily="18" charset="0"/>
              </a:rPr>
              <a:t> to evolve. For this reason, we will be focusing on writing assembly language code for the machine and user modes for this course. </a:t>
            </a:r>
            <a:endParaRPr lang="en-IN" sz="2000" b="1" dirty="0">
              <a:latin typeface="Times New Roman" panose="02020603050405020304" pitchFamily="18" charset="0"/>
              <a:cs typeface="Times New Roman" panose="02020603050405020304" pitchFamily="18" charset="0"/>
            </a:endParaRPr>
          </a:p>
        </p:txBody>
      </p:sp>
      <p:sp>
        <p:nvSpPr>
          <p:cNvPr id="2" name="Freeform 8">
            <a:extLst>
              <a:ext uri="{FF2B5EF4-FFF2-40B4-BE49-F238E27FC236}">
                <a16:creationId xmlns:a16="http://schemas.microsoft.com/office/drawing/2014/main" id="{B72CAB02-7362-6FC7-5E87-820286F80BF1}"/>
              </a:ext>
            </a:extLst>
          </p:cNvPr>
          <p:cNvSpPr/>
          <p:nvPr/>
        </p:nvSpPr>
        <p:spPr>
          <a:xfrm>
            <a:off x="8382000" y="377185"/>
            <a:ext cx="3130032" cy="545682"/>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473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0581A-6DC5-4E9B-01C5-1E4741A57337}"/>
              </a:ext>
            </a:extLst>
          </p:cNvPr>
          <p:cNvSpPr txBox="1"/>
          <p:nvPr/>
        </p:nvSpPr>
        <p:spPr>
          <a:xfrm>
            <a:off x="4251960" y="3013501"/>
            <a:ext cx="3688080" cy="830997"/>
          </a:xfrm>
          <a:prstGeom prst="rect">
            <a:avLst/>
          </a:prstGeom>
          <a:noFill/>
        </p:spPr>
        <p:txBody>
          <a:bodyPr wrap="square" rtlCol="0">
            <a:spAutoFit/>
          </a:bodyPr>
          <a:lstStyle/>
          <a:p>
            <a:r>
              <a:rPr lang="en-US" sz="4800" dirty="0">
                <a:latin typeface="Times New Roman" panose="02020603050405020304" pitchFamily="18" charset="0"/>
                <a:cs typeface="Times New Roman" panose="02020603050405020304" pitchFamily="18" charset="0"/>
              </a:rPr>
              <a:t>Thank You !</a:t>
            </a:r>
            <a:endParaRPr lang="en-IN" sz="4800" dirty="0">
              <a:latin typeface="Times New Roman" panose="02020603050405020304" pitchFamily="18" charset="0"/>
              <a:cs typeface="Times New Roman" panose="02020603050405020304" pitchFamily="18" charset="0"/>
            </a:endParaRPr>
          </a:p>
        </p:txBody>
      </p:sp>
      <p:sp>
        <p:nvSpPr>
          <p:cNvPr id="3" name="Freeform 8">
            <a:extLst>
              <a:ext uri="{FF2B5EF4-FFF2-40B4-BE49-F238E27FC236}">
                <a16:creationId xmlns:a16="http://schemas.microsoft.com/office/drawing/2014/main" id="{5030C3A6-2B37-84E5-543F-C8FD5846623C}"/>
              </a:ext>
            </a:extLst>
          </p:cNvPr>
          <p:cNvSpPr/>
          <p:nvPr/>
        </p:nvSpPr>
        <p:spPr>
          <a:xfrm>
            <a:off x="8382000" y="377185"/>
            <a:ext cx="3130032" cy="545682"/>
          </a:xfrm>
          <a:custGeom>
            <a:avLst/>
            <a:gdLst/>
            <a:ahLst/>
            <a:cxnLst/>
            <a:rect l="l" t="t" r="r" b="b"/>
            <a:pathLst>
              <a:path w="4657313" h="777598">
                <a:moveTo>
                  <a:pt x="0" y="0"/>
                </a:moveTo>
                <a:lnTo>
                  <a:pt x="4657313" y="0"/>
                </a:lnTo>
                <a:lnTo>
                  <a:pt x="4657313" y="777598"/>
                </a:lnTo>
                <a:lnTo>
                  <a:pt x="0" y="777598"/>
                </a:lnTo>
                <a:lnTo>
                  <a:pt x="0" y="0"/>
                </a:lnTo>
                <a:close/>
              </a:path>
            </a:pathLst>
          </a:custGeom>
          <a:blipFill>
            <a:blip r:embed="rId2"/>
            <a:stretch>
              <a:fillRect/>
            </a:stretch>
          </a:blipFill>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86906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1715</Words>
  <Application>Microsoft Office PowerPoint</Application>
  <PresentationFormat>Widescreen</PresentationFormat>
  <Paragraphs>102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UMESH REDDY R</dc:creator>
  <cp:lastModifiedBy>雷迪</cp:lastModifiedBy>
  <cp:revision>3</cp:revision>
  <dcterms:created xsi:type="dcterms:W3CDTF">2025-03-16T09:49:15Z</dcterms:created>
  <dcterms:modified xsi:type="dcterms:W3CDTF">2025-07-28T07:46:38Z</dcterms:modified>
</cp:coreProperties>
</file>