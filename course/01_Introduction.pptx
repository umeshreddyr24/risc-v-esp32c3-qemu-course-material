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9" r:id="rId7"/>
    <p:sldId id="261" r:id="rId8"/>
    <p:sldId id="262" r:id="rId9"/>
    <p:sldId id="263" r:id="rId10"/>
    <p:sldId id="265" r:id="rId11"/>
    <p:sldId id="270"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8C3C91-ACF8-4F94-A3FE-993F09B724F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B4BCAD5-0862-45F6-B29E-FF176B061188}">
      <dgm:prSet custT="1"/>
      <dgm:spPr/>
      <dgm:t>
        <a:bodyPr/>
        <a:lstStyle/>
        <a:p>
          <a:pPr algn="just">
            <a:lnSpc>
              <a:spcPct val="100000"/>
            </a:lnSpc>
          </a:pPr>
          <a:r>
            <a:rPr lang="en-US" sz="1200" dirty="0">
              <a:latin typeface="Times New Roman" panose="02020603050405020304" pitchFamily="18" charset="0"/>
              <a:cs typeface="Times New Roman" panose="02020603050405020304" pitchFamily="18" charset="0"/>
            </a:rPr>
            <a:t>At the assembly level, the programmer directs every step of the machine. You decide how the registers are allocated and apply every binary trick in your toolbox to make that process slick. While we don't have hardware debug consoles anymore, we do have powerful debugging tools like the GNU </a:t>
          </a:r>
          <a:r>
            <a:rPr lang="en-US" sz="1200" dirty="0" err="1">
              <a:latin typeface="Times New Roman" panose="02020603050405020304" pitchFamily="18" charset="0"/>
              <a:cs typeface="Times New Roman" panose="02020603050405020304" pitchFamily="18" charset="0"/>
            </a:rPr>
            <a:t>gdb</a:t>
          </a:r>
          <a:r>
            <a:rPr lang="en-US" sz="1200" dirty="0">
              <a:latin typeface="Times New Roman" panose="02020603050405020304" pitchFamily="18" charset="0"/>
              <a:cs typeface="Times New Roman" panose="02020603050405020304" pitchFamily="18" charset="0"/>
            </a:rPr>
            <a:t> debugger</a:t>
          </a:r>
        </a:p>
      </dgm:t>
    </dgm:pt>
    <dgm:pt modelId="{107BFA44-6A57-4271-BFA6-A6FD802BA8F1}" type="parTrans" cxnId="{F03D0908-D23A-47FE-B8E8-F427E902E465}">
      <dgm:prSet/>
      <dgm:spPr/>
      <dgm:t>
        <a:bodyPr/>
        <a:lstStyle/>
        <a:p>
          <a:endParaRPr lang="en-US"/>
        </a:p>
      </dgm:t>
    </dgm:pt>
    <dgm:pt modelId="{62E7B49D-D66E-4C5F-BAFF-5A1E1EECD2C6}" type="sibTrans" cxnId="{F03D0908-D23A-47FE-B8E8-F427E902E465}">
      <dgm:prSet/>
      <dgm:spPr/>
      <dgm:t>
        <a:bodyPr/>
        <a:lstStyle/>
        <a:p>
          <a:endParaRPr lang="en-US"/>
        </a:p>
      </dgm:t>
    </dgm:pt>
    <dgm:pt modelId="{FC251508-9D22-4023-9E01-1F381CF14E9A}">
      <dgm:prSet custT="1"/>
      <dgm:spPr/>
      <dgm:t>
        <a:bodyPr/>
        <a:lstStyle/>
        <a:p>
          <a:pPr>
            <a:lnSpc>
              <a:spcPct val="100000"/>
            </a:lnSpc>
          </a:pPr>
          <a:r>
            <a:rPr lang="en-US" sz="1200" dirty="0">
              <a:latin typeface="Times New Roman" panose="02020603050405020304" pitchFamily="18" charset="0"/>
              <a:cs typeface="Times New Roman" panose="02020603050405020304" pitchFamily="18" charset="0"/>
            </a:rPr>
            <a:t>The Intel and AMD instructions sets, for example, have been horribly extended in the name of compatibility. RISC-V allows the enthusiast to sweep all that clutter aside and start over with a clean slate.</a:t>
          </a:r>
        </a:p>
      </dgm:t>
    </dgm:pt>
    <dgm:pt modelId="{165DED8F-3BE1-419A-869C-1038FACFE5CC}" type="sibTrans" cxnId="{5F540FCE-56EB-4185-92AD-727FE1905AB0}">
      <dgm:prSet/>
      <dgm:spPr/>
      <dgm:t>
        <a:bodyPr/>
        <a:lstStyle/>
        <a:p>
          <a:endParaRPr lang="en-US"/>
        </a:p>
      </dgm:t>
    </dgm:pt>
    <dgm:pt modelId="{DBE87874-ADCA-45C0-984D-7CF46A99B497}" type="parTrans" cxnId="{5F540FCE-56EB-4185-92AD-727FE1905AB0}">
      <dgm:prSet/>
      <dgm:spPr/>
      <dgm:t>
        <a:bodyPr/>
        <a:lstStyle/>
        <a:p>
          <a:endParaRPr lang="en-US"/>
        </a:p>
      </dgm:t>
    </dgm:pt>
    <dgm:pt modelId="{30D4E20A-AC6E-40DE-9B47-E46B81AAB0B3}" type="pres">
      <dgm:prSet presAssocID="{0F8C3C91-ACF8-4F94-A3FE-993F09B724FE}" presName="root" presStyleCnt="0">
        <dgm:presLayoutVars>
          <dgm:dir/>
          <dgm:resizeHandles val="exact"/>
        </dgm:presLayoutVars>
      </dgm:prSet>
      <dgm:spPr/>
    </dgm:pt>
    <dgm:pt modelId="{FBE4E250-F84D-486F-8F6E-3AABB715FA3C}" type="pres">
      <dgm:prSet presAssocID="{FC251508-9D22-4023-9E01-1F381CF14E9A}" presName="compNode" presStyleCnt="0"/>
      <dgm:spPr/>
    </dgm:pt>
    <dgm:pt modelId="{8DFE9474-2F7B-44AE-828C-4C510ECB57D0}" type="pres">
      <dgm:prSet presAssocID="{FC251508-9D22-4023-9E01-1F381CF14E9A}" presName="iconRect" presStyleLbl="node1" presStyleIdx="0" presStyleCnt="2" custLinFactNeighborX="-1307" custLinFactNeighborY="-2858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E7CBAFC2-E032-4BEC-BC7C-7C89599C27DF}" type="pres">
      <dgm:prSet presAssocID="{FC251508-9D22-4023-9E01-1F381CF14E9A}" presName="spaceRect" presStyleCnt="0"/>
      <dgm:spPr/>
    </dgm:pt>
    <dgm:pt modelId="{98385B6C-055D-4E9C-A944-61845B36AE94}" type="pres">
      <dgm:prSet presAssocID="{FC251508-9D22-4023-9E01-1F381CF14E9A}" presName="textRect" presStyleLbl="revTx" presStyleIdx="0" presStyleCnt="2" custScaleY="267519" custLinFactNeighborX="-2352" custLinFactNeighborY="1927">
        <dgm:presLayoutVars>
          <dgm:chMax val="1"/>
          <dgm:chPref val="1"/>
        </dgm:presLayoutVars>
      </dgm:prSet>
      <dgm:spPr/>
    </dgm:pt>
    <dgm:pt modelId="{DB1407C1-00A7-4883-9D19-2496DA15E797}" type="pres">
      <dgm:prSet presAssocID="{165DED8F-3BE1-419A-869C-1038FACFE5CC}" presName="sibTrans" presStyleCnt="0"/>
      <dgm:spPr/>
    </dgm:pt>
    <dgm:pt modelId="{3EB68119-434E-4F07-A252-2C4EFA46644D}" type="pres">
      <dgm:prSet presAssocID="{1B4BCAD5-0862-45F6-B29E-FF176B061188}" presName="compNode" presStyleCnt="0"/>
      <dgm:spPr/>
    </dgm:pt>
    <dgm:pt modelId="{8E5F3FDF-8E53-4D52-854A-0725E01A8B51}" type="pres">
      <dgm:prSet presAssocID="{1B4BCAD5-0862-45F6-B29E-FF176B061188}" presName="iconRect" presStyleLbl="node1" presStyleIdx="1" presStyleCnt="2" custLinFactNeighborX="1713" custLinFactNeighborY="-2858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B627168C-60A2-4EDA-B0ED-23D333983939}" type="pres">
      <dgm:prSet presAssocID="{1B4BCAD5-0862-45F6-B29E-FF176B061188}" presName="spaceRect" presStyleCnt="0"/>
      <dgm:spPr/>
    </dgm:pt>
    <dgm:pt modelId="{A21A3A8B-80F9-4CD0-B20F-722B8B96365B}" type="pres">
      <dgm:prSet presAssocID="{1B4BCAD5-0862-45F6-B29E-FF176B061188}" presName="textRect" presStyleLbl="revTx" presStyleIdx="1" presStyleCnt="2" custScaleX="131405" custScaleY="180958" custLinFactNeighborX="-1960" custLinFactNeighborY="-52037">
        <dgm:presLayoutVars>
          <dgm:chMax val="1"/>
          <dgm:chPref val="1"/>
        </dgm:presLayoutVars>
      </dgm:prSet>
      <dgm:spPr/>
    </dgm:pt>
  </dgm:ptLst>
  <dgm:cxnLst>
    <dgm:cxn modelId="{F03D0908-D23A-47FE-B8E8-F427E902E465}" srcId="{0F8C3C91-ACF8-4F94-A3FE-993F09B724FE}" destId="{1B4BCAD5-0862-45F6-B29E-FF176B061188}" srcOrd="1" destOrd="0" parTransId="{107BFA44-6A57-4271-BFA6-A6FD802BA8F1}" sibTransId="{62E7B49D-D66E-4C5F-BAFF-5A1E1EECD2C6}"/>
    <dgm:cxn modelId="{F07B5652-DC3A-4A09-A618-8A261323121F}" type="presOf" srcId="{1B4BCAD5-0862-45F6-B29E-FF176B061188}" destId="{A21A3A8B-80F9-4CD0-B20F-722B8B96365B}" srcOrd="0" destOrd="0" presId="urn:microsoft.com/office/officeart/2018/2/layout/IconLabelList"/>
    <dgm:cxn modelId="{2BDC5685-DD41-4743-B32E-F4F500F9F5E2}" type="presOf" srcId="{FC251508-9D22-4023-9E01-1F381CF14E9A}" destId="{98385B6C-055D-4E9C-A944-61845B36AE94}" srcOrd="0" destOrd="0" presId="urn:microsoft.com/office/officeart/2018/2/layout/IconLabelList"/>
    <dgm:cxn modelId="{5F540FCE-56EB-4185-92AD-727FE1905AB0}" srcId="{0F8C3C91-ACF8-4F94-A3FE-993F09B724FE}" destId="{FC251508-9D22-4023-9E01-1F381CF14E9A}" srcOrd="0" destOrd="0" parTransId="{DBE87874-ADCA-45C0-984D-7CF46A99B497}" sibTransId="{165DED8F-3BE1-419A-869C-1038FACFE5CC}"/>
    <dgm:cxn modelId="{AAD4C0D4-0102-4779-8A24-4019624BE897}" type="presOf" srcId="{0F8C3C91-ACF8-4F94-A3FE-993F09B724FE}" destId="{30D4E20A-AC6E-40DE-9B47-E46B81AAB0B3}" srcOrd="0" destOrd="0" presId="urn:microsoft.com/office/officeart/2018/2/layout/IconLabelList"/>
    <dgm:cxn modelId="{C41AD87D-C806-4265-BEBF-9DC59AE5D1C0}" type="presParOf" srcId="{30D4E20A-AC6E-40DE-9B47-E46B81AAB0B3}" destId="{FBE4E250-F84D-486F-8F6E-3AABB715FA3C}" srcOrd="0" destOrd="0" presId="urn:microsoft.com/office/officeart/2018/2/layout/IconLabelList"/>
    <dgm:cxn modelId="{B8FC7BD8-7DF2-47BD-8405-6530E6673868}" type="presParOf" srcId="{FBE4E250-F84D-486F-8F6E-3AABB715FA3C}" destId="{8DFE9474-2F7B-44AE-828C-4C510ECB57D0}" srcOrd="0" destOrd="0" presId="urn:microsoft.com/office/officeart/2018/2/layout/IconLabelList"/>
    <dgm:cxn modelId="{2C1ABA6F-C9C5-4D3F-859B-26975F7EA374}" type="presParOf" srcId="{FBE4E250-F84D-486F-8F6E-3AABB715FA3C}" destId="{E7CBAFC2-E032-4BEC-BC7C-7C89599C27DF}" srcOrd="1" destOrd="0" presId="urn:microsoft.com/office/officeart/2018/2/layout/IconLabelList"/>
    <dgm:cxn modelId="{46F52E3E-A74D-4E53-94AC-95CD2860ED86}" type="presParOf" srcId="{FBE4E250-F84D-486F-8F6E-3AABB715FA3C}" destId="{98385B6C-055D-4E9C-A944-61845B36AE94}" srcOrd="2" destOrd="0" presId="urn:microsoft.com/office/officeart/2018/2/layout/IconLabelList"/>
    <dgm:cxn modelId="{BEFEACFE-7E85-47E0-9A45-6F15F78D87D6}" type="presParOf" srcId="{30D4E20A-AC6E-40DE-9B47-E46B81AAB0B3}" destId="{DB1407C1-00A7-4883-9D19-2496DA15E797}" srcOrd="1" destOrd="0" presId="urn:microsoft.com/office/officeart/2018/2/layout/IconLabelList"/>
    <dgm:cxn modelId="{24DE0CF6-159B-4492-AFB9-11E6418A9C65}" type="presParOf" srcId="{30D4E20A-AC6E-40DE-9B47-E46B81AAB0B3}" destId="{3EB68119-434E-4F07-A252-2C4EFA46644D}" srcOrd="2" destOrd="0" presId="urn:microsoft.com/office/officeart/2018/2/layout/IconLabelList"/>
    <dgm:cxn modelId="{02761D8D-332F-46B6-AAAD-4499B76AC685}" type="presParOf" srcId="{3EB68119-434E-4F07-A252-2C4EFA46644D}" destId="{8E5F3FDF-8E53-4D52-854A-0725E01A8B51}" srcOrd="0" destOrd="0" presId="urn:microsoft.com/office/officeart/2018/2/layout/IconLabelList"/>
    <dgm:cxn modelId="{1C92424A-AA42-413D-B6BF-BCE04ED65534}" type="presParOf" srcId="{3EB68119-434E-4F07-A252-2C4EFA46644D}" destId="{B627168C-60A2-4EDA-B0ED-23D333983939}" srcOrd="1" destOrd="0" presId="urn:microsoft.com/office/officeart/2018/2/layout/IconLabelList"/>
    <dgm:cxn modelId="{403D7473-DBA0-4731-80CD-18D66C81E2D4}" type="presParOf" srcId="{3EB68119-434E-4F07-A252-2C4EFA46644D}" destId="{A21A3A8B-80F9-4CD0-B20F-722B8B96365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A537E5-1109-4531-A762-C6C51CE9732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7BC224C-5C52-4A44-803D-826689AEECDE}">
      <dgm:prSet/>
      <dgm:spPr/>
      <dgm:t>
        <a:bodyPr/>
        <a:lstStyle/>
        <a:p>
          <a:pPr>
            <a:lnSpc>
              <a:spcPct val="100000"/>
            </a:lnSpc>
          </a:pPr>
          <a:r>
            <a:rPr lang="en-IN" b="1" dirty="0"/>
            <a:t>Assembler Language</a:t>
          </a:r>
          <a:endParaRPr lang="en-US" dirty="0"/>
        </a:p>
      </dgm:t>
    </dgm:pt>
    <dgm:pt modelId="{74323D69-9183-44B1-AE47-BE54E67EB05D}" type="parTrans" cxnId="{107BF608-0614-4C2A-B581-46F87AFAEF25}">
      <dgm:prSet/>
      <dgm:spPr/>
      <dgm:t>
        <a:bodyPr/>
        <a:lstStyle/>
        <a:p>
          <a:endParaRPr lang="en-US"/>
        </a:p>
      </dgm:t>
    </dgm:pt>
    <dgm:pt modelId="{632C6D7E-9666-4A9D-8A72-9D3B50DF86B2}" type="sibTrans" cxnId="{107BF608-0614-4C2A-B581-46F87AFAEF25}">
      <dgm:prSet/>
      <dgm:spPr/>
      <dgm:t>
        <a:bodyPr/>
        <a:lstStyle/>
        <a:p>
          <a:endParaRPr lang="en-US"/>
        </a:p>
      </dgm:t>
    </dgm:pt>
    <dgm:pt modelId="{A5BB54E4-FDB7-4158-9389-F5CE972B5648}">
      <dgm:prSet/>
      <dgm:spPr/>
      <dgm:t>
        <a:bodyPr/>
        <a:lstStyle/>
        <a:p>
          <a:pPr>
            <a:lnSpc>
              <a:spcPct val="100000"/>
            </a:lnSpc>
          </a:pPr>
          <a:r>
            <a:rPr lang="en-US" dirty="0"/>
            <a:t>It</a:t>
          </a:r>
          <a:r>
            <a:rPr lang="en-US" b="1" dirty="0"/>
            <a:t> </a:t>
          </a:r>
          <a:r>
            <a:rPr lang="en-US" b="0" i="0" dirty="0"/>
            <a:t>is a low-level programming language that directly interacts with a computer's hardware by using mnemonics (human-readable codes) to represent machine instructions, essentially acting as a bridge between high-level languages and the binary code the CPU understands; it allows programmers to write code that is closer to the hardware, enabling fine-grained control over operations but requiring a deeper understanding of the processor architecture. </a:t>
          </a:r>
          <a:endParaRPr lang="en-US" dirty="0"/>
        </a:p>
      </dgm:t>
    </dgm:pt>
    <dgm:pt modelId="{DD60B08D-9F25-47AC-AEC1-ECCDA86D2669}" type="parTrans" cxnId="{F61F27B9-9D01-4435-A1AA-CC89FE485908}">
      <dgm:prSet/>
      <dgm:spPr/>
      <dgm:t>
        <a:bodyPr/>
        <a:lstStyle/>
        <a:p>
          <a:endParaRPr lang="en-US"/>
        </a:p>
      </dgm:t>
    </dgm:pt>
    <dgm:pt modelId="{CB935D7D-F9BE-4CFE-A0B3-45BE74FBA9BC}" type="sibTrans" cxnId="{F61F27B9-9D01-4435-A1AA-CC89FE485908}">
      <dgm:prSet/>
      <dgm:spPr/>
      <dgm:t>
        <a:bodyPr/>
        <a:lstStyle/>
        <a:p>
          <a:endParaRPr lang="en-US"/>
        </a:p>
      </dgm:t>
    </dgm:pt>
    <dgm:pt modelId="{4D74F99A-ED6F-4BC8-AE30-B357095EFA06}" type="pres">
      <dgm:prSet presAssocID="{21A537E5-1109-4531-A762-C6C51CE9732B}" presName="root" presStyleCnt="0">
        <dgm:presLayoutVars>
          <dgm:dir/>
          <dgm:resizeHandles val="exact"/>
        </dgm:presLayoutVars>
      </dgm:prSet>
      <dgm:spPr/>
    </dgm:pt>
    <dgm:pt modelId="{9277EEDA-D034-4A6D-B5EC-29E4A361625D}" type="pres">
      <dgm:prSet presAssocID="{37BC224C-5C52-4A44-803D-826689AEECDE}" presName="compNode" presStyleCnt="0"/>
      <dgm:spPr/>
    </dgm:pt>
    <dgm:pt modelId="{016B3AD4-E6F3-4703-922F-8FFAD9D295F6}" type="pres">
      <dgm:prSet presAssocID="{37BC224C-5C52-4A44-803D-826689AEECDE}" presName="bgRect" presStyleLbl="bgShp" presStyleIdx="0" presStyleCnt="2" custFlipVert="1" custScaleX="72863" custScaleY="100000" custLinFactNeighborX="1969" custLinFactNeighborY="-134"/>
      <dgm:spPr/>
    </dgm:pt>
    <dgm:pt modelId="{E0080FCD-4F65-45B8-AE59-8D37ED6E0FDF}" type="pres">
      <dgm:prSet presAssocID="{37BC224C-5C52-4A44-803D-826689AEECDE}" presName="iconRect" presStyleLbl="node1" presStyleIdx="0" presStyleCnt="2" custLinFactNeighborX="87915" custLinFactNeighborY="-102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813384AE-FC0F-4AFB-8232-6766CCB9CC8C}" type="pres">
      <dgm:prSet presAssocID="{37BC224C-5C52-4A44-803D-826689AEECDE}" presName="spaceRect" presStyleCnt="0"/>
      <dgm:spPr/>
    </dgm:pt>
    <dgm:pt modelId="{3D50DCEA-A36E-46B6-991F-810D15DDF6ED}" type="pres">
      <dgm:prSet presAssocID="{37BC224C-5C52-4A44-803D-826689AEECDE}" presName="parTx" presStyleLbl="revTx" presStyleIdx="0" presStyleCnt="2" custLinFactNeighborX="4450" custLinFactNeighborY="-352">
        <dgm:presLayoutVars>
          <dgm:chMax val="0"/>
          <dgm:chPref val="0"/>
        </dgm:presLayoutVars>
      </dgm:prSet>
      <dgm:spPr/>
    </dgm:pt>
    <dgm:pt modelId="{A43F0BCE-15B0-4346-9392-0BE5CC1CC249}" type="pres">
      <dgm:prSet presAssocID="{632C6D7E-9666-4A9D-8A72-9D3B50DF86B2}" presName="sibTrans" presStyleCnt="0"/>
      <dgm:spPr/>
    </dgm:pt>
    <dgm:pt modelId="{A2870BF7-7A2D-42AC-B725-8A15C750DA79}" type="pres">
      <dgm:prSet presAssocID="{A5BB54E4-FDB7-4158-9389-F5CE972B5648}" presName="compNode" presStyleCnt="0"/>
      <dgm:spPr/>
    </dgm:pt>
    <dgm:pt modelId="{2D4C0A11-1BC4-4B67-947E-2B3BCCA13DBE}" type="pres">
      <dgm:prSet presAssocID="{A5BB54E4-FDB7-4158-9389-F5CE972B5648}" presName="bgRect" presStyleLbl="bgShp" presStyleIdx="1" presStyleCnt="2" custScaleY="127985"/>
      <dgm:spPr/>
    </dgm:pt>
    <dgm:pt modelId="{5CD27505-35A6-4504-9741-18B19D86CF51}" type="pres">
      <dgm:prSet presAssocID="{A5BB54E4-FDB7-4158-9389-F5CE972B564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2920BBC6-1A8B-4D5B-82AB-85ADC1A302BF}" type="pres">
      <dgm:prSet presAssocID="{A5BB54E4-FDB7-4158-9389-F5CE972B5648}" presName="spaceRect" presStyleCnt="0"/>
      <dgm:spPr/>
    </dgm:pt>
    <dgm:pt modelId="{22BD4198-0517-45DF-A31B-9E9E5636B8EF}" type="pres">
      <dgm:prSet presAssocID="{A5BB54E4-FDB7-4158-9389-F5CE972B5648}" presName="parTx" presStyleLbl="revTx" presStyleIdx="1" presStyleCnt="2" custScaleX="115364" custScaleY="86136" custLinFactNeighborX="-366" custLinFactNeighborY="10952">
        <dgm:presLayoutVars>
          <dgm:chMax val="0"/>
          <dgm:chPref val="0"/>
        </dgm:presLayoutVars>
      </dgm:prSet>
      <dgm:spPr/>
    </dgm:pt>
  </dgm:ptLst>
  <dgm:cxnLst>
    <dgm:cxn modelId="{107BF608-0614-4C2A-B581-46F87AFAEF25}" srcId="{21A537E5-1109-4531-A762-C6C51CE9732B}" destId="{37BC224C-5C52-4A44-803D-826689AEECDE}" srcOrd="0" destOrd="0" parTransId="{74323D69-9183-44B1-AE47-BE54E67EB05D}" sibTransId="{632C6D7E-9666-4A9D-8A72-9D3B50DF86B2}"/>
    <dgm:cxn modelId="{F5527F73-7E01-4A15-8BFE-FEB8A9099164}" type="presOf" srcId="{A5BB54E4-FDB7-4158-9389-F5CE972B5648}" destId="{22BD4198-0517-45DF-A31B-9E9E5636B8EF}" srcOrd="0" destOrd="0" presId="urn:microsoft.com/office/officeart/2018/2/layout/IconVerticalSolidList"/>
    <dgm:cxn modelId="{A97C7C7F-4044-4064-B22B-3957F5B65FB6}" type="presOf" srcId="{37BC224C-5C52-4A44-803D-826689AEECDE}" destId="{3D50DCEA-A36E-46B6-991F-810D15DDF6ED}" srcOrd="0" destOrd="0" presId="urn:microsoft.com/office/officeart/2018/2/layout/IconVerticalSolidList"/>
    <dgm:cxn modelId="{19C3CB88-AA20-448C-815F-3C02090CF426}" type="presOf" srcId="{21A537E5-1109-4531-A762-C6C51CE9732B}" destId="{4D74F99A-ED6F-4BC8-AE30-B357095EFA06}" srcOrd="0" destOrd="0" presId="urn:microsoft.com/office/officeart/2018/2/layout/IconVerticalSolidList"/>
    <dgm:cxn modelId="{F61F27B9-9D01-4435-A1AA-CC89FE485908}" srcId="{21A537E5-1109-4531-A762-C6C51CE9732B}" destId="{A5BB54E4-FDB7-4158-9389-F5CE972B5648}" srcOrd="1" destOrd="0" parTransId="{DD60B08D-9F25-47AC-AEC1-ECCDA86D2669}" sibTransId="{CB935D7D-F9BE-4CFE-A0B3-45BE74FBA9BC}"/>
    <dgm:cxn modelId="{DA51083F-5CBE-40C6-BDAB-387BDEE32B98}" type="presParOf" srcId="{4D74F99A-ED6F-4BC8-AE30-B357095EFA06}" destId="{9277EEDA-D034-4A6D-B5EC-29E4A361625D}" srcOrd="0" destOrd="0" presId="urn:microsoft.com/office/officeart/2018/2/layout/IconVerticalSolidList"/>
    <dgm:cxn modelId="{A908672D-857E-47E1-9A6F-71264CDD3AA1}" type="presParOf" srcId="{9277EEDA-D034-4A6D-B5EC-29E4A361625D}" destId="{016B3AD4-E6F3-4703-922F-8FFAD9D295F6}" srcOrd="0" destOrd="0" presId="urn:microsoft.com/office/officeart/2018/2/layout/IconVerticalSolidList"/>
    <dgm:cxn modelId="{324070A2-8D5C-4899-9BDE-3259B76E4A12}" type="presParOf" srcId="{9277EEDA-D034-4A6D-B5EC-29E4A361625D}" destId="{E0080FCD-4F65-45B8-AE59-8D37ED6E0FDF}" srcOrd="1" destOrd="0" presId="urn:microsoft.com/office/officeart/2018/2/layout/IconVerticalSolidList"/>
    <dgm:cxn modelId="{6AA39572-DDEE-4EF8-BE70-6BE46A90C34D}" type="presParOf" srcId="{9277EEDA-D034-4A6D-B5EC-29E4A361625D}" destId="{813384AE-FC0F-4AFB-8232-6766CCB9CC8C}" srcOrd="2" destOrd="0" presId="urn:microsoft.com/office/officeart/2018/2/layout/IconVerticalSolidList"/>
    <dgm:cxn modelId="{07136362-BA26-4234-AC85-E5E89F82D0F3}" type="presParOf" srcId="{9277EEDA-D034-4A6D-B5EC-29E4A361625D}" destId="{3D50DCEA-A36E-46B6-991F-810D15DDF6ED}" srcOrd="3" destOrd="0" presId="urn:microsoft.com/office/officeart/2018/2/layout/IconVerticalSolidList"/>
    <dgm:cxn modelId="{C4482C19-87C6-4F6C-A0BC-703BAB977C07}" type="presParOf" srcId="{4D74F99A-ED6F-4BC8-AE30-B357095EFA06}" destId="{A43F0BCE-15B0-4346-9392-0BE5CC1CC249}" srcOrd="1" destOrd="0" presId="urn:microsoft.com/office/officeart/2018/2/layout/IconVerticalSolidList"/>
    <dgm:cxn modelId="{1AA29E66-D0B5-430C-A5FE-2D217F4A48A9}" type="presParOf" srcId="{4D74F99A-ED6F-4BC8-AE30-B357095EFA06}" destId="{A2870BF7-7A2D-42AC-B725-8A15C750DA79}" srcOrd="2" destOrd="0" presId="urn:microsoft.com/office/officeart/2018/2/layout/IconVerticalSolidList"/>
    <dgm:cxn modelId="{7499C56A-B2ED-47C5-9343-4853609711BE}" type="presParOf" srcId="{A2870BF7-7A2D-42AC-B725-8A15C750DA79}" destId="{2D4C0A11-1BC4-4B67-947E-2B3BCCA13DBE}" srcOrd="0" destOrd="0" presId="urn:microsoft.com/office/officeart/2018/2/layout/IconVerticalSolidList"/>
    <dgm:cxn modelId="{1F6CAE86-BBC0-433B-BC9B-FCB071093526}" type="presParOf" srcId="{A2870BF7-7A2D-42AC-B725-8A15C750DA79}" destId="{5CD27505-35A6-4504-9741-18B19D86CF51}" srcOrd="1" destOrd="0" presId="urn:microsoft.com/office/officeart/2018/2/layout/IconVerticalSolidList"/>
    <dgm:cxn modelId="{7ABD2958-A073-4C17-8775-28FF364F0D92}" type="presParOf" srcId="{A2870BF7-7A2D-42AC-B725-8A15C750DA79}" destId="{2920BBC6-1A8B-4D5B-82AB-85ADC1A302BF}" srcOrd="2" destOrd="0" presId="urn:microsoft.com/office/officeart/2018/2/layout/IconVerticalSolidList"/>
    <dgm:cxn modelId="{FAE347E8-C2BD-4D20-B7E0-9F55ECD98FA6}" type="presParOf" srcId="{A2870BF7-7A2D-42AC-B725-8A15C750DA79}" destId="{22BD4198-0517-45DF-A31B-9E9E5636B8E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3B2268-2501-43C7-B2E3-E63079C944E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88CECF2-80FF-47E6-AE96-9E123400865C}">
      <dgm:prSet/>
      <dgm:spPr/>
      <dgm:t>
        <a:bodyPr/>
        <a:lstStyle/>
        <a:p>
          <a:pPr>
            <a:lnSpc>
              <a:spcPct val="100000"/>
            </a:lnSpc>
          </a:pPr>
          <a:r>
            <a:rPr lang="en-IN" b="1"/>
            <a:t>Why RISC-V?</a:t>
          </a:r>
          <a:endParaRPr lang="en-US"/>
        </a:p>
      </dgm:t>
    </dgm:pt>
    <dgm:pt modelId="{3A2F283B-7EAF-4E84-9B82-57E9643766C5}" type="parTrans" cxnId="{281FEDD5-4BA3-4187-8F46-BCA1087B5DED}">
      <dgm:prSet/>
      <dgm:spPr/>
      <dgm:t>
        <a:bodyPr/>
        <a:lstStyle/>
        <a:p>
          <a:endParaRPr lang="en-US"/>
        </a:p>
      </dgm:t>
    </dgm:pt>
    <dgm:pt modelId="{11821AE3-845B-40C9-9AEC-F19A5E550B30}" type="sibTrans" cxnId="{281FEDD5-4BA3-4187-8F46-BCA1087B5DED}">
      <dgm:prSet/>
      <dgm:spPr/>
      <dgm:t>
        <a:bodyPr/>
        <a:lstStyle/>
        <a:p>
          <a:endParaRPr lang="en-US"/>
        </a:p>
      </dgm:t>
    </dgm:pt>
    <dgm:pt modelId="{AE71E90E-CA7C-4887-A2B5-A9EF8E14F87D}">
      <dgm:prSet/>
      <dgm:spPr/>
      <dgm:t>
        <a:bodyPr/>
        <a:lstStyle/>
        <a:p>
          <a:pPr>
            <a:lnSpc>
              <a:spcPct val="100000"/>
            </a:lnSpc>
          </a:pPr>
          <a:r>
            <a:rPr lang="en-US"/>
            <a:t>A</a:t>
          </a:r>
          <a:r>
            <a:rPr lang="en-US" b="0" i="0"/>
            <a:t>dvantages </a:t>
          </a:r>
          <a:r>
            <a:rPr lang="en-US" b="1" i="0"/>
            <a:t>of RISC-V architecture </a:t>
          </a:r>
          <a:r>
            <a:rPr lang="en-US" b="0" i="0"/>
            <a:t>include its open-source nature, allowing for customization and flexibility, enabling designers to tailor processors for specific applications while maintaining software compatibility across different implementations, resulting in faster development cycles, lower costs, and greater control over the design process compared to proprietary architectures like ARM; additionally, its modular design facilitates easier software development and improved energy efficiency due to simplified instructions sets</a:t>
          </a:r>
          <a:endParaRPr lang="en-US"/>
        </a:p>
      </dgm:t>
    </dgm:pt>
    <dgm:pt modelId="{1C77FB88-C2EB-49B7-A568-B91623004A51}" type="parTrans" cxnId="{96B1100E-869F-42D8-8A26-03A3290400EE}">
      <dgm:prSet/>
      <dgm:spPr/>
      <dgm:t>
        <a:bodyPr/>
        <a:lstStyle/>
        <a:p>
          <a:endParaRPr lang="en-US"/>
        </a:p>
      </dgm:t>
    </dgm:pt>
    <dgm:pt modelId="{AD014FF0-1330-4A96-8084-3EEA611AFD19}" type="sibTrans" cxnId="{96B1100E-869F-42D8-8A26-03A3290400EE}">
      <dgm:prSet/>
      <dgm:spPr/>
      <dgm:t>
        <a:bodyPr/>
        <a:lstStyle/>
        <a:p>
          <a:endParaRPr lang="en-US"/>
        </a:p>
      </dgm:t>
    </dgm:pt>
    <dgm:pt modelId="{0367AAAE-6D7E-4FC1-81F5-057EDC9ED008}" type="pres">
      <dgm:prSet presAssocID="{D73B2268-2501-43C7-B2E3-E63079C944E9}" presName="root" presStyleCnt="0">
        <dgm:presLayoutVars>
          <dgm:dir/>
          <dgm:resizeHandles val="exact"/>
        </dgm:presLayoutVars>
      </dgm:prSet>
      <dgm:spPr/>
    </dgm:pt>
    <dgm:pt modelId="{7465E0C0-7DB6-4698-A018-DD86691D0E41}" type="pres">
      <dgm:prSet presAssocID="{A88CECF2-80FF-47E6-AE96-9E123400865C}" presName="compNode" presStyleCnt="0"/>
      <dgm:spPr/>
    </dgm:pt>
    <dgm:pt modelId="{491F3CC2-4F3D-4F9A-90C6-D34879D56F34}" type="pres">
      <dgm:prSet presAssocID="{A88CECF2-80FF-47E6-AE96-9E123400865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lp"/>
        </a:ext>
      </dgm:extLst>
    </dgm:pt>
    <dgm:pt modelId="{8CAEE861-4A31-4A7D-BABE-990CF18C849C}" type="pres">
      <dgm:prSet presAssocID="{A88CECF2-80FF-47E6-AE96-9E123400865C}" presName="spaceRect" presStyleCnt="0"/>
      <dgm:spPr/>
    </dgm:pt>
    <dgm:pt modelId="{614244FD-C38F-4AC2-AE60-C2EC6710FBF8}" type="pres">
      <dgm:prSet presAssocID="{A88CECF2-80FF-47E6-AE96-9E123400865C}" presName="textRect" presStyleLbl="revTx" presStyleIdx="0" presStyleCnt="2">
        <dgm:presLayoutVars>
          <dgm:chMax val="1"/>
          <dgm:chPref val="1"/>
        </dgm:presLayoutVars>
      </dgm:prSet>
      <dgm:spPr/>
    </dgm:pt>
    <dgm:pt modelId="{7C7F548F-F639-4187-8BDE-EB2EA5372040}" type="pres">
      <dgm:prSet presAssocID="{11821AE3-845B-40C9-9AEC-F19A5E550B30}" presName="sibTrans" presStyleCnt="0"/>
      <dgm:spPr/>
    </dgm:pt>
    <dgm:pt modelId="{66AE599D-C13B-4EDD-B429-C3D29C66849F}" type="pres">
      <dgm:prSet presAssocID="{AE71E90E-CA7C-4887-A2B5-A9EF8E14F87D}" presName="compNode" presStyleCnt="0"/>
      <dgm:spPr/>
    </dgm:pt>
    <dgm:pt modelId="{69162082-EE3A-4EB3-8B6C-2B751B6A1AF6}" type="pres">
      <dgm:prSet presAssocID="{AE71E90E-CA7C-4887-A2B5-A9EF8E14F87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CF6AD10D-7619-43C2-A9C8-1F280721F703}" type="pres">
      <dgm:prSet presAssocID="{AE71E90E-CA7C-4887-A2B5-A9EF8E14F87D}" presName="spaceRect" presStyleCnt="0"/>
      <dgm:spPr/>
    </dgm:pt>
    <dgm:pt modelId="{E627C10D-0BA7-4D1D-B576-60BB4D73F39E}" type="pres">
      <dgm:prSet presAssocID="{AE71E90E-CA7C-4887-A2B5-A9EF8E14F87D}" presName="textRect" presStyleLbl="revTx" presStyleIdx="1" presStyleCnt="2">
        <dgm:presLayoutVars>
          <dgm:chMax val="1"/>
          <dgm:chPref val="1"/>
        </dgm:presLayoutVars>
      </dgm:prSet>
      <dgm:spPr/>
    </dgm:pt>
  </dgm:ptLst>
  <dgm:cxnLst>
    <dgm:cxn modelId="{96B1100E-869F-42D8-8A26-03A3290400EE}" srcId="{D73B2268-2501-43C7-B2E3-E63079C944E9}" destId="{AE71E90E-CA7C-4887-A2B5-A9EF8E14F87D}" srcOrd="1" destOrd="0" parTransId="{1C77FB88-C2EB-49B7-A568-B91623004A51}" sibTransId="{AD014FF0-1330-4A96-8084-3EEA611AFD19}"/>
    <dgm:cxn modelId="{E9F9F217-EDED-4F82-B2AB-EB8DDB2E3B7F}" type="presOf" srcId="{A88CECF2-80FF-47E6-AE96-9E123400865C}" destId="{614244FD-C38F-4AC2-AE60-C2EC6710FBF8}" srcOrd="0" destOrd="0" presId="urn:microsoft.com/office/officeart/2018/2/layout/IconLabelList"/>
    <dgm:cxn modelId="{86AF428B-98D8-4742-A16C-674F047E478B}" type="presOf" srcId="{AE71E90E-CA7C-4887-A2B5-A9EF8E14F87D}" destId="{E627C10D-0BA7-4D1D-B576-60BB4D73F39E}" srcOrd="0" destOrd="0" presId="urn:microsoft.com/office/officeart/2018/2/layout/IconLabelList"/>
    <dgm:cxn modelId="{93851DB1-F7B1-408B-96EF-A8040F47D144}" type="presOf" srcId="{D73B2268-2501-43C7-B2E3-E63079C944E9}" destId="{0367AAAE-6D7E-4FC1-81F5-057EDC9ED008}" srcOrd="0" destOrd="0" presId="urn:microsoft.com/office/officeart/2018/2/layout/IconLabelList"/>
    <dgm:cxn modelId="{281FEDD5-4BA3-4187-8F46-BCA1087B5DED}" srcId="{D73B2268-2501-43C7-B2E3-E63079C944E9}" destId="{A88CECF2-80FF-47E6-AE96-9E123400865C}" srcOrd="0" destOrd="0" parTransId="{3A2F283B-7EAF-4E84-9B82-57E9643766C5}" sibTransId="{11821AE3-845B-40C9-9AEC-F19A5E550B30}"/>
    <dgm:cxn modelId="{0ADE976F-14EC-49DF-B4F8-09A0B1EBB7C4}" type="presParOf" srcId="{0367AAAE-6D7E-4FC1-81F5-057EDC9ED008}" destId="{7465E0C0-7DB6-4698-A018-DD86691D0E41}" srcOrd="0" destOrd="0" presId="urn:microsoft.com/office/officeart/2018/2/layout/IconLabelList"/>
    <dgm:cxn modelId="{6CBA419A-B0F2-4BCE-80B1-CFD02B2F1E5B}" type="presParOf" srcId="{7465E0C0-7DB6-4698-A018-DD86691D0E41}" destId="{491F3CC2-4F3D-4F9A-90C6-D34879D56F34}" srcOrd="0" destOrd="0" presId="urn:microsoft.com/office/officeart/2018/2/layout/IconLabelList"/>
    <dgm:cxn modelId="{3DE9045F-792D-4D12-86FA-7BC62F977854}" type="presParOf" srcId="{7465E0C0-7DB6-4698-A018-DD86691D0E41}" destId="{8CAEE861-4A31-4A7D-BABE-990CF18C849C}" srcOrd="1" destOrd="0" presId="urn:microsoft.com/office/officeart/2018/2/layout/IconLabelList"/>
    <dgm:cxn modelId="{ABC2A029-513D-4C6F-8645-3540DB95C207}" type="presParOf" srcId="{7465E0C0-7DB6-4698-A018-DD86691D0E41}" destId="{614244FD-C38F-4AC2-AE60-C2EC6710FBF8}" srcOrd="2" destOrd="0" presId="urn:microsoft.com/office/officeart/2018/2/layout/IconLabelList"/>
    <dgm:cxn modelId="{DEBB91D4-2E13-4004-A76A-FA172B4FD88F}" type="presParOf" srcId="{0367AAAE-6D7E-4FC1-81F5-057EDC9ED008}" destId="{7C7F548F-F639-4187-8BDE-EB2EA5372040}" srcOrd="1" destOrd="0" presId="urn:microsoft.com/office/officeart/2018/2/layout/IconLabelList"/>
    <dgm:cxn modelId="{6C99469E-F785-4DAF-A09B-A4805B265E63}" type="presParOf" srcId="{0367AAAE-6D7E-4FC1-81F5-057EDC9ED008}" destId="{66AE599D-C13B-4EDD-B429-C3D29C66849F}" srcOrd="2" destOrd="0" presId="urn:microsoft.com/office/officeart/2018/2/layout/IconLabelList"/>
    <dgm:cxn modelId="{A6AD4F0C-B99A-4FF2-9DFA-EE9823D7CEF4}" type="presParOf" srcId="{66AE599D-C13B-4EDD-B429-C3D29C66849F}" destId="{69162082-EE3A-4EB3-8B6C-2B751B6A1AF6}" srcOrd="0" destOrd="0" presId="urn:microsoft.com/office/officeart/2018/2/layout/IconLabelList"/>
    <dgm:cxn modelId="{5241A5CD-5F87-4DD9-8A39-987C960EB798}" type="presParOf" srcId="{66AE599D-C13B-4EDD-B429-C3D29C66849F}" destId="{CF6AD10D-7619-43C2-A9C8-1F280721F703}" srcOrd="1" destOrd="0" presId="urn:microsoft.com/office/officeart/2018/2/layout/IconLabelList"/>
    <dgm:cxn modelId="{3102CC0C-894D-4AD5-9980-4E99ADA67321}" type="presParOf" srcId="{66AE599D-C13B-4EDD-B429-C3D29C66849F}" destId="{E627C10D-0BA7-4D1D-B576-60BB4D73F39E}"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E9474-2F7B-44AE-828C-4C510ECB57D0}">
      <dsp:nvSpPr>
        <dsp:cNvPr id="0" name=""/>
        <dsp:cNvSpPr/>
      </dsp:nvSpPr>
      <dsp:spPr>
        <a:xfrm>
          <a:off x="1357310" y="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385B6C-055D-4E9C-A944-61845B36AE94}">
      <dsp:nvSpPr>
        <dsp:cNvPr id="0" name=""/>
        <dsp:cNvSpPr/>
      </dsp:nvSpPr>
      <dsp:spPr>
        <a:xfrm>
          <a:off x="93112" y="1975535"/>
          <a:ext cx="4320000" cy="2179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The Intel and AMD instructions sets, for example, have been horribly extended in the name of compatibility. RISC-V allows the enthusiast to sweep all that clutter aside and start over with a clean slate.</a:t>
          </a:r>
        </a:p>
      </dsp:txBody>
      <dsp:txXfrm>
        <a:off x="93112" y="1975535"/>
        <a:ext cx="4320000" cy="2179999"/>
      </dsp:txXfrm>
    </dsp:sp>
    <dsp:sp modelId="{8E5F3FDF-8E53-4D52-854A-0725E01A8B51}">
      <dsp:nvSpPr>
        <dsp:cNvPr id="0" name=""/>
        <dsp:cNvSpPr/>
      </dsp:nvSpPr>
      <dsp:spPr>
        <a:xfrm>
          <a:off x="7170367" y="0"/>
          <a:ext cx="1944000" cy="1937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1A3A8B-80F9-4CD0-B20F-722B8B96365B}">
      <dsp:nvSpPr>
        <dsp:cNvPr id="0" name=""/>
        <dsp:cNvSpPr/>
      </dsp:nvSpPr>
      <dsp:spPr>
        <a:xfrm>
          <a:off x="5186046" y="1934955"/>
          <a:ext cx="5676695" cy="1620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At the assembly level, the programmer directs every step of the machine. You decide how the registers are allocated and apply every binary trick in your toolbox to make that process slick. While we don't have hardware debug consoles anymore, we do have powerful debugging tools like the GNU </a:t>
          </a:r>
          <a:r>
            <a:rPr lang="en-US" sz="1200" kern="1200" dirty="0" err="1">
              <a:latin typeface="Times New Roman" panose="02020603050405020304" pitchFamily="18" charset="0"/>
              <a:cs typeface="Times New Roman" panose="02020603050405020304" pitchFamily="18" charset="0"/>
            </a:rPr>
            <a:t>gdb</a:t>
          </a:r>
          <a:r>
            <a:rPr lang="en-US" sz="1200" kern="1200" dirty="0">
              <a:latin typeface="Times New Roman" panose="02020603050405020304" pitchFamily="18" charset="0"/>
              <a:cs typeface="Times New Roman" panose="02020603050405020304" pitchFamily="18" charset="0"/>
            </a:rPr>
            <a:t> debugger</a:t>
          </a:r>
        </a:p>
      </dsp:txBody>
      <dsp:txXfrm>
        <a:off x="5186046" y="1934955"/>
        <a:ext cx="5676695" cy="1620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B3AD4-E6F3-4703-922F-8FFAD9D295F6}">
      <dsp:nvSpPr>
        <dsp:cNvPr id="0" name=""/>
        <dsp:cNvSpPr/>
      </dsp:nvSpPr>
      <dsp:spPr>
        <a:xfrm flipV="1">
          <a:off x="274702" y="760104"/>
          <a:ext cx="3592807" cy="13654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080FCD-4F65-45B8-AE59-8D37ED6E0FDF}">
      <dsp:nvSpPr>
        <dsp:cNvPr id="0" name=""/>
        <dsp:cNvSpPr/>
      </dsp:nvSpPr>
      <dsp:spPr>
        <a:xfrm>
          <a:off x="744865" y="1003298"/>
          <a:ext cx="865061" cy="8650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50DCEA-A36E-46B6-991F-810D15DDF6ED}">
      <dsp:nvSpPr>
        <dsp:cNvPr id="0" name=""/>
        <dsp:cNvSpPr/>
      </dsp:nvSpPr>
      <dsp:spPr>
        <a:xfrm>
          <a:off x="1531076" y="758124"/>
          <a:ext cx="4626629" cy="1082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540" tIns="114540" rIns="114540" bIns="114540" numCol="1" spcCol="1270" anchor="ctr" anchorCtr="0">
          <a:noAutofit/>
        </a:bodyPr>
        <a:lstStyle/>
        <a:p>
          <a:pPr marL="0" lvl="0" indent="0" algn="l" defTabSz="622300">
            <a:lnSpc>
              <a:spcPct val="100000"/>
            </a:lnSpc>
            <a:spcBef>
              <a:spcPct val="0"/>
            </a:spcBef>
            <a:spcAft>
              <a:spcPct val="35000"/>
            </a:spcAft>
            <a:buNone/>
          </a:pPr>
          <a:r>
            <a:rPr lang="en-IN" sz="1400" b="1" kern="1200" dirty="0"/>
            <a:t>Assembler Language</a:t>
          </a:r>
          <a:endParaRPr lang="en-US" sz="1400" kern="1200" dirty="0"/>
        </a:p>
      </dsp:txBody>
      <dsp:txXfrm>
        <a:off x="1531076" y="758124"/>
        <a:ext cx="4626629" cy="1082263"/>
      </dsp:txXfrm>
    </dsp:sp>
    <dsp:sp modelId="{2D4C0A11-1BC4-4B67-947E-2B3BCCA13DBE}">
      <dsp:nvSpPr>
        <dsp:cNvPr id="0" name=""/>
        <dsp:cNvSpPr/>
      </dsp:nvSpPr>
      <dsp:spPr>
        <a:xfrm>
          <a:off x="-15653" y="2727215"/>
          <a:ext cx="6767369" cy="174759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27505-35A6-4504-9741-18B19D86CF51}">
      <dsp:nvSpPr>
        <dsp:cNvPr id="0" name=""/>
        <dsp:cNvSpPr/>
      </dsp:nvSpPr>
      <dsp:spPr>
        <a:xfrm>
          <a:off x="460130" y="3168484"/>
          <a:ext cx="865061" cy="8650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BD4198-0517-45DF-A31B-9E9E5636B8EF}">
      <dsp:nvSpPr>
        <dsp:cNvPr id="0" name=""/>
        <dsp:cNvSpPr/>
      </dsp:nvSpPr>
      <dsp:spPr>
        <a:xfrm>
          <a:off x="1428624" y="3111830"/>
          <a:ext cx="5337464" cy="9322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540" tIns="114540" rIns="114540" bIns="114540" numCol="1" spcCol="1270" anchor="ctr" anchorCtr="0">
          <a:noAutofit/>
        </a:bodyPr>
        <a:lstStyle/>
        <a:p>
          <a:pPr marL="0" lvl="0" indent="0" algn="l" defTabSz="622300">
            <a:lnSpc>
              <a:spcPct val="100000"/>
            </a:lnSpc>
            <a:spcBef>
              <a:spcPct val="0"/>
            </a:spcBef>
            <a:spcAft>
              <a:spcPct val="35000"/>
            </a:spcAft>
            <a:buNone/>
          </a:pPr>
          <a:r>
            <a:rPr lang="en-US" sz="1400" kern="1200" dirty="0"/>
            <a:t>It</a:t>
          </a:r>
          <a:r>
            <a:rPr lang="en-US" sz="1400" b="1" kern="1200" dirty="0"/>
            <a:t> </a:t>
          </a:r>
          <a:r>
            <a:rPr lang="en-US" sz="1400" b="0" i="0" kern="1200" dirty="0"/>
            <a:t>is a low-level programming language that directly interacts with a computer's hardware by using mnemonics (human-readable codes) to represent machine instructions, essentially acting as a bridge between high-level languages and the binary code the CPU understands; it allows programmers to write code that is closer to the hardware, enabling fine-grained control over operations but requiring a deeper understanding of the processor architecture. </a:t>
          </a:r>
          <a:endParaRPr lang="en-US" sz="1400" kern="1200" dirty="0"/>
        </a:p>
      </dsp:txBody>
      <dsp:txXfrm>
        <a:off x="1428624" y="3111830"/>
        <a:ext cx="5337464" cy="9322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1F3CC2-4F3D-4F9A-90C6-D34879D56F34}">
      <dsp:nvSpPr>
        <dsp:cNvPr id="0" name=""/>
        <dsp:cNvSpPr/>
      </dsp:nvSpPr>
      <dsp:spPr>
        <a:xfrm>
          <a:off x="846819" y="634394"/>
          <a:ext cx="1377000" cy="1377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4244FD-C38F-4AC2-AE60-C2EC6710FBF8}">
      <dsp:nvSpPr>
        <dsp:cNvPr id="0" name=""/>
        <dsp:cNvSpPr/>
      </dsp:nvSpPr>
      <dsp:spPr>
        <a:xfrm>
          <a:off x="5319" y="2587508"/>
          <a:ext cx="3060000" cy="1887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1" kern="1200"/>
            <a:t>Why RISC-V?</a:t>
          </a:r>
          <a:endParaRPr lang="en-US" sz="1100" kern="1200"/>
        </a:p>
      </dsp:txBody>
      <dsp:txXfrm>
        <a:off x="5319" y="2587508"/>
        <a:ext cx="3060000" cy="1887187"/>
      </dsp:txXfrm>
    </dsp:sp>
    <dsp:sp modelId="{69162082-EE3A-4EB3-8B6C-2B751B6A1AF6}">
      <dsp:nvSpPr>
        <dsp:cNvPr id="0" name=""/>
        <dsp:cNvSpPr/>
      </dsp:nvSpPr>
      <dsp:spPr>
        <a:xfrm>
          <a:off x="4442319" y="634394"/>
          <a:ext cx="1377000" cy="1377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27C10D-0BA7-4D1D-B576-60BB4D73F39E}">
      <dsp:nvSpPr>
        <dsp:cNvPr id="0" name=""/>
        <dsp:cNvSpPr/>
      </dsp:nvSpPr>
      <dsp:spPr>
        <a:xfrm>
          <a:off x="3600819" y="2587508"/>
          <a:ext cx="3060000" cy="1887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a:t>
          </a:r>
          <a:r>
            <a:rPr lang="en-US" sz="1100" b="0" i="0" kern="1200"/>
            <a:t>dvantages </a:t>
          </a:r>
          <a:r>
            <a:rPr lang="en-US" sz="1100" b="1" i="0" kern="1200"/>
            <a:t>of RISC-V architecture </a:t>
          </a:r>
          <a:r>
            <a:rPr lang="en-US" sz="1100" b="0" i="0" kern="1200"/>
            <a:t>include its open-source nature, allowing for customization and flexibility, enabling designers to tailor processors for specific applications while maintaining software compatibility across different implementations, resulting in faster development cycles, lower costs, and greater control over the design process compared to proprietary architectures like ARM; additionally, its modular design facilitates easier software development and improved energy efficiency due to simplified instructions sets</a:t>
          </a:r>
          <a:endParaRPr lang="en-US" sz="1100" kern="1200"/>
        </a:p>
      </dsp:txBody>
      <dsp:txXfrm>
        <a:off x="3600819" y="2587508"/>
        <a:ext cx="3060000" cy="188718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47BC-B2CC-360D-8472-0225401B45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BADA5E-4DF1-7CB5-C102-43B43F575B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45749C-9FD4-4893-FD44-4119208B96B1}"/>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4AD6FB65-3F52-A99D-2F68-B51058BC0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CC4FCD-ACFA-F418-CA0A-D0530FD77961}"/>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2175572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77D23-6BF4-9622-CE97-E28C5EB778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DE95B9-C79D-85D3-8BEE-D4047F6F03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4C57F-E27E-230D-FCDC-D436CD344727}"/>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67BBD1FE-9123-AE8E-7340-C7CEB62848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C36E8-DE92-2A41-4881-0E8F8833900D}"/>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3713086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12DF-3A24-D8F9-8CD5-BD1037FD81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B6A66D-D57C-6D42-1759-010E1BA891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C5D6E9-AE53-26B6-2808-B747851A383A}"/>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D7006482-6DC2-ECE4-C1DE-E510DC1B7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617D7-60B2-6C4F-C803-1EC517B8D99A}"/>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3245537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337A-864F-F75A-A1C1-679AF3DB9B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FA3113-9181-F467-3F6A-627B65F8FA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2B11CE-CEB6-3E8B-3387-8B0FAFB71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252F5A-F841-4538-B910-C563F755D369}"/>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6" name="Footer Placeholder 5">
            <a:extLst>
              <a:ext uri="{FF2B5EF4-FFF2-40B4-BE49-F238E27FC236}">
                <a16:creationId xmlns:a16="http://schemas.microsoft.com/office/drawing/2014/main" id="{4872183F-D41C-95EB-16A3-4EA9B949D1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D23CA0-97AB-021E-2667-203E08C429DE}"/>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250499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1274-A841-03CF-DA4B-DB8B174F89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312773-659A-0D6E-7B6D-5151F98399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45B758-181A-C52A-C448-72FE6E19D2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3DF4CD-95E8-193C-01B5-48BEFFB5E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38E6A2-B8DC-7369-3445-E521F5A7B0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54380C-6A46-6EF1-2B48-8028E2B49DED}"/>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8" name="Footer Placeholder 7">
            <a:extLst>
              <a:ext uri="{FF2B5EF4-FFF2-40B4-BE49-F238E27FC236}">
                <a16:creationId xmlns:a16="http://schemas.microsoft.com/office/drawing/2014/main" id="{70CB8D53-71FF-1B0E-0F9C-7BEEFAD9CE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9488F1-BAA3-15ED-6122-8BAE5082014F}"/>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4127288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00F9-B39A-1BCE-22EE-A80AFC0664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2471CD-076D-C590-F572-5C1C10D19261}"/>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4" name="Footer Placeholder 3">
            <a:extLst>
              <a:ext uri="{FF2B5EF4-FFF2-40B4-BE49-F238E27FC236}">
                <a16:creationId xmlns:a16="http://schemas.microsoft.com/office/drawing/2014/main" id="{02FAAC2D-6C5E-FF61-6410-B933CD7B28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E66F22-A768-25BB-9862-B75ED6426706}"/>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9065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F58299-C1BA-31A3-762A-1C7567078044}"/>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3" name="Footer Placeholder 2">
            <a:extLst>
              <a:ext uri="{FF2B5EF4-FFF2-40B4-BE49-F238E27FC236}">
                <a16:creationId xmlns:a16="http://schemas.microsoft.com/office/drawing/2014/main" id="{BE9E130B-431D-1D5F-75F0-5AE4EAC4A6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72BBFF-0267-68EC-75C2-B13CC0973399}"/>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765124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AF505-3722-25E5-18B3-BE4CF81C3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951CA0-67FA-E16F-373B-CB30F4D894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909CE0-D893-6A35-2CC0-D16575F88A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5ED1C2-7C0E-526B-A12B-53AE7204CE93}"/>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6" name="Footer Placeholder 5">
            <a:extLst>
              <a:ext uri="{FF2B5EF4-FFF2-40B4-BE49-F238E27FC236}">
                <a16:creationId xmlns:a16="http://schemas.microsoft.com/office/drawing/2014/main" id="{042B63D8-DB30-F610-8259-21FEE7B2B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3E36DA-7525-AC3A-D024-007D08D45CEE}"/>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1431615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8C26D-ACCA-8886-EFFA-646244F9E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8546C1-B5A4-4885-82DC-D9D345FD6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2B2478-3AD1-41E1-C791-9677DB7AAD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0378E-47DC-41A6-9138-BEB2BBBC25C0}"/>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6" name="Footer Placeholder 5">
            <a:extLst>
              <a:ext uri="{FF2B5EF4-FFF2-40B4-BE49-F238E27FC236}">
                <a16:creationId xmlns:a16="http://schemas.microsoft.com/office/drawing/2014/main" id="{591D3689-D43E-BE96-B90B-63EB2AEA42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3809FE-7B33-616F-228C-776E2C39A96F}"/>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488456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FFAA-F0CA-6DBE-E123-4EBF35F835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D7CE03-4CFE-7C62-7BCA-8223822631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59D63-7EF5-274A-CDD5-EFD38001001E}"/>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A3533652-13A5-56E1-D954-461D8A320F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D5C15F-ED40-0B3B-A501-13206E26717B}"/>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313738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6E6148-A746-9F3E-9886-3856B5846A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33BFF0-3558-9C55-73C9-56020F39DD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566B6-17CF-7E5B-7372-1875BCF8554D}"/>
              </a:ext>
            </a:extLst>
          </p:cNvPr>
          <p:cNvSpPr>
            <a:spLocks noGrp="1"/>
          </p:cNvSpPr>
          <p:nvPr>
            <p:ph type="dt" sz="half" idx="10"/>
          </p:nvPr>
        </p:nvSpPr>
        <p:spPr/>
        <p:txBody>
          <a:body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7A0865E2-BE7C-D6ED-5EA8-90210788DF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CE7B6-6701-952C-2A99-D796BDAAC302}"/>
              </a:ext>
            </a:extLst>
          </p:cNvPr>
          <p:cNvSpPr>
            <a:spLocks noGrp="1"/>
          </p:cNvSpPr>
          <p:nvPr>
            <p:ph type="sldNum" sz="quarter" idx="12"/>
          </p:nvPr>
        </p:nvSpPr>
        <p:spPr/>
        <p:txBody>
          <a:bodyPr/>
          <a:lstStyle/>
          <a:p>
            <a:fld id="{62DC5279-75B7-49FB-BB53-9BAA499CEC97}" type="slidenum">
              <a:rPr lang="en-IN" smtClean="0"/>
              <a:t>‹#›</a:t>
            </a:fld>
            <a:endParaRPr lang="en-IN"/>
          </a:p>
        </p:txBody>
      </p:sp>
    </p:spTree>
    <p:extLst>
      <p:ext uri="{BB962C8B-B14F-4D97-AF65-F5344CB8AC3E}">
        <p14:creationId xmlns:p14="http://schemas.microsoft.com/office/powerpoint/2010/main" val="1936163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7C0A5E-F9BC-CE0E-0FD0-C0B95B5BAF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F1C45A-3F31-25A8-E358-A91321AD90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ED818D-5331-39AE-E06F-A5F29AF289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0C0A54-29F5-4F85-B540-2339855A5541}" type="datetimeFigureOut">
              <a:rPr lang="en-IN" smtClean="0"/>
              <a:t>05-07-2025</a:t>
            </a:fld>
            <a:endParaRPr lang="en-IN"/>
          </a:p>
        </p:txBody>
      </p:sp>
      <p:sp>
        <p:nvSpPr>
          <p:cNvPr id="5" name="Footer Placeholder 4">
            <a:extLst>
              <a:ext uri="{FF2B5EF4-FFF2-40B4-BE49-F238E27FC236}">
                <a16:creationId xmlns:a16="http://schemas.microsoft.com/office/drawing/2014/main" id="{A029AF03-AEF5-FB72-B62E-D88DBBA44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F5CD02-18F3-946B-6EB3-1C3DB83D10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DC5279-75B7-49FB-BB53-9BAA499CEC97}" type="slidenum">
              <a:rPr lang="en-IN" smtClean="0"/>
              <a:t>‹#›</a:t>
            </a:fld>
            <a:endParaRPr lang="en-IN"/>
          </a:p>
        </p:txBody>
      </p:sp>
    </p:spTree>
    <p:extLst>
      <p:ext uri="{BB962C8B-B14F-4D97-AF65-F5344CB8AC3E}">
        <p14:creationId xmlns:p14="http://schemas.microsoft.com/office/powerpoint/2010/main" val="347234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91EB-BC56-C732-D448-AC48FD32ECAA}"/>
              </a:ext>
            </a:extLst>
          </p:cNvPr>
          <p:cNvSpPr>
            <a:spLocks noGrp="1"/>
          </p:cNvSpPr>
          <p:nvPr>
            <p:ph type="ctrTitle"/>
          </p:nvPr>
        </p:nvSpPr>
        <p:spPr>
          <a:xfrm>
            <a:off x="1524000" y="1910418"/>
            <a:ext cx="9144000" cy="2387600"/>
          </a:xfrm>
        </p:spPr>
        <p:txBody>
          <a:bodyPr>
            <a:normAutofit fontScale="90000"/>
          </a:bodyPr>
          <a:lstStyle/>
          <a:p>
            <a:r>
              <a:rPr lang="en-US" dirty="0">
                <a:latin typeface="Times New Roman" panose="02020603050405020304" pitchFamily="18" charset="0"/>
                <a:cs typeface="Times New Roman" panose="02020603050405020304" pitchFamily="18" charset="0"/>
              </a:rPr>
              <a:t>RISC-V Assembly Language Programming Using ESP32-C3 and QEMU</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F158CC1-2D87-D8C7-1830-AB03AF1585AF}"/>
              </a:ext>
            </a:extLst>
          </p:cNvPr>
          <p:cNvSpPr>
            <a:spLocks noGrp="1"/>
          </p:cNvSpPr>
          <p:nvPr>
            <p:ph type="subTitle" idx="1"/>
          </p:nvPr>
        </p:nvSpPr>
        <p:spPr>
          <a:xfrm>
            <a:off x="1524000" y="4789349"/>
            <a:ext cx="9144000" cy="1174888"/>
          </a:xfrm>
        </p:spPr>
        <p:txBody>
          <a:bodyPr>
            <a:normAutofit/>
          </a:bodyPr>
          <a:lstStyle/>
          <a:p>
            <a:r>
              <a:rPr lang="en-IN" sz="2800" b="1" dirty="0">
                <a:latin typeface="Times New Roman" panose="02020603050405020304" pitchFamily="18" charset="0"/>
                <a:cs typeface="Times New Roman" panose="02020603050405020304" pitchFamily="18" charset="0"/>
              </a:rPr>
              <a:t>Chapter 1</a:t>
            </a:r>
            <a:endParaRPr lang="en-US" sz="2800" b="1" dirty="0">
              <a:solidFill>
                <a:srgbClr val="000000"/>
              </a:solidFill>
              <a:latin typeface="Times New Roman" panose="02020603050405020304" pitchFamily="18" charset="0"/>
              <a:cs typeface="Times New Roman" panose="02020603050405020304" pitchFamily="18" charset="0"/>
            </a:endParaRPr>
          </a:p>
          <a:p>
            <a:r>
              <a:rPr lang="en-US" sz="2800" b="1" dirty="0">
                <a:solidFill>
                  <a:srgbClr val="000000"/>
                </a:solidFill>
                <a:latin typeface="Times New Roman" panose="02020603050405020304" pitchFamily="18" charset="0"/>
                <a:cs typeface="Times New Roman" panose="02020603050405020304" pitchFamily="18" charset="0"/>
              </a:rPr>
              <a:t>Presentation by Yi-Chih Tung</a:t>
            </a:r>
          </a:p>
          <a:p>
            <a:endParaRPr lang="en-IN" b="1" dirty="0">
              <a:latin typeface="Times New Roman" panose="02020603050405020304" pitchFamily="18" charset="0"/>
              <a:cs typeface="Times New Roman" panose="02020603050405020304" pitchFamily="18" charset="0"/>
            </a:endParaRPr>
          </a:p>
        </p:txBody>
      </p:sp>
      <p:sp>
        <p:nvSpPr>
          <p:cNvPr id="6" name="Freeform 8">
            <a:extLst>
              <a:ext uri="{FF2B5EF4-FFF2-40B4-BE49-F238E27FC236}">
                <a16:creationId xmlns:a16="http://schemas.microsoft.com/office/drawing/2014/main" id="{9540BBD4-CF64-EC9A-9FE7-93FE63A311ED}"/>
              </a:ext>
            </a:extLst>
          </p:cNvPr>
          <p:cNvSpPr/>
          <p:nvPr/>
        </p:nvSpPr>
        <p:spPr>
          <a:xfrm>
            <a:off x="3767343" y="826029"/>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509435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2E92-13D2-346D-21A8-F8E50C1E91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Chapter 1 - Introduction</a:t>
            </a:r>
          </a:p>
        </p:txBody>
      </p:sp>
      <p:graphicFrame>
        <p:nvGraphicFramePr>
          <p:cNvPr id="7" name="Content Placeholder 2">
            <a:extLst>
              <a:ext uri="{FF2B5EF4-FFF2-40B4-BE49-F238E27FC236}">
                <a16:creationId xmlns:a16="http://schemas.microsoft.com/office/drawing/2014/main" id="{8195C1B7-ABE2-55B1-D2E3-18964F6DA149}"/>
              </a:ext>
            </a:extLst>
          </p:cNvPr>
          <p:cNvGraphicFramePr>
            <a:graphicFrameLocks noGrp="1"/>
          </p:cNvGraphicFramePr>
          <p:nvPr>
            <p:ph idx="1"/>
            <p:extLst>
              <p:ext uri="{D42A27DB-BD31-4B8C-83A1-F6EECF244321}">
                <p14:modId xmlns:p14="http://schemas.microsoft.com/office/powerpoint/2010/main" val="3862895104"/>
              </p:ext>
            </p:extLst>
          </p:nvPr>
        </p:nvGraphicFramePr>
        <p:xfrm>
          <a:off x="491067" y="1825625"/>
          <a:ext cx="11142133"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reeform 8">
            <a:extLst>
              <a:ext uri="{FF2B5EF4-FFF2-40B4-BE49-F238E27FC236}">
                <a16:creationId xmlns:a16="http://schemas.microsoft.com/office/drawing/2014/main" id="{E178C2A9-7DF4-B421-A265-C32EDDC1002E}"/>
              </a:ext>
            </a:extLst>
          </p:cNvPr>
          <p:cNvSpPr/>
          <p:nvPr/>
        </p:nvSpPr>
        <p:spPr>
          <a:xfrm>
            <a:off x="7310643" y="230188"/>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7"/>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049645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C5901-A6C3-1ECF-AD23-63D5E985933E}"/>
              </a:ext>
            </a:extLst>
          </p:cNvPr>
          <p:cNvSpPr>
            <a:spLocks noGrp="1"/>
          </p:cNvSpPr>
          <p:nvPr>
            <p:ph type="title"/>
          </p:nvPr>
        </p:nvSpPr>
        <p:spPr>
          <a:xfrm>
            <a:off x="520677" y="312873"/>
            <a:ext cx="7342414" cy="728889"/>
          </a:xfrm>
        </p:spPr>
        <p:txBody>
          <a:bodyPr/>
          <a:lstStyle/>
          <a:p>
            <a:r>
              <a:rPr lang="en-US" dirty="0">
                <a:latin typeface="Times New Roman" panose="02020603050405020304" pitchFamily="18" charset="0"/>
                <a:cs typeface="Times New Roman" panose="02020603050405020304" pitchFamily="18" charset="0"/>
              </a:rPr>
              <a:t>The Joy of the Machine</a:t>
            </a:r>
            <a:endParaRPr lang="en-IN" dirty="0">
              <a:latin typeface="Times New Roman" panose="02020603050405020304" pitchFamily="18" charset="0"/>
              <a:cs typeface="Times New Roman" panose="02020603050405020304" pitchFamily="18" charset="0"/>
            </a:endParaRPr>
          </a:p>
        </p:txBody>
      </p:sp>
      <p:pic>
        <p:nvPicPr>
          <p:cNvPr id="1030" name="Picture 6" descr="Assembly Language">
            <a:extLst>
              <a:ext uri="{FF2B5EF4-FFF2-40B4-BE49-F238E27FC236}">
                <a16:creationId xmlns:a16="http://schemas.microsoft.com/office/drawing/2014/main" id="{3F842B35-0415-61C3-9C1B-806B4C9FC6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530"/>
          <a:stretch/>
        </p:blipFill>
        <p:spPr bwMode="auto">
          <a:xfrm>
            <a:off x="6434666" y="1338096"/>
            <a:ext cx="4487936" cy="2585333"/>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8">
            <a:extLst>
              <a:ext uri="{FF2B5EF4-FFF2-40B4-BE49-F238E27FC236}">
                <a16:creationId xmlns:a16="http://schemas.microsoft.com/office/drawing/2014/main" id="{4F155C89-B466-6C30-AA81-98FB3D4A125D}"/>
              </a:ext>
            </a:extLst>
          </p:cNvPr>
          <p:cNvSpPr/>
          <p:nvPr/>
        </p:nvSpPr>
        <p:spPr>
          <a:xfrm>
            <a:off x="7332089" y="312873"/>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aphicFrame>
        <p:nvGraphicFramePr>
          <p:cNvPr id="1032" name="TextBox 4">
            <a:extLst>
              <a:ext uri="{FF2B5EF4-FFF2-40B4-BE49-F238E27FC236}">
                <a16:creationId xmlns:a16="http://schemas.microsoft.com/office/drawing/2014/main" id="{CF730521-71BC-D7F9-7986-B00112D64572}"/>
              </a:ext>
            </a:extLst>
          </p:cNvPr>
          <p:cNvGraphicFramePr/>
          <p:nvPr>
            <p:extLst>
              <p:ext uri="{D42A27DB-BD31-4B8C-83A1-F6EECF244321}">
                <p14:modId xmlns:p14="http://schemas.microsoft.com/office/powerpoint/2010/main" val="702613475"/>
              </p:ext>
            </p:extLst>
          </p:nvPr>
        </p:nvGraphicFramePr>
        <p:xfrm>
          <a:off x="564720" y="1386805"/>
          <a:ext cx="6767369" cy="52530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65237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RISC-V, and why we're unlocking ...">
            <a:extLst>
              <a:ext uri="{FF2B5EF4-FFF2-40B4-BE49-F238E27FC236}">
                <a16:creationId xmlns:a16="http://schemas.microsoft.com/office/drawing/2014/main" id="{42EB1B88-A061-0B64-0DC8-5697611D2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3171" y="2189047"/>
            <a:ext cx="4278195" cy="2479903"/>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8">
            <a:extLst>
              <a:ext uri="{FF2B5EF4-FFF2-40B4-BE49-F238E27FC236}">
                <a16:creationId xmlns:a16="http://schemas.microsoft.com/office/drawing/2014/main" id="{0FF9D409-CD3A-E717-A3EB-61D48738139A}"/>
              </a:ext>
            </a:extLst>
          </p:cNvPr>
          <p:cNvSpPr/>
          <p:nvPr/>
        </p:nvSpPr>
        <p:spPr>
          <a:xfrm>
            <a:off x="7223611" y="365354"/>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aphicFrame>
        <p:nvGraphicFramePr>
          <p:cNvPr id="1028" name="TextBox 4">
            <a:extLst>
              <a:ext uri="{FF2B5EF4-FFF2-40B4-BE49-F238E27FC236}">
                <a16:creationId xmlns:a16="http://schemas.microsoft.com/office/drawing/2014/main" id="{2EABB7FC-8EE4-CBC0-6224-5F8F0C60137E}"/>
              </a:ext>
            </a:extLst>
          </p:cNvPr>
          <p:cNvGraphicFramePr/>
          <p:nvPr/>
        </p:nvGraphicFramePr>
        <p:xfrm>
          <a:off x="747033" y="874454"/>
          <a:ext cx="6666138" cy="51090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95946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338C56-AD4B-36A5-7950-365E3563B10A}"/>
              </a:ext>
            </a:extLst>
          </p:cNvPr>
          <p:cNvSpPr txBox="1"/>
          <p:nvPr/>
        </p:nvSpPr>
        <p:spPr>
          <a:xfrm>
            <a:off x="892933" y="400123"/>
            <a:ext cx="8413296" cy="769441"/>
          </a:xfrm>
          <a:prstGeom prst="rect">
            <a:avLst/>
          </a:prstGeom>
          <a:noFill/>
        </p:spPr>
        <p:txBody>
          <a:bodyPr wrap="square">
            <a:spAutoFit/>
          </a:bodyPr>
          <a:lstStyle/>
          <a:p>
            <a:r>
              <a:rPr lang="en-IN" sz="4400" b="1" dirty="0">
                <a:latin typeface="Times New Roman" panose="02020603050405020304" pitchFamily="18" charset="0"/>
                <a:cs typeface="Times New Roman" panose="02020603050405020304" pitchFamily="18" charset="0"/>
              </a:rPr>
              <a:t>Base Instruction Sets Covered</a:t>
            </a:r>
            <a:endParaRPr lang="en-IN" sz="4400" dirty="0"/>
          </a:p>
        </p:txBody>
      </p:sp>
      <p:sp>
        <p:nvSpPr>
          <p:cNvPr id="5" name="TextBox 4">
            <a:extLst>
              <a:ext uri="{FF2B5EF4-FFF2-40B4-BE49-F238E27FC236}">
                <a16:creationId xmlns:a16="http://schemas.microsoft.com/office/drawing/2014/main" id="{BD807EF1-6B97-1747-FE8C-F144CF972265}"/>
              </a:ext>
            </a:extLst>
          </p:cNvPr>
          <p:cNvSpPr txBox="1"/>
          <p:nvPr/>
        </p:nvSpPr>
        <p:spPr>
          <a:xfrm>
            <a:off x="810233" y="1349687"/>
            <a:ext cx="5285767" cy="267765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RISC-V is now a large body of work,</a:t>
            </a:r>
          </a:p>
          <a:p>
            <a:pPr algn="just"/>
            <a:r>
              <a:rPr lang="en-US" sz="2400" dirty="0">
                <a:latin typeface="Times New Roman" panose="02020603050405020304" pitchFamily="18" charset="0"/>
                <a:cs typeface="Times New Roman" panose="02020603050405020304" pitchFamily="18" charset="0"/>
              </a:rPr>
              <a:t>In chapter 4, Architecture, we will discuss base instruction sets and extensions to RISC-V. Focus of this Course, however, will be on the RV32 and RV64 subsets of RISC-V.</a:t>
            </a:r>
          </a:p>
          <a:p>
            <a:pPr algn="just"/>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347F39D-5D0E-877C-2002-E1E40618F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270" y="3713070"/>
            <a:ext cx="4591691" cy="2619741"/>
          </a:xfrm>
          <a:prstGeom prst="rect">
            <a:avLst/>
          </a:prstGeom>
        </p:spPr>
      </p:pic>
      <p:pic>
        <p:nvPicPr>
          <p:cNvPr id="7" name="Picture 6">
            <a:extLst>
              <a:ext uri="{FF2B5EF4-FFF2-40B4-BE49-F238E27FC236}">
                <a16:creationId xmlns:a16="http://schemas.microsoft.com/office/drawing/2014/main" id="{6BD3D18C-7771-58FF-BAEF-8D00DF1EF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0076" y="2673605"/>
            <a:ext cx="4591691" cy="3784272"/>
          </a:xfrm>
          <a:prstGeom prst="rect">
            <a:avLst/>
          </a:prstGeom>
        </p:spPr>
      </p:pic>
      <p:pic>
        <p:nvPicPr>
          <p:cNvPr id="9" name="Picture 8">
            <a:extLst>
              <a:ext uri="{FF2B5EF4-FFF2-40B4-BE49-F238E27FC236}">
                <a16:creationId xmlns:a16="http://schemas.microsoft.com/office/drawing/2014/main" id="{026A3428-09BB-E94E-F51B-16E4F887B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4733" y="1340478"/>
            <a:ext cx="5382376" cy="1162212"/>
          </a:xfrm>
          <a:prstGeom prst="rect">
            <a:avLst/>
          </a:prstGeom>
        </p:spPr>
      </p:pic>
      <p:sp>
        <p:nvSpPr>
          <p:cNvPr id="2" name="Freeform 8">
            <a:extLst>
              <a:ext uri="{FF2B5EF4-FFF2-40B4-BE49-F238E27FC236}">
                <a16:creationId xmlns:a16="http://schemas.microsoft.com/office/drawing/2014/main" id="{9FFFAE36-4FD6-21B9-E5B6-FD4092A46F82}"/>
              </a:ext>
            </a:extLst>
          </p:cNvPr>
          <p:cNvSpPr/>
          <p:nvPr/>
        </p:nvSpPr>
        <p:spPr>
          <a:xfrm>
            <a:off x="8323015" y="203270"/>
            <a:ext cx="3662157" cy="581573"/>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5"/>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4094613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88C64D-4C81-3EA5-5C5E-C06F0D1DF136}"/>
              </a:ext>
            </a:extLst>
          </p:cNvPr>
          <p:cNvSpPr txBox="1"/>
          <p:nvPr/>
        </p:nvSpPr>
        <p:spPr>
          <a:xfrm>
            <a:off x="681717" y="509591"/>
            <a:ext cx="10258425"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Study of the ESP32-C3 device (RV32) as well as Fedora Linux under QEMU (RV64).</a:t>
            </a:r>
            <a:endParaRPr lang="en-IN" sz="2800" dirty="0">
              <a:latin typeface="Times New Roman" panose="02020603050405020304" pitchFamily="18" charset="0"/>
              <a:cs typeface="Times New Roman" panose="02020603050405020304" pitchFamily="18" charset="0"/>
            </a:endParaRPr>
          </a:p>
        </p:txBody>
      </p:sp>
      <p:pic>
        <p:nvPicPr>
          <p:cNvPr id="1026" name="Picture 2" descr="Getting Started with Seeed Studio XIAO ...">
            <a:extLst>
              <a:ext uri="{FF2B5EF4-FFF2-40B4-BE49-F238E27FC236}">
                <a16:creationId xmlns:a16="http://schemas.microsoft.com/office/drawing/2014/main" id="{112FB2F9-B1B6-0870-4CC2-32B1544E2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591" y="2224087"/>
            <a:ext cx="1895475" cy="24098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1F7B958-6B48-F17E-BE05-C03105652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1618" y="1612904"/>
            <a:ext cx="6242825" cy="3632189"/>
          </a:xfrm>
          <a:prstGeom prst="rect">
            <a:avLst/>
          </a:prstGeom>
        </p:spPr>
      </p:pic>
      <p:sp>
        <p:nvSpPr>
          <p:cNvPr id="6" name="TextBox 5">
            <a:extLst>
              <a:ext uri="{FF2B5EF4-FFF2-40B4-BE49-F238E27FC236}">
                <a16:creationId xmlns:a16="http://schemas.microsoft.com/office/drawing/2014/main" id="{4B30F5BF-2961-F946-DD8D-1DC214BDE6CE}"/>
              </a:ext>
            </a:extLst>
          </p:cNvPr>
          <p:cNvSpPr txBox="1"/>
          <p:nvPr/>
        </p:nvSpPr>
        <p:spPr>
          <a:xfrm>
            <a:off x="2167618" y="4875761"/>
            <a:ext cx="6098720"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ESP32-C3</a:t>
            </a:r>
            <a:endParaRPr lang="en-IN" dirty="0"/>
          </a:p>
        </p:txBody>
      </p:sp>
      <p:sp>
        <p:nvSpPr>
          <p:cNvPr id="8" name="TextBox 7">
            <a:extLst>
              <a:ext uri="{FF2B5EF4-FFF2-40B4-BE49-F238E27FC236}">
                <a16:creationId xmlns:a16="http://schemas.microsoft.com/office/drawing/2014/main" id="{DB6B33F5-A908-09CB-2D8D-D8356FAD4DD2}"/>
              </a:ext>
            </a:extLst>
          </p:cNvPr>
          <p:cNvSpPr txBox="1"/>
          <p:nvPr/>
        </p:nvSpPr>
        <p:spPr>
          <a:xfrm>
            <a:off x="6431107" y="5307002"/>
            <a:ext cx="3670461" cy="369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Fedora Linux under QEMU (RV64).</a:t>
            </a:r>
            <a:endParaRPr lang="en-IN" dirty="0"/>
          </a:p>
        </p:txBody>
      </p:sp>
      <p:sp>
        <p:nvSpPr>
          <p:cNvPr id="9" name="Freeform 8">
            <a:extLst>
              <a:ext uri="{FF2B5EF4-FFF2-40B4-BE49-F238E27FC236}">
                <a16:creationId xmlns:a16="http://schemas.microsoft.com/office/drawing/2014/main" id="{4F16612F-9475-8A21-94A1-252440AF6088}"/>
              </a:ext>
            </a:extLst>
          </p:cNvPr>
          <p:cNvSpPr/>
          <p:nvPr/>
        </p:nvSpPr>
        <p:spPr>
          <a:xfrm>
            <a:off x="344703" y="6106886"/>
            <a:ext cx="3688453" cy="597161"/>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3778242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825DAA-EDAE-C07B-F9E5-2BF0F2C0B626}"/>
              </a:ext>
            </a:extLst>
          </p:cNvPr>
          <p:cNvSpPr txBox="1"/>
          <p:nvPr/>
        </p:nvSpPr>
        <p:spPr>
          <a:xfrm>
            <a:off x="1302205" y="680748"/>
            <a:ext cx="6098720"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Projects in this Course</a:t>
            </a:r>
          </a:p>
        </p:txBody>
      </p:sp>
      <p:sp>
        <p:nvSpPr>
          <p:cNvPr id="5" name="TextBox 4">
            <a:extLst>
              <a:ext uri="{FF2B5EF4-FFF2-40B4-BE49-F238E27FC236}">
                <a16:creationId xmlns:a16="http://schemas.microsoft.com/office/drawing/2014/main" id="{F1520A29-A788-A1DE-5C04-C4131B60478C}"/>
              </a:ext>
            </a:extLst>
          </p:cNvPr>
          <p:cNvSpPr txBox="1"/>
          <p:nvPr/>
        </p:nvSpPr>
        <p:spPr>
          <a:xfrm>
            <a:off x="708933" y="1775349"/>
            <a:ext cx="6098720" cy="4154984"/>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projects in this Course are boiled down to the barest essentials to keep the assembly language concepts clear and simple.</a:t>
            </a:r>
          </a:p>
          <a:p>
            <a:pPr algn="just"/>
            <a:r>
              <a:rPr lang="en-US" sz="2400" dirty="0">
                <a:latin typeface="Times New Roman" panose="02020603050405020304" pitchFamily="18" charset="0"/>
                <a:cs typeface="Times New Roman" panose="02020603050405020304" pitchFamily="18" charset="0"/>
              </a:rPr>
              <a:t>The focus of this Course is on learning how to write RISC-V assembly language code without getting bogged down.</a:t>
            </a:r>
          </a:p>
          <a:p>
            <a:pPr algn="just"/>
            <a:r>
              <a:rPr lang="en-US" sz="2400" dirty="0">
                <a:latin typeface="Times New Roman" panose="02020603050405020304" pitchFamily="18" charset="0"/>
                <a:cs typeface="Times New Roman" panose="02020603050405020304" pitchFamily="18" charset="0"/>
              </a:rPr>
              <a:t>You'll build up small demonstration programs to be run and tested</a:t>
            </a:r>
          </a:p>
          <a:p>
            <a:pPr algn="just"/>
            <a:r>
              <a:rPr lang="en-US" sz="2400" dirty="0">
                <a:latin typeface="Times New Roman" panose="02020603050405020304" pitchFamily="18" charset="0"/>
                <a:cs typeface="Times New Roman" panose="02020603050405020304" pitchFamily="18" charset="0"/>
              </a:rPr>
              <a:t>Once you've mastered these basic concepts, you will be well equipped to apply assembly language in larger projects</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B8D648F-4732-5A47-51CE-6D5741BE558B}"/>
              </a:ext>
            </a:extLst>
          </p:cNvPr>
          <p:cNvSpPr txBox="1"/>
          <p:nvPr/>
        </p:nvSpPr>
        <p:spPr>
          <a:xfrm>
            <a:off x="8171598" y="5179219"/>
            <a:ext cx="2522764"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ESP32-C3 main program</a:t>
            </a:r>
          </a:p>
        </p:txBody>
      </p:sp>
      <p:pic>
        <p:nvPicPr>
          <p:cNvPr id="7" name="Picture 6">
            <a:extLst>
              <a:ext uri="{FF2B5EF4-FFF2-40B4-BE49-F238E27FC236}">
                <a16:creationId xmlns:a16="http://schemas.microsoft.com/office/drawing/2014/main" id="{07E65E77-C824-F70F-BFDA-A38539B20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3060" y="1986900"/>
            <a:ext cx="4679840" cy="3074618"/>
          </a:xfrm>
          <a:prstGeom prst="rect">
            <a:avLst/>
          </a:prstGeom>
        </p:spPr>
      </p:pic>
      <p:sp>
        <p:nvSpPr>
          <p:cNvPr id="2" name="Freeform 8">
            <a:extLst>
              <a:ext uri="{FF2B5EF4-FFF2-40B4-BE49-F238E27FC236}">
                <a16:creationId xmlns:a16="http://schemas.microsoft.com/office/drawing/2014/main" id="{2DB8FE88-54A9-11F1-48FF-E26A783630BC}"/>
              </a:ext>
            </a:extLst>
          </p:cNvPr>
          <p:cNvSpPr/>
          <p:nvPr/>
        </p:nvSpPr>
        <p:spPr>
          <a:xfrm>
            <a:off x="7115587" y="252591"/>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94065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F9E59F-74F8-B2FD-0285-151B911CDAF4}"/>
              </a:ext>
            </a:extLst>
          </p:cNvPr>
          <p:cNvSpPr txBox="1"/>
          <p:nvPr/>
        </p:nvSpPr>
        <p:spPr>
          <a:xfrm>
            <a:off x="1106261" y="418191"/>
            <a:ext cx="6098720" cy="769441"/>
          </a:xfrm>
          <a:prstGeom prst="rect">
            <a:avLst/>
          </a:prstGeom>
          <a:noFill/>
        </p:spPr>
        <p:txBody>
          <a:bodyPr wrap="square">
            <a:spAutoFit/>
          </a:bodyPr>
          <a:lstStyle/>
          <a:p>
            <a:r>
              <a:rPr lang="en-IN" sz="4400" dirty="0">
                <a:latin typeface="Times New Roman" panose="02020603050405020304" pitchFamily="18" charset="0"/>
                <a:cs typeface="Times New Roman" panose="02020603050405020304" pitchFamily="18" charset="0"/>
              </a:rPr>
              <a:t>What do you need?</a:t>
            </a:r>
          </a:p>
        </p:txBody>
      </p:sp>
      <p:sp>
        <p:nvSpPr>
          <p:cNvPr id="5" name="TextBox 4">
            <a:extLst>
              <a:ext uri="{FF2B5EF4-FFF2-40B4-BE49-F238E27FC236}">
                <a16:creationId xmlns:a16="http://schemas.microsoft.com/office/drawing/2014/main" id="{A3A47357-9698-462C-0F12-AE3A870303CA}"/>
              </a:ext>
            </a:extLst>
          </p:cNvPr>
          <p:cNvSpPr txBox="1"/>
          <p:nvPr/>
        </p:nvSpPr>
        <p:spPr>
          <a:xfrm>
            <a:off x="838200" y="1418935"/>
            <a:ext cx="6098720" cy="4893647"/>
          </a:xfrm>
          <a:prstGeom prst="rect">
            <a:avLst/>
          </a:prstGeom>
          <a:noFill/>
        </p:spPr>
        <p:txBody>
          <a:bodyPr wrap="square">
            <a:spAutoFit/>
          </a:bodyPr>
          <a:lstStyle/>
          <a:p>
            <a:pPr algn="just"/>
            <a:r>
              <a:rPr lang="en-US" sz="2400" dirty="0" err="1">
                <a:latin typeface="Times New Roman" panose="02020603050405020304" pitchFamily="18" charset="0"/>
                <a:cs typeface="Times New Roman" panose="02020603050405020304" pitchFamily="18" charset="0"/>
              </a:rPr>
              <a:t>Espressif</a:t>
            </a:r>
            <a:r>
              <a:rPr lang="en-US" sz="2400" dirty="0">
                <a:latin typeface="Times New Roman" panose="02020603050405020304" pitchFamily="18" charset="0"/>
                <a:cs typeface="Times New Roman" panose="02020603050405020304" pitchFamily="18" charset="0"/>
              </a:rPr>
              <a:t> ESP32-C3 dev kit device for hardware.</a:t>
            </a:r>
          </a:p>
          <a:p>
            <a:pPr algn="just"/>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RISC-V in 64-bit mode using the QEMU emulator on your desktop computer</a:t>
            </a:r>
          </a:p>
          <a:p>
            <a:pPr algn="just"/>
            <a:r>
              <a:rPr lang="en-US" sz="2400" dirty="0">
                <a:latin typeface="Times New Roman" panose="02020603050405020304" pitchFamily="18" charset="0"/>
                <a:cs typeface="Times New Roman" panose="02020603050405020304" pitchFamily="18" charset="0"/>
              </a:rPr>
              <a:t>The emulator requires that you have at least 20 GB of free disk space available. For both of the ESP-IDF (ESP Integrated Development Framework) and QEMU instances.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computer is required to program the ESP32-C3 and to run the QEMU emulator, running Fedora Linux</a:t>
            </a:r>
            <a:endParaRPr lang="en-IN" sz="2400" dirty="0">
              <a:latin typeface="Times New Roman" panose="02020603050405020304" pitchFamily="18" charset="0"/>
              <a:cs typeface="Times New Roman" panose="02020603050405020304" pitchFamily="18" charset="0"/>
            </a:endParaRPr>
          </a:p>
        </p:txBody>
      </p:sp>
      <p:pic>
        <p:nvPicPr>
          <p:cNvPr id="5122" name="Picture 2" descr="QEMU - Quick Emulator">
            <a:extLst>
              <a:ext uri="{FF2B5EF4-FFF2-40B4-BE49-F238E27FC236}">
                <a16:creationId xmlns:a16="http://schemas.microsoft.com/office/drawing/2014/main" id="{83A7D7AE-C985-209D-47FB-15450AD37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545" y="4373336"/>
            <a:ext cx="3857625" cy="11811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eeed Studio XIAO ESP32C3 RISC-V MCU ...">
            <a:extLst>
              <a:ext uri="{FF2B5EF4-FFF2-40B4-BE49-F238E27FC236}">
                <a16:creationId xmlns:a16="http://schemas.microsoft.com/office/drawing/2014/main" id="{6ABDA883-7AA2-A8EF-9D02-4CC225F41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5620" y="1303564"/>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8">
            <a:extLst>
              <a:ext uri="{FF2B5EF4-FFF2-40B4-BE49-F238E27FC236}">
                <a16:creationId xmlns:a16="http://schemas.microsoft.com/office/drawing/2014/main" id="{441CC711-A996-075B-95B0-1347CB8D9409}"/>
              </a:ext>
            </a:extLst>
          </p:cNvPr>
          <p:cNvSpPr/>
          <p:nvPr/>
        </p:nvSpPr>
        <p:spPr>
          <a:xfrm>
            <a:off x="7114700" y="186888"/>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371076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E53B9F-1CC9-EEEC-F854-6B17C69FBF74}"/>
              </a:ext>
            </a:extLst>
          </p:cNvPr>
          <p:cNvSpPr txBox="1"/>
          <p:nvPr/>
        </p:nvSpPr>
        <p:spPr>
          <a:xfrm>
            <a:off x="595994" y="631613"/>
            <a:ext cx="6098720" cy="769441"/>
          </a:xfrm>
          <a:prstGeom prst="rect">
            <a:avLst/>
          </a:prstGeom>
          <a:noFill/>
        </p:spPr>
        <p:txBody>
          <a:bodyPr wrap="square">
            <a:spAutoFit/>
          </a:bodyPr>
          <a:lstStyle/>
          <a:p>
            <a:r>
              <a:rPr lang="en-IN" sz="4400" dirty="0">
                <a:latin typeface="Times New Roman" panose="02020603050405020304" pitchFamily="18" charset="0"/>
                <a:cs typeface="Times New Roman" panose="02020603050405020304" pitchFamily="18" charset="0"/>
              </a:rPr>
              <a:t>ESP32-C3 Hardware</a:t>
            </a:r>
          </a:p>
        </p:txBody>
      </p:sp>
      <p:sp>
        <p:nvSpPr>
          <p:cNvPr id="5" name="TextBox 4">
            <a:extLst>
              <a:ext uri="{FF2B5EF4-FFF2-40B4-BE49-F238E27FC236}">
                <a16:creationId xmlns:a16="http://schemas.microsoft.com/office/drawing/2014/main" id="{38D91B0F-A766-9B01-AF4D-2AECA3542CEA}"/>
              </a:ext>
            </a:extLst>
          </p:cNvPr>
          <p:cNvSpPr txBox="1"/>
          <p:nvPr/>
        </p:nvSpPr>
        <p:spPr>
          <a:xfrm>
            <a:off x="595994" y="1668805"/>
            <a:ext cx="6098720" cy="341632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original ESP32 devices used the Xtensa processor and are not RISC-V devices.</a:t>
            </a:r>
          </a:p>
          <a:p>
            <a:pPr algn="just"/>
            <a:r>
              <a:rPr lang="en-IN" sz="2400" dirty="0">
                <a:latin typeface="Times New Roman" panose="02020603050405020304" pitchFamily="18" charset="0"/>
                <a:cs typeface="Times New Roman" panose="02020603050405020304" pitchFamily="18" charset="0"/>
              </a:rPr>
              <a:t>• ESP32 (Xtensa dual-core and single-core 32-bit LX6 microprocessor) </a:t>
            </a:r>
          </a:p>
          <a:p>
            <a:pPr algn="just"/>
            <a:r>
              <a:rPr lang="en-IN" sz="2400" dirty="0">
                <a:latin typeface="Times New Roman" panose="02020603050405020304" pitchFamily="18" charset="0"/>
                <a:cs typeface="Times New Roman" panose="02020603050405020304" pitchFamily="18" charset="0"/>
              </a:rPr>
              <a:t>• ESP32-S2 (Single-core Xtensa LX7 CPU) </a:t>
            </a:r>
          </a:p>
          <a:p>
            <a:pPr algn="just"/>
            <a:r>
              <a:rPr lang="en-IN" sz="2400" dirty="0">
                <a:latin typeface="Times New Roman" panose="02020603050405020304" pitchFamily="18" charset="0"/>
                <a:cs typeface="Times New Roman" panose="02020603050405020304" pitchFamily="18" charset="0"/>
              </a:rPr>
              <a:t>• ESP32-S3 (Dual-core Xtensa LX7 CPU) </a:t>
            </a:r>
          </a:p>
          <a:p>
            <a:pPr algn="just"/>
            <a:r>
              <a:rPr lang="en-IN" sz="2400" dirty="0">
                <a:latin typeface="Times New Roman" panose="02020603050405020304" pitchFamily="18" charset="0"/>
                <a:cs typeface="Times New Roman" panose="02020603050405020304" pitchFamily="18" charset="0"/>
              </a:rPr>
              <a:t>• ESP32-C3 Single-core 32-bit RISC-V (</a:t>
            </a:r>
            <a:r>
              <a:rPr lang="en-IN" sz="2400" dirty="0" err="1">
                <a:latin typeface="Times New Roman" panose="02020603050405020304" pitchFamily="18" charset="0"/>
                <a:cs typeface="Times New Roman" panose="02020603050405020304" pitchFamily="18" charset="0"/>
              </a:rPr>
              <a:t>WiFi</a:t>
            </a:r>
            <a:r>
              <a:rPr lang="en-IN" sz="2400" dirty="0">
                <a:latin typeface="Times New Roman" panose="02020603050405020304" pitchFamily="18" charset="0"/>
                <a:cs typeface="Times New Roman" panose="02020603050405020304" pitchFamily="18" charset="0"/>
              </a:rPr>
              <a:t> 2.4 </a:t>
            </a:r>
            <a:r>
              <a:rPr lang="en-IN" sz="2400" dirty="0" err="1">
                <a:latin typeface="Times New Roman" panose="02020603050405020304" pitchFamily="18" charset="0"/>
                <a:cs typeface="Times New Roman" panose="02020603050405020304" pitchFamily="18" charset="0"/>
              </a:rPr>
              <a:t>Ghz</a:t>
            </a:r>
            <a:r>
              <a:rPr lang="en-IN" sz="2400" dirty="0">
                <a:latin typeface="Times New Roman" panose="02020603050405020304" pitchFamily="18" charset="0"/>
                <a:cs typeface="Times New Roman" panose="02020603050405020304" pitchFamily="18" charset="0"/>
              </a:rPr>
              <a:t> IEEE 802.11b/g/n) </a:t>
            </a:r>
          </a:p>
          <a:p>
            <a:pPr algn="just"/>
            <a:r>
              <a:rPr lang="en-IN" sz="2400" dirty="0">
                <a:latin typeface="Times New Roman" panose="02020603050405020304" pitchFamily="18" charset="0"/>
                <a:cs typeface="Times New Roman" panose="02020603050405020304" pitchFamily="18" charset="0"/>
              </a:rPr>
              <a:t>• ESP32-C6 Single-core 32-bit RISC-V</a:t>
            </a:r>
          </a:p>
        </p:txBody>
      </p:sp>
      <p:sp>
        <p:nvSpPr>
          <p:cNvPr id="7" name="TextBox 6">
            <a:extLst>
              <a:ext uri="{FF2B5EF4-FFF2-40B4-BE49-F238E27FC236}">
                <a16:creationId xmlns:a16="http://schemas.microsoft.com/office/drawing/2014/main" id="{A1B456BF-9737-2EB9-1D47-34118206F859}"/>
              </a:ext>
            </a:extLst>
          </p:cNvPr>
          <p:cNvSpPr txBox="1"/>
          <p:nvPr/>
        </p:nvSpPr>
        <p:spPr>
          <a:xfrm>
            <a:off x="893989" y="5592955"/>
            <a:ext cx="5686425"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course was developed specifically with the </a:t>
            </a:r>
            <a:r>
              <a:rPr lang="en-IN" sz="2400" dirty="0" err="1">
                <a:latin typeface="Times New Roman" panose="02020603050405020304" pitchFamily="18" charset="0"/>
                <a:cs typeface="Times New Roman" panose="02020603050405020304" pitchFamily="18" charset="0"/>
              </a:rPr>
              <a:t>Espressif</a:t>
            </a:r>
            <a:r>
              <a:rPr lang="en-IN" sz="2400" dirty="0">
                <a:latin typeface="Times New Roman" panose="02020603050405020304" pitchFamily="18" charset="0"/>
                <a:cs typeface="Times New Roman" panose="02020603050405020304" pitchFamily="18" charset="0"/>
              </a:rPr>
              <a:t> ESP32-C3 device</a:t>
            </a:r>
          </a:p>
        </p:txBody>
      </p:sp>
      <p:pic>
        <p:nvPicPr>
          <p:cNvPr id="9" name="Picture 8">
            <a:extLst>
              <a:ext uri="{FF2B5EF4-FFF2-40B4-BE49-F238E27FC236}">
                <a16:creationId xmlns:a16="http://schemas.microsoft.com/office/drawing/2014/main" id="{7EC7B4E7-0322-2E11-C9BF-450A0E326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2310" y="1668805"/>
            <a:ext cx="3058606" cy="2007827"/>
          </a:xfrm>
          <a:prstGeom prst="rect">
            <a:avLst/>
          </a:prstGeom>
        </p:spPr>
      </p:pic>
      <p:pic>
        <p:nvPicPr>
          <p:cNvPr id="2" name="Picture 2" descr="Getting Started with Seeed Studio XIAO ...">
            <a:extLst>
              <a:ext uri="{FF2B5EF4-FFF2-40B4-BE49-F238E27FC236}">
                <a16:creationId xmlns:a16="http://schemas.microsoft.com/office/drawing/2014/main" id="{34FB7119-62E1-2900-1F13-6C58DF5E4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481" y="3880212"/>
            <a:ext cx="1895475" cy="2409825"/>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8">
            <a:extLst>
              <a:ext uri="{FF2B5EF4-FFF2-40B4-BE49-F238E27FC236}">
                <a16:creationId xmlns:a16="http://schemas.microsoft.com/office/drawing/2014/main" id="{394B3FE4-6D46-1DB7-FAEE-F637B45592B9}"/>
              </a:ext>
            </a:extLst>
          </p:cNvPr>
          <p:cNvSpPr/>
          <p:nvPr/>
        </p:nvSpPr>
        <p:spPr>
          <a:xfrm>
            <a:off x="7229000" y="242814"/>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3811756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08FDA-3CD7-2060-8A7A-5F1234ACFF8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Prerequisites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A17867-A41B-2D44-4608-ED2000F76D5E}"/>
              </a:ext>
            </a:extLst>
          </p:cNvPr>
          <p:cNvSpPr>
            <a:spLocks noGrp="1"/>
          </p:cNvSpPr>
          <p:nvPr>
            <p:ph idx="1"/>
          </p:nvPr>
        </p:nvSpPr>
        <p:spPr>
          <a:xfrm>
            <a:off x="1099458" y="1939925"/>
            <a:ext cx="3794275" cy="3351742"/>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Basic understanding of a CPU</a:t>
            </a:r>
          </a:p>
          <a:p>
            <a:pPr algn="just"/>
            <a:r>
              <a:rPr lang="en-US" dirty="0">
                <a:latin typeface="Times New Roman" panose="02020603050405020304" pitchFamily="18" charset="0"/>
                <a:cs typeface="Times New Roman" panose="02020603050405020304" pitchFamily="18" charset="0"/>
              </a:rPr>
              <a:t>Registers and computer memory.</a:t>
            </a:r>
          </a:p>
          <a:p>
            <a:pPr algn="just"/>
            <a:r>
              <a:rPr lang="en-US" dirty="0">
                <a:latin typeface="Times New Roman" panose="02020603050405020304" pitchFamily="18" charset="0"/>
                <a:cs typeface="Times New Roman" panose="02020603050405020304" pitchFamily="18" charset="0"/>
              </a:rPr>
              <a:t>Assembler language and debugging require knowledge of number systems, specifically binary and hexadecimal.</a:t>
            </a:r>
          </a:p>
          <a:p>
            <a:pPr algn="just"/>
            <a:r>
              <a:rPr lang="en-US" dirty="0">
                <a:latin typeface="Times New Roman" panose="02020603050405020304" pitchFamily="18" charset="0"/>
                <a:cs typeface="Times New Roman" panose="02020603050405020304" pitchFamily="18" charset="0"/>
              </a:rPr>
              <a:t>Knowledge of the C language</a:t>
            </a:r>
          </a:p>
          <a:p>
            <a:pPr algn="just"/>
            <a:endParaRPr lang="en-IN" dirty="0">
              <a:latin typeface="Times New Roman" panose="02020603050405020304" pitchFamily="18" charset="0"/>
              <a:cs typeface="Times New Roman" panose="02020603050405020304" pitchFamily="18" charset="0"/>
            </a:endParaRPr>
          </a:p>
        </p:txBody>
      </p:sp>
      <p:pic>
        <p:nvPicPr>
          <p:cNvPr id="2050" name="Picture 2" descr="What Is a CPU: Understanding the Basics - The Plug - HelloTech">
            <a:extLst>
              <a:ext uri="{FF2B5EF4-FFF2-40B4-BE49-F238E27FC236}">
                <a16:creationId xmlns:a16="http://schemas.microsoft.com/office/drawing/2014/main" id="{B97B973D-E7F3-EB9E-4C82-B8F592460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9816" y="1098789"/>
            <a:ext cx="2204357" cy="168227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ifference Between Register and Memory ...">
            <a:extLst>
              <a:ext uri="{FF2B5EF4-FFF2-40B4-BE49-F238E27FC236}">
                <a16:creationId xmlns:a16="http://schemas.microsoft.com/office/drawing/2014/main" id="{F61E76AF-6A80-4DB1-566A-C76988BE9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5025" y="609600"/>
            <a:ext cx="1628775" cy="2819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22693E1-813C-D90E-4E49-B769BC53EE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6394" y="3368059"/>
            <a:ext cx="2982688" cy="1396370"/>
          </a:xfrm>
          <a:prstGeom prst="rect">
            <a:avLst/>
          </a:prstGeom>
        </p:spPr>
      </p:pic>
      <p:pic>
        <p:nvPicPr>
          <p:cNvPr id="2054" name="Picture 6" descr="C Programming Language: Course Details ...">
            <a:extLst>
              <a:ext uri="{FF2B5EF4-FFF2-40B4-BE49-F238E27FC236}">
                <a16:creationId xmlns:a16="http://schemas.microsoft.com/office/drawing/2014/main" id="{E233D85B-9F1B-CC8C-B42C-D980208DBC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2588" y="4066244"/>
            <a:ext cx="2190749" cy="12268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205B943-B079-2A29-5F5B-273EE191AB0A}"/>
              </a:ext>
            </a:extLst>
          </p:cNvPr>
          <p:cNvSpPr txBox="1"/>
          <p:nvPr/>
        </p:nvSpPr>
        <p:spPr>
          <a:xfrm>
            <a:off x="9834862" y="5291667"/>
            <a:ext cx="13462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 language</a:t>
            </a:r>
            <a:endParaRPr lang="en-IN" dirty="0"/>
          </a:p>
        </p:txBody>
      </p:sp>
      <p:sp>
        <p:nvSpPr>
          <p:cNvPr id="9" name="TextBox 8">
            <a:extLst>
              <a:ext uri="{FF2B5EF4-FFF2-40B4-BE49-F238E27FC236}">
                <a16:creationId xmlns:a16="http://schemas.microsoft.com/office/drawing/2014/main" id="{AE454F2D-AF08-48C1-DF87-E60BE641100D}"/>
              </a:ext>
            </a:extLst>
          </p:cNvPr>
          <p:cNvSpPr txBox="1"/>
          <p:nvPr/>
        </p:nvSpPr>
        <p:spPr>
          <a:xfrm>
            <a:off x="6231466" y="4968501"/>
            <a:ext cx="2068889"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number systems</a:t>
            </a:r>
            <a:endParaRPr lang="en-IN" dirty="0"/>
          </a:p>
        </p:txBody>
      </p:sp>
      <p:sp>
        <p:nvSpPr>
          <p:cNvPr id="11" name="TextBox 10">
            <a:extLst>
              <a:ext uri="{FF2B5EF4-FFF2-40B4-BE49-F238E27FC236}">
                <a16:creationId xmlns:a16="http://schemas.microsoft.com/office/drawing/2014/main" id="{D77BE1C7-EFD1-1723-925E-C131C209F1F0}"/>
              </a:ext>
            </a:extLst>
          </p:cNvPr>
          <p:cNvSpPr txBox="1"/>
          <p:nvPr/>
        </p:nvSpPr>
        <p:spPr>
          <a:xfrm>
            <a:off x="9638920" y="3315861"/>
            <a:ext cx="197613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computer memory</a:t>
            </a:r>
            <a:endParaRPr lang="en-IN" dirty="0"/>
          </a:p>
        </p:txBody>
      </p:sp>
      <p:sp>
        <p:nvSpPr>
          <p:cNvPr id="13" name="TextBox 12">
            <a:extLst>
              <a:ext uri="{FF2B5EF4-FFF2-40B4-BE49-F238E27FC236}">
                <a16:creationId xmlns:a16="http://schemas.microsoft.com/office/drawing/2014/main" id="{D8306871-9A08-DDC3-EC56-F5EDF5BBBE76}"/>
              </a:ext>
            </a:extLst>
          </p:cNvPr>
          <p:cNvSpPr txBox="1"/>
          <p:nvPr/>
        </p:nvSpPr>
        <p:spPr>
          <a:xfrm>
            <a:off x="6781099" y="2813573"/>
            <a:ext cx="17018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CPU</a:t>
            </a:r>
            <a:endParaRPr lang="en-IN" dirty="0"/>
          </a:p>
        </p:txBody>
      </p:sp>
      <p:sp>
        <p:nvSpPr>
          <p:cNvPr id="14" name="Freeform 8">
            <a:extLst>
              <a:ext uri="{FF2B5EF4-FFF2-40B4-BE49-F238E27FC236}">
                <a16:creationId xmlns:a16="http://schemas.microsoft.com/office/drawing/2014/main" id="{A6849171-7930-E69B-7C37-2906DC0E0A3F}"/>
              </a:ext>
            </a:extLst>
          </p:cNvPr>
          <p:cNvSpPr/>
          <p:nvPr/>
        </p:nvSpPr>
        <p:spPr>
          <a:xfrm>
            <a:off x="240372" y="5976257"/>
            <a:ext cx="3794274" cy="628574"/>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6"/>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45220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5D7DF-2A61-5DB3-91EC-A1AFEFF9B2C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Summary</a:t>
            </a:r>
          </a:p>
        </p:txBody>
      </p:sp>
      <p:sp>
        <p:nvSpPr>
          <p:cNvPr id="4" name="TextBox 3">
            <a:extLst>
              <a:ext uri="{FF2B5EF4-FFF2-40B4-BE49-F238E27FC236}">
                <a16:creationId xmlns:a16="http://schemas.microsoft.com/office/drawing/2014/main" id="{C088B4EF-D91D-B2D6-71E6-864D536B9EBF}"/>
              </a:ext>
            </a:extLst>
          </p:cNvPr>
          <p:cNvSpPr txBox="1"/>
          <p:nvPr/>
        </p:nvSpPr>
        <p:spPr>
          <a:xfrm>
            <a:off x="838200" y="1690688"/>
            <a:ext cx="10515600"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next Class deals with installing ESP-IDF (ESP Integrated Development Framework) and the QEMU emulation software. This bit of work is necessary to let the good times roll. So gather your disk space and enable your internet access and begin!</a:t>
            </a:r>
            <a:endParaRPr lang="en-IN" sz="2400" dirty="0">
              <a:latin typeface="Times New Roman" panose="02020603050405020304" pitchFamily="18" charset="0"/>
              <a:cs typeface="Times New Roman" panose="02020603050405020304" pitchFamily="18" charset="0"/>
            </a:endParaRPr>
          </a:p>
        </p:txBody>
      </p:sp>
      <p:pic>
        <p:nvPicPr>
          <p:cNvPr id="4098" name="Picture 2" descr="Getting Started With ESP-IDF | How To ...">
            <a:extLst>
              <a:ext uri="{FF2B5EF4-FFF2-40B4-BE49-F238E27FC236}">
                <a16:creationId xmlns:a16="http://schemas.microsoft.com/office/drawing/2014/main" id="{43046217-E768-F967-2C62-543EF8156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991" y="3907896"/>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QEMU - Quick Emulator">
            <a:extLst>
              <a:ext uri="{FF2B5EF4-FFF2-40B4-BE49-F238E27FC236}">
                <a16:creationId xmlns:a16="http://schemas.microsoft.com/office/drawing/2014/main" id="{2760A9B4-5C67-7042-D445-A864CC077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855" y="3907896"/>
            <a:ext cx="3857625" cy="1181100"/>
          </a:xfrm>
          <a:prstGeom prst="rect">
            <a:avLst/>
          </a:prstGeom>
          <a:noFill/>
          <a:extLst>
            <a:ext uri="{909E8E84-426E-40DD-AFC4-6F175D3DCCD1}">
              <a14:hiddenFill xmlns:a14="http://schemas.microsoft.com/office/drawing/2010/main">
                <a:solidFill>
                  <a:srgbClr val="FFFFFF"/>
                </a:solidFill>
              </a14:hiddenFill>
            </a:ext>
          </a:extLst>
        </p:spPr>
      </p:pic>
      <p:sp>
        <p:nvSpPr>
          <p:cNvPr id="3" name="Freeform 8">
            <a:extLst>
              <a:ext uri="{FF2B5EF4-FFF2-40B4-BE49-F238E27FC236}">
                <a16:creationId xmlns:a16="http://schemas.microsoft.com/office/drawing/2014/main" id="{C1833B76-3C21-A789-473A-F53DA8AF082E}"/>
              </a:ext>
            </a:extLst>
          </p:cNvPr>
          <p:cNvSpPr/>
          <p:nvPr/>
        </p:nvSpPr>
        <p:spPr>
          <a:xfrm>
            <a:off x="6537855" y="365125"/>
            <a:ext cx="4467602" cy="759467"/>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599785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E39BA9-9FB4-8CD1-EF34-BAFC98BFED94}"/>
              </a:ext>
            </a:extLst>
          </p:cNvPr>
          <p:cNvSpPr txBox="1"/>
          <p:nvPr/>
        </p:nvSpPr>
        <p:spPr>
          <a:xfrm>
            <a:off x="1856693" y="2151727"/>
            <a:ext cx="8478613" cy="2554545"/>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Bibliography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[1] The_RISC-V_Reader_An_Open_Architecture_Atlas_by_David_Patterson_Andrew_ Waterman.pdf</a:t>
            </a:r>
            <a:endParaRPr lang="en-IN" sz="32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342C1F9A-7204-0E72-BF8F-A7B04CEFB46B}"/>
              </a:ext>
            </a:extLst>
          </p:cNvPr>
          <p:cNvSpPr/>
          <p:nvPr/>
        </p:nvSpPr>
        <p:spPr>
          <a:xfrm>
            <a:off x="6886101" y="466801"/>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190836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ACE825-C7DA-52F6-4475-33606B31E99C}"/>
              </a:ext>
            </a:extLst>
          </p:cNvPr>
          <p:cNvSpPr txBox="1"/>
          <p:nvPr/>
        </p:nvSpPr>
        <p:spPr>
          <a:xfrm>
            <a:off x="4562021" y="3075057"/>
            <a:ext cx="3067957"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Thank You !</a:t>
            </a:r>
            <a:endParaRPr lang="en-IN" sz="4000" b="1" dirty="0">
              <a:latin typeface="Times New Roman" panose="02020603050405020304" pitchFamily="18" charset="0"/>
              <a:cs typeface="Times New Roman" panose="02020603050405020304" pitchFamily="18" charset="0"/>
            </a:endParaRPr>
          </a:p>
        </p:txBody>
      </p:sp>
      <p:sp>
        <p:nvSpPr>
          <p:cNvPr id="3" name="Freeform 8">
            <a:extLst>
              <a:ext uri="{FF2B5EF4-FFF2-40B4-BE49-F238E27FC236}">
                <a16:creationId xmlns:a16="http://schemas.microsoft.com/office/drawing/2014/main" id="{E9CE9FFF-A1FB-7FBB-AB6A-555E60EAF48F}"/>
              </a:ext>
            </a:extLst>
          </p:cNvPr>
          <p:cNvSpPr/>
          <p:nvPr/>
        </p:nvSpPr>
        <p:spPr>
          <a:xfrm>
            <a:off x="3506084" y="1250571"/>
            <a:ext cx="4657313" cy="77759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403399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680</Words>
  <Application>Microsoft Office PowerPoint</Application>
  <PresentationFormat>Widescreen</PresentationFormat>
  <Paragraphs>53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RISC-V Assembly Language Programming Using ESP32-C3 and QEMU</vt:lpstr>
      <vt:lpstr>Chapter 1 - Introduction</vt:lpstr>
      <vt:lpstr>The Joy of the Machine</vt:lpstr>
      <vt:lpstr>PowerPoint Presentation</vt:lpstr>
      <vt:lpstr>PowerPoint Presentation</vt:lpstr>
      <vt:lpstr>PowerPoint Presentation</vt:lpstr>
      <vt:lpstr>PowerPoint Presentation</vt:lpstr>
      <vt:lpstr>PowerPoint Presentation</vt:lpstr>
      <vt:lpstr>PowerPoint Presentation</vt:lpstr>
      <vt:lpstr>Prerequisites</vt:lpstr>
      <vt:lpstr>Summary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UMESH REDDY R</dc:creator>
  <cp:lastModifiedBy>雷迪</cp:lastModifiedBy>
  <cp:revision>8</cp:revision>
  <dcterms:created xsi:type="dcterms:W3CDTF">2025-02-16T09:31:04Z</dcterms:created>
  <dcterms:modified xsi:type="dcterms:W3CDTF">2025-07-05T06:28:32Z</dcterms:modified>
</cp:coreProperties>
</file>