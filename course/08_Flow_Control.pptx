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C6F71-DE9B-7445-3840-4E89FC51F4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A14A54-35B7-1548-7FEB-A29F18660E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EE6FDFB-48F4-C676-2986-AB60D12E0388}"/>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5" name="Footer Placeholder 4">
            <a:extLst>
              <a:ext uri="{FF2B5EF4-FFF2-40B4-BE49-F238E27FC236}">
                <a16:creationId xmlns:a16="http://schemas.microsoft.com/office/drawing/2014/main" id="{8B9221FA-4FE3-DC61-FD41-3329ACFB1A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C2A65E-95B4-F438-477F-5B0B10A9F973}"/>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3489768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2C239-7623-95E5-7596-0AA82E666E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121FC2-158E-4D7C-0C1B-F221641685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80BB37-A59E-DA7B-8B20-D23F0E1AD347}"/>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5" name="Footer Placeholder 4">
            <a:extLst>
              <a:ext uri="{FF2B5EF4-FFF2-40B4-BE49-F238E27FC236}">
                <a16:creationId xmlns:a16="http://schemas.microsoft.com/office/drawing/2014/main" id="{F0191C8A-9B35-00B8-953A-905572F804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8F6ACF-28E2-53F9-8F7B-E40A77BAB54F}"/>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2771614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9603E-FCD1-0994-4B21-515F6C98AC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973160-4CA7-7B99-3D64-BDC84E9F6C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A81745-33B2-122B-FC00-B9A043EF6758}"/>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5" name="Footer Placeholder 4">
            <a:extLst>
              <a:ext uri="{FF2B5EF4-FFF2-40B4-BE49-F238E27FC236}">
                <a16:creationId xmlns:a16="http://schemas.microsoft.com/office/drawing/2014/main" id="{CA2224D2-DC2B-EB5E-549C-45D2E06CE7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38C69C-87EC-3558-FDF0-29F17004377B}"/>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4023547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D185D-2C4F-AB86-4B4B-4AC1AC20E1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AF4740-FD8A-02CC-5B4B-4461F43D5B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91C8A2-C8D6-BDB9-EF11-EB4304629C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834813-48D0-006C-F312-502FE0BBB0D5}"/>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6" name="Footer Placeholder 5">
            <a:extLst>
              <a:ext uri="{FF2B5EF4-FFF2-40B4-BE49-F238E27FC236}">
                <a16:creationId xmlns:a16="http://schemas.microsoft.com/office/drawing/2014/main" id="{8DAF6475-7BED-B98D-6EB7-B2F17898AE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4860F9-CCF7-AF62-FBAA-8D8107A78EBC}"/>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3909180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249E-D8CC-7E48-649B-BA74F8B460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1E7A16-79EE-F654-CCBA-4264095EB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6B22DA-CF2C-699A-1D6C-DF2D69575D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4BDD46-FF65-AD06-DF26-590CCA057F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B917F3-B380-D7F1-D4CD-7B45940A74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ED5F18-34A9-2C3E-30CB-048FB9497F22}"/>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8" name="Footer Placeholder 7">
            <a:extLst>
              <a:ext uri="{FF2B5EF4-FFF2-40B4-BE49-F238E27FC236}">
                <a16:creationId xmlns:a16="http://schemas.microsoft.com/office/drawing/2014/main" id="{68975ED9-4F12-18AC-27D1-2588EA9D537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E78426-61A5-F260-0F11-5E1AD13A9830}"/>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1044690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546E-9950-DF7D-C8AD-8A52B0413F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828953-3F32-7CB9-6961-CB7768888B1F}"/>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4" name="Footer Placeholder 3">
            <a:extLst>
              <a:ext uri="{FF2B5EF4-FFF2-40B4-BE49-F238E27FC236}">
                <a16:creationId xmlns:a16="http://schemas.microsoft.com/office/drawing/2014/main" id="{B07451A3-E447-4C5A-F488-FC390010AB4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5F2DC9-531B-4B81-0A8E-723C8485F303}"/>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2528768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0F42B2-5180-07C5-7736-185057E98959}"/>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3" name="Footer Placeholder 2">
            <a:extLst>
              <a:ext uri="{FF2B5EF4-FFF2-40B4-BE49-F238E27FC236}">
                <a16:creationId xmlns:a16="http://schemas.microsoft.com/office/drawing/2014/main" id="{C633812C-30F1-501F-A243-C346DF1FFD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60EE3D-5724-A5FC-1F6A-3727C0F7C435}"/>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72594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F9861-D2B0-3AE1-43C3-A8EF736787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03BFA0-29C7-F94D-669B-0760DA5809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DC75C5-30E3-1827-4B7F-D45C867544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A23289-5E81-2641-BEB9-F77A92E4A48F}"/>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6" name="Footer Placeholder 5">
            <a:extLst>
              <a:ext uri="{FF2B5EF4-FFF2-40B4-BE49-F238E27FC236}">
                <a16:creationId xmlns:a16="http://schemas.microsoft.com/office/drawing/2014/main" id="{176E8050-FED5-BC00-15A4-E0B548A147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E7819F-77D2-00A6-2BE1-E0E557484A89}"/>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1200056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81EE9-3F5F-345A-DBD2-AE4C2F7F13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E63338-6BE0-72DA-271E-1075042604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3F1D3B-F249-CB73-8F2E-5A9890BE86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DB20F-590B-58C7-7D0D-4E1EFC714BCC}"/>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6" name="Footer Placeholder 5">
            <a:extLst>
              <a:ext uri="{FF2B5EF4-FFF2-40B4-BE49-F238E27FC236}">
                <a16:creationId xmlns:a16="http://schemas.microsoft.com/office/drawing/2014/main" id="{2F26512C-C9B1-C138-88AA-54BFE03942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477014-2CFC-79D7-5B5A-793543CF6FC4}"/>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1987300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249A-2F8E-71E6-3F00-F04FC3377F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A06FFB-A31C-4B19-5F2F-5C59F7216B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B9F50E-F444-0161-92E5-114A49563E4A}"/>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5" name="Footer Placeholder 4">
            <a:extLst>
              <a:ext uri="{FF2B5EF4-FFF2-40B4-BE49-F238E27FC236}">
                <a16:creationId xmlns:a16="http://schemas.microsoft.com/office/drawing/2014/main" id="{0DD0EECA-8A47-20E4-8AB0-552CEFA4E9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CD1776-FC2F-DBAD-C5DD-1B4A90AECCF9}"/>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2952669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E56BE0-C54C-9C40-ECB3-48C5D4EEE0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A79545-38AB-13CC-10C6-967FDF2B28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9F0B8C-25B7-0818-F106-6647BBCBF264}"/>
              </a:ext>
            </a:extLst>
          </p:cNvPr>
          <p:cNvSpPr>
            <a:spLocks noGrp="1"/>
          </p:cNvSpPr>
          <p:nvPr>
            <p:ph type="dt" sz="half" idx="10"/>
          </p:nvPr>
        </p:nvSpPr>
        <p:spPr/>
        <p:txBody>
          <a:bodyPr/>
          <a:lstStyle/>
          <a:p>
            <a:fld id="{B9CC52D7-A56D-4370-ABC4-1AC955655B8F}" type="datetimeFigureOut">
              <a:rPr lang="en-IN" smtClean="0"/>
              <a:t>01-08-2025</a:t>
            </a:fld>
            <a:endParaRPr lang="en-IN"/>
          </a:p>
        </p:txBody>
      </p:sp>
      <p:sp>
        <p:nvSpPr>
          <p:cNvPr id="5" name="Footer Placeholder 4">
            <a:extLst>
              <a:ext uri="{FF2B5EF4-FFF2-40B4-BE49-F238E27FC236}">
                <a16:creationId xmlns:a16="http://schemas.microsoft.com/office/drawing/2014/main" id="{2A808B4D-4ABC-2A6B-9706-82295EC95B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624CE9-EC97-78D2-25A5-6BCE1907DED1}"/>
              </a:ext>
            </a:extLst>
          </p:cNvPr>
          <p:cNvSpPr>
            <a:spLocks noGrp="1"/>
          </p:cNvSpPr>
          <p:nvPr>
            <p:ph type="sldNum" sz="quarter" idx="12"/>
          </p:nvPr>
        </p:nvSpPr>
        <p:spPr/>
        <p:txBody>
          <a:bodyPr/>
          <a:lstStyle/>
          <a:p>
            <a:fld id="{7010BC01-41D5-4FFC-B457-CECFCE8179B6}" type="slidenum">
              <a:rPr lang="en-IN" smtClean="0"/>
              <a:t>‹#›</a:t>
            </a:fld>
            <a:endParaRPr lang="en-IN"/>
          </a:p>
        </p:txBody>
      </p:sp>
    </p:spTree>
    <p:extLst>
      <p:ext uri="{BB962C8B-B14F-4D97-AF65-F5344CB8AC3E}">
        <p14:creationId xmlns:p14="http://schemas.microsoft.com/office/powerpoint/2010/main" val="1262499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395EAD-0222-9359-839E-1B6CDA35FD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3C79F8-90B1-B889-78B9-46D00DC49B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51F3E0-3212-81B7-7FE8-3036797C3A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CC52D7-A56D-4370-ABC4-1AC955655B8F}" type="datetimeFigureOut">
              <a:rPr lang="en-IN" smtClean="0"/>
              <a:t>01-08-2025</a:t>
            </a:fld>
            <a:endParaRPr lang="en-IN"/>
          </a:p>
        </p:txBody>
      </p:sp>
      <p:sp>
        <p:nvSpPr>
          <p:cNvPr id="5" name="Footer Placeholder 4">
            <a:extLst>
              <a:ext uri="{FF2B5EF4-FFF2-40B4-BE49-F238E27FC236}">
                <a16:creationId xmlns:a16="http://schemas.microsoft.com/office/drawing/2014/main" id="{2B805064-C996-ACCA-45D9-56FDC72390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AF47535-6BB6-A8EE-C5E9-AECB5B035B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10BC01-41D5-4FFC-B457-CECFCE8179B6}" type="slidenum">
              <a:rPr lang="en-IN" smtClean="0"/>
              <a:t>‹#›</a:t>
            </a:fld>
            <a:endParaRPr lang="en-IN"/>
          </a:p>
        </p:txBody>
      </p:sp>
    </p:spTree>
    <p:extLst>
      <p:ext uri="{BB962C8B-B14F-4D97-AF65-F5344CB8AC3E}">
        <p14:creationId xmlns:p14="http://schemas.microsoft.com/office/powerpoint/2010/main" val="3281085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FA21AA8E-CC0F-1694-C4EF-2ABAE9B667D3}"/>
              </a:ext>
            </a:extLst>
          </p:cNvPr>
          <p:cNvSpPr/>
          <p:nvPr/>
        </p:nvSpPr>
        <p:spPr>
          <a:xfrm>
            <a:off x="8229600" y="377184"/>
            <a:ext cx="3282432" cy="658897"/>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
        <p:nvSpPr>
          <p:cNvPr id="5" name="TextBox 10">
            <a:extLst>
              <a:ext uri="{FF2B5EF4-FFF2-40B4-BE49-F238E27FC236}">
                <a16:creationId xmlns:a16="http://schemas.microsoft.com/office/drawing/2014/main" id="{A390A777-516A-7A05-B40E-5625029AABCC}"/>
              </a:ext>
            </a:extLst>
          </p:cNvPr>
          <p:cNvSpPr txBox="1"/>
          <p:nvPr/>
        </p:nvSpPr>
        <p:spPr>
          <a:xfrm>
            <a:off x="604696" y="927972"/>
            <a:ext cx="6619064" cy="65889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604"/>
              </a:lnSpc>
            </a:pPr>
            <a:r>
              <a:rPr lang="en-US" sz="4002" dirty="0">
                <a:solidFill>
                  <a:srgbClr val="000000"/>
                </a:solidFill>
                <a:latin typeface="Times New Roman" panose="02020603050405020304" pitchFamily="18" charset="0"/>
                <a:cs typeface="Times New Roman" panose="02020603050405020304" pitchFamily="18" charset="0"/>
              </a:rPr>
              <a:t>Presentation by Yi-</a:t>
            </a:r>
            <a:r>
              <a:rPr lang="en-US" sz="4002" dirty="0" err="1">
                <a:solidFill>
                  <a:srgbClr val="000000"/>
                </a:solidFill>
                <a:latin typeface="Times New Roman" panose="02020603050405020304" pitchFamily="18" charset="0"/>
                <a:cs typeface="Times New Roman" panose="02020603050405020304" pitchFamily="18" charset="0"/>
              </a:rPr>
              <a:t>Chih</a:t>
            </a:r>
            <a:r>
              <a:rPr lang="en-US" sz="4002" dirty="0">
                <a:solidFill>
                  <a:srgbClr val="000000"/>
                </a:solidFill>
                <a:latin typeface="Times New Roman" panose="02020603050405020304" pitchFamily="18" charset="0"/>
                <a:cs typeface="Times New Roman" panose="02020603050405020304" pitchFamily="18" charset="0"/>
              </a:rPr>
              <a:t> Tung</a:t>
            </a:r>
          </a:p>
        </p:txBody>
      </p:sp>
      <p:sp>
        <p:nvSpPr>
          <p:cNvPr id="6" name="TextBox 5">
            <a:extLst>
              <a:ext uri="{FF2B5EF4-FFF2-40B4-BE49-F238E27FC236}">
                <a16:creationId xmlns:a16="http://schemas.microsoft.com/office/drawing/2014/main" id="{C551F41D-7109-E885-B9A1-92CB0941A9AF}"/>
              </a:ext>
            </a:extLst>
          </p:cNvPr>
          <p:cNvSpPr txBox="1"/>
          <p:nvPr/>
        </p:nvSpPr>
        <p:spPr>
          <a:xfrm>
            <a:off x="604696" y="1586870"/>
            <a:ext cx="3939689" cy="105375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9021"/>
              </a:lnSpc>
            </a:pPr>
            <a:r>
              <a:rPr lang="en-US" sz="6444" dirty="0">
                <a:solidFill>
                  <a:srgbClr val="000000"/>
                </a:solidFill>
                <a:latin typeface="Times New Roman" panose="02020603050405020304" pitchFamily="18" charset="0"/>
                <a:cs typeface="Times New Roman" panose="02020603050405020304" pitchFamily="18" charset="0"/>
              </a:rPr>
              <a:t>Chapter 8</a:t>
            </a:r>
          </a:p>
        </p:txBody>
      </p:sp>
      <p:sp>
        <p:nvSpPr>
          <p:cNvPr id="7" name="TextBox 6">
            <a:extLst>
              <a:ext uri="{FF2B5EF4-FFF2-40B4-BE49-F238E27FC236}">
                <a16:creationId xmlns:a16="http://schemas.microsoft.com/office/drawing/2014/main" id="{F75CB2B1-5B10-405D-9D65-563BA4AFE9DF}"/>
              </a:ext>
            </a:extLst>
          </p:cNvPr>
          <p:cNvSpPr txBox="1"/>
          <p:nvPr/>
        </p:nvSpPr>
        <p:spPr>
          <a:xfrm>
            <a:off x="668418" y="2720576"/>
            <a:ext cx="5427582" cy="2369880"/>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Flow Control</a:t>
            </a:r>
          </a:p>
          <a:p>
            <a:pPr algn="just"/>
            <a:endParaRPr lang="en-IN" sz="28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chapter examines some fun programs to exercise branching instructions. Branching is a fundamental part of a loop, which allows repeated operations.</a:t>
            </a:r>
            <a:endParaRPr lang="en-IN"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59C5500-98FB-142E-9060-69E7E69743A7}"/>
              </a:ext>
            </a:extLst>
          </p:cNvPr>
          <p:cNvPicPr>
            <a:picLocks noChangeAspect="1"/>
          </p:cNvPicPr>
          <p:nvPr/>
        </p:nvPicPr>
        <p:blipFill>
          <a:blip r:embed="rId3"/>
          <a:stretch>
            <a:fillRect/>
          </a:stretch>
        </p:blipFill>
        <p:spPr>
          <a:xfrm>
            <a:off x="6385943" y="2108655"/>
            <a:ext cx="5195070" cy="3593723"/>
          </a:xfrm>
          <a:prstGeom prst="rect">
            <a:avLst/>
          </a:prstGeom>
        </p:spPr>
      </p:pic>
    </p:spTree>
    <p:extLst>
      <p:ext uri="{BB962C8B-B14F-4D97-AF65-F5344CB8AC3E}">
        <p14:creationId xmlns:p14="http://schemas.microsoft.com/office/powerpoint/2010/main" val="1280877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8114-991D-5BEF-793C-FA6E20C1C193}"/>
              </a:ext>
            </a:extLst>
          </p:cNvPr>
          <p:cNvSpPr>
            <a:spLocks noGrp="1"/>
          </p:cNvSpPr>
          <p:nvPr>
            <p:ph type="title"/>
          </p:nvPr>
        </p:nvSpPr>
        <p:spPr/>
        <p:txBody>
          <a:bodyPr/>
          <a:lstStyle/>
          <a:p>
            <a:pPr algn="just"/>
            <a:r>
              <a:rPr lang="en-IN" dirty="0">
                <a:latin typeface="Times New Roman" panose="02020603050405020304" pitchFamily="18" charset="0"/>
                <a:cs typeface="Times New Roman" panose="02020603050405020304" pitchFamily="18" charset="0"/>
              </a:rPr>
              <a:t>Branching Instructions</a:t>
            </a:r>
          </a:p>
        </p:txBody>
      </p:sp>
      <p:sp>
        <p:nvSpPr>
          <p:cNvPr id="3" name="Content Placeholder 2">
            <a:extLst>
              <a:ext uri="{FF2B5EF4-FFF2-40B4-BE49-F238E27FC236}">
                <a16:creationId xmlns:a16="http://schemas.microsoft.com/office/drawing/2014/main" id="{FE51D68D-351F-9AEE-E44E-260952FF9DBC}"/>
              </a:ext>
            </a:extLst>
          </p:cNvPr>
          <p:cNvSpPr>
            <a:spLocks noGrp="1"/>
          </p:cNvSpPr>
          <p:nvPr>
            <p:ph idx="1"/>
          </p:nvPr>
        </p:nvSpPr>
        <p:spPr>
          <a:xfrm>
            <a:off x="838200" y="1690688"/>
            <a:ext cx="10515600" cy="4351338"/>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RISC-V documents like to refer to these as control transfer instructions. Of these, there </a:t>
            </a:r>
            <a:r>
              <a:rPr lang="en-IN" sz="2000" dirty="0">
                <a:latin typeface="Times New Roman" panose="02020603050405020304" pitchFamily="18" charset="0"/>
                <a:cs typeface="Times New Roman" panose="02020603050405020304" pitchFamily="18" charset="0"/>
              </a:rPr>
              <a:t>are two basic categories:</a:t>
            </a:r>
          </a:p>
          <a:p>
            <a:pPr marL="0" indent="0" algn="just">
              <a:buNone/>
            </a:pPr>
            <a:r>
              <a:rPr lang="en-IN" sz="2000" dirty="0">
                <a:latin typeface="Times New Roman" panose="02020603050405020304" pitchFamily="18" charset="0"/>
                <a:cs typeface="Times New Roman" panose="02020603050405020304" pitchFamily="18" charset="0"/>
              </a:rPr>
              <a:t>• Unconditional transfers</a:t>
            </a:r>
          </a:p>
          <a:p>
            <a:pPr marL="0" indent="0" algn="just">
              <a:buNone/>
            </a:pPr>
            <a:r>
              <a:rPr lang="en-IN" sz="2000" dirty="0">
                <a:latin typeface="Times New Roman" panose="02020603050405020304" pitchFamily="18" charset="0"/>
                <a:cs typeface="Times New Roman" panose="02020603050405020304" pitchFamily="18" charset="0"/>
              </a:rPr>
              <a:t>• Conditional branches</a:t>
            </a:r>
          </a:p>
          <a:p>
            <a:pPr marL="0" indent="0" algn="just">
              <a:buNone/>
            </a:pPr>
            <a:r>
              <a:rPr lang="en-IN" sz="2000" b="1" dirty="0">
                <a:latin typeface="Times New Roman" panose="02020603050405020304" pitchFamily="18" charset="0"/>
                <a:cs typeface="Times New Roman" panose="02020603050405020304" pitchFamily="18" charset="0"/>
              </a:rPr>
              <a:t>Conditional Branches</a:t>
            </a:r>
          </a:p>
          <a:p>
            <a:pPr algn="just"/>
            <a:r>
              <a:rPr lang="en-US" sz="2000" dirty="0">
                <a:latin typeface="Times New Roman" panose="02020603050405020304" pitchFamily="18" charset="0"/>
                <a:cs typeface="Times New Roman" panose="02020603050405020304" pitchFamily="18" charset="0"/>
              </a:rPr>
              <a:t>With conditional branches, the comparison and the branch are combined into one opera </a:t>
            </a:r>
            <a:r>
              <a:rPr lang="en-US" sz="2000" dirty="0" err="1">
                <a:latin typeface="Times New Roman" panose="02020603050405020304" pitchFamily="18" charset="0"/>
                <a:cs typeface="Times New Roman" panose="02020603050405020304" pitchFamily="18" charset="0"/>
              </a:rPr>
              <a:t>tion</a:t>
            </a:r>
            <a:r>
              <a:rPr lang="en-US" sz="2000" dirty="0">
                <a:latin typeface="Times New Roman" panose="02020603050405020304" pitchFamily="18" charset="0"/>
                <a:cs typeface="Times New Roman" panose="02020603050405020304" pitchFamily="18" charset="0"/>
              </a:rPr>
              <a:t>. The following are signed comparison branches (the operation in C language terms is provided in the comment):</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1F37DFC-4047-84FA-F982-28EDBC1D6EFC}"/>
              </a:ext>
            </a:extLst>
          </p:cNvPr>
          <p:cNvPicPr>
            <a:picLocks noChangeAspect="1"/>
          </p:cNvPicPr>
          <p:nvPr/>
        </p:nvPicPr>
        <p:blipFill>
          <a:blip r:embed="rId2"/>
          <a:stretch>
            <a:fillRect/>
          </a:stretch>
        </p:blipFill>
        <p:spPr>
          <a:xfrm>
            <a:off x="1308284" y="4786140"/>
            <a:ext cx="9575431" cy="1566410"/>
          </a:xfrm>
          <a:prstGeom prst="rect">
            <a:avLst/>
          </a:prstGeom>
        </p:spPr>
      </p:pic>
    </p:spTree>
    <p:extLst>
      <p:ext uri="{BB962C8B-B14F-4D97-AF65-F5344CB8AC3E}">
        <p14:creationId xmlns:p14="http://schemas.microsoft.com/office/powerpoint/2010/main" val="1882517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E5EDE-6B69-15E1-FC63-E2BA9B6AAD7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Unconditional Transfers</a:t>
            </a:r>
          </a:p>
        </p:txBody>
      </p:sp>
      <p:sp>
        <p:nvSpPr>
          <p:cNvPr id="3" name="Content Placeholder 2">
            <a:extLst>
              <a:ext uri="{FF2B5EF4-FFF2-40B4-BE49-F238E27FC236}">
                <a16:creationId xmlns:a16="http://schemas.microsoft.com/office/drawing/2014/main" id="{EF9FE5F6-E501-AF4D-2B72-E70965C266A9}"/>
              </a:ext>
            </a:extLst>
          </p:cNvPr>
          <p:cNvSpPr>
            <a:spLocks noGrp="1"/>
          </p:cNvSpPr>
          <p:nvPr>
            <p:ph idx="1"/>
          </p:nvPr>
        </p:nvSpPr>
        <p:spPr>
          <a:xfrm>
            <a:off x="693821" y="1552909"/>
            <a:ext cx="10515600" cy="4351338"/>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We've already seen the "</a:t>
            </a:r>
            <a:r>
              <a:rPr lang="en-US" sz="2000" dirty="0" err="1">
                <a:latin typeface="Times New Roman" panose="02020603050405020304" pitchFamily="18" charset="0"/>
                <a:cs typeface="Times New Roman" panose="02020603050405020304" pitchFamily="18" charset="0"/>
              </a:rPr>
              <a:t>jal</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jalr</a:t>
            </a:r>
            <a:r>
              <a:rPr lang="en-US" sz="2000" dirty="0">
                <a:latin typeface="Times New Roman" panose="02020603050405020304" pitchFamily="18" charset="0"/>
                <a:cs typeface="Times New Roman" panose="02020603050405020304" pitchFamily="18" charset="0"/>
              </a:rPr>
              <a:t>" opcodes for calling a subroutine. When the destination register is set to zero/x0, either explicitly or by a pseudo-op like "j", they become simple unconditional transfers because there is no return address produced. The "</a:t>
            </a:r>
            <a:r>
              <a:rPr lang="en-US" sz="2000" dirty="0" err="1">
                <a:latin typeface="Times New Roman" panose="02020603050405020304" pitchFamily="18" charset="0"/>
                <a:cs typeface="Times New Roman" panose="02020603050405020304" pitchFamily="18" charset="0"/>
              </a:rPr>
              <a:t>jal</a:t>
            </a:r>
            <a:r>
              <a:rPr lang="en-US" sz="2000" dirty="0">
                <a:latin typeface="Times New Roman" panose="02020603050405020304" pitchFamily="18" charset="0"/>
                <a:cs typeface="Times New Roman" panose="02020603050405020304" pitchFamily="18" charset="0"/>
              </a:rPr>
              <a:t>" and "j“ opcodes have the ability to jump +/- 1 MB from the current program counter (pc) since the o set is encoded as a signed half-word o set. The "</a:t>
            </a:r>
            <a:r>
              <a:rPr lang="en-US" sz="2000" dirty="0" err="1">
                <a:latin typeface="Times New Roman" panose="02020603050405020304" pitchFamily="18" charset="0"/>
                <a:cs typeface="Times New Roman" panose="02020603050405020304" pitchFamily="18" charset="0"/>
              </a:rPr>
              <a:t>jalr</a:t>
            </a:r>
            <a:r>
              <a:rPr lang="en-US" sz="2000" dirty="0">
                <a:latin typeface="Times New Roman" panose="02020603050405020304" pitchFamily="18" charset="0"/>
                <a:cs typeface="Times New Roman" panose="02020603050405020304" pitchFamily="18" charset="0"/>
              </a:rPr>
              <a:t>" opcode on the other hand encodes the o set as a 12-bit signed byte o set and therefore has a more restricted range.</a:t>
            </a:r>
          </a:p>
          <a:p>
            <a:pPr marL="0" indent="0" algn="just">
              <a:buNone/>
            </a:pPr>
            <a:r>
              <a:rPr lang="en-US" sz="2000" dirty="0">
                <a:latin typeface="Times New Roman" panose="02020603050405020304" pitchFamily="18" charset="0"/>
                <a:cs typeface="Times New Roman" panose="02020603050405020304" pitchFamily="18" charset="0"/>
              </a:rPr>
              <a:t>The following are variations of the unconditional transfer. For easy-to-read code, the "j" or "</a:t>
            </a:r>
            <a:r>
              <a:rPr lang="en-US" sz="2000" dirty="0" err="1">
                <a:latin typeface="Times New Roman" panose="02020603050405020304" pitchFamily="18" charset="0"/>
                <a:cs typeface="Times New Roman" panose="02020603050405020304" pitchFamily="18" charset="0"/>
              </a:rPr>
              <a:t>jr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pseudoopcodes</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are recommended:</a:t>
            </a:r>
          </a:p>
        </p:txBody>
      </p:sp>
      <p:pic>
        <p:nvPicPr>
          <p:cNvPr id="5" name="Picture 4">
            <a:extLst>
              <a:ext uri="{FF2B5EF4-FFF2-40B4-BE49-F238E27FC236}">
                <a16:creationId xmlns:a16="http://schemas.microsoft.com/office/drawing/2014/main" id="{DAD74FC9-E7E8-8531-721F-120F4D9FB4BC}"/>
              </a:ext>
            </a:extLst>
          </p:cNvPr>
          <p:cNvPicPr>
            <a:picLocks noChangeAspect="1"/>
          </p:cNvPicPr>
          <p:nvPr/>
        </p:nvPicPr>
        <p:blipFill>
          <a:blip r:embed="rId2"/>
          <a:stretch>
            <a:fillRect/>
          </a:stretch>
        </p:blipFill>
        <p:spPr>
          <a:xfrm>
            <a:off x="1941094" y="4476476"/>
            <a:ext cx="8309811" cy="1427771"/>
          </a:xfrm>
          <a:prstGeom prst="rect">
            <a:avLst/>
          </a:prstGeom>
        </p:spPr>
      </p:pic>
    </p:spTree>
    <p:extLst>
      <p:ext uri="{BB962C8B-B14F-4D97-AF65-F5344CB8AC3E}">
        <p14:creationId xmlns:p14="http://schemas.microsoft.com/office/powerpoint/2010/main" val="1356314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5D952B-E089-82DD-99D6-EF2DB4BA3E3F}"/>
              </a:ext>
            </a:extLst>
          </p:cNvPr>
          <p:cNvSpPr txBox="1"/>
          <p:nvPr/>
        </p:nvSpPr>
        <p:spPr>
          <a:xfrm>
            <a:off x="1074821" y="403519"/>
            <a:ext cx="10427368" cy="2246769"/>
          </a:xfrm>
          <a:prstGeom prst="rect">
            <a:avLst/>
          </a:prstGeom>
          <a:noFill/>
        </p:spPr>
        <p:txBody>
          <a:bodyPr wrap="square">
            <a:spAutoFit/>
          </a:bodyPr>
          <a:lstStyle/>
          <a:p>
            <a:pPr algn="just"/>
            <a:r>
              <a:rPr lang="en-IN" sz="2000" b="1" i="0" u="none" strike="noStrike" baseline="0" dirty="0">
                <a:latin typeface="Times New Roman" panose="02020603050405020304" pitchFamily="18" charset="0"/>
                <a:cs typeface="Times New Roman" panose="02020603050405020304" pitchFamily="18" charset="0"/>
              </a:rPr>
              <a:t>Shift Opcodes</a:t>
            </a:r>
          </a:p>
          <a:p>
            <a:pPr algn="just"/>
            <a:r>
              <a:rPr lang="en-US" sz="2000" b="0" i="0" u="none" strike="noStrike" baseline="0" dirty="0">
                <a:latin typeface="Times New Roman" panose="02020603050405020304" pitchFamily="18" charset="0"/>
                <a:cs typeface="Times New Roman" panose="02020603050405020304" pitchFamily="18" charset="0"/>
              </a:rPr>
              <a:t>In the C language, you often don't consider whether it involves a logical or arithmetic shift operation. That is because it is determined by the data type. When unsigned, it requires a logical shift. When signed, it requires an arithmetic shift, when shifting right. The arithmetic right shift preserves the sign while the remaining bits are shifted right. All shift-left operations are logical shifts, which is why you don't see a "</a:t>
            </a:r>
            <a:r>
              <a:rPr lang="en-US" sz="2000" b="0" i="0" u="none" strike="noStrike" baseline="0" dirty="0" err="1">
                <a:latin typeface="Times New Roman" panose="02020603050405020304" pitchFamily="18" charset="0"/>
                <a:cs typeface="Times New Roman" panose="02020603050405020304" pitchFamily="18" charset="0"/>
              </a:rPr>
              <a:t>sla</a:t>
            </a:r>
            <a:r>
              <a:rPr lang="en-US" sz="2000" b="0" i="0" u="none" strike="noStrike" baseline="0" dirty="0">
                <a:latin typeface="Times New Roman" panose="02020603050405020304" pitchFamily="18" charset="0"/>
                <a:cs typeface="Times New Roman" panose="02020603050405020304" pitchFamily="18" charset="0"/>
              </a:rPr>
              <a:t>" opcode. Logical shifts always populate the shifted-out bit position with a </a:t>
            </a:r>
            <a:r>
              <a:rPr lang="en-IN" sz="2000" b="0" i="0" u="none" strike="noStrike" baseline="0" dirty="0">
                <a:latin typeface="Times New Roman" panose="02020603050405020304" pitchFamily="18" charset="0"/>
                <a:cs typeface="Times New Roman" panose="02020603050405020304" pitchFamily="18" charset="0"/>
              </a:rPr>
              <a:t>zero.</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5844737-2886-12DA-9033-75FBD4446DD5}"/>
              </a:ext>
            </a:extLst>
          </p:cNvPr>
          <p:cNvPicPr>
            <a:picLocks noChangeAspect="1"/>
          </p:cNvPicPr>
          <p:nvPr/>
        </p:nvPicPr>
        <p:blipFill>
          <a:blip r:embed="rId2"/>
          <a:stretch>
            <a:fillRect/>
          </a:stretch>
        </p:blipFill>
        <p:spPr>
          <a:xfrm>
            <a:off x="2101515" y="2635308"/>
            <a:ext cx="7988968" cy="1587384"/>
          </a:xfrm>
          <a:prstGeom prst="rect">
            <a:avLst/>
          </a:prstGeom>
        </p:spPr>
      </p:pic>
      <p:sp>
        <p:nvSpPr>
          <p:cNvPr id="9" name="TextBox 8">
            <a:extLst>
              <a:ext uri="{FF2B5EF4-FFF2-40B4-BE49-F238E27FC236}">
                <a16:creationId xmlns:a16="http://schemas.microsoft.com/office/drawing/2014/main" id="{CE1FC061-D08D-290F-13BC-0BD0424C0D2A}"/>
              </a:ext>
            </a:extLst>
          </p:cNvPr>
          <p:cNvSpPr txBox="1"/>
          <p:nvPr/>
        </p:nvSpPr>
        <p:spPr>
          <a:xfrm>
            <a:off x="1074820" y="4299226"/>
            <a:ext cx="6593305" cy="707886"/>
          </a:xfrm>
          <a:prstGeom prst="rect">
            <a:avLst/>
          </a:prstGeom>
          <a:noFill/>
        </p:spPr>
        <p:txBody>
          <a:bodyPr wrap="square">
            <a:spAutoFit/>
          </a:bodyPr>
          <a:lstStyle/>
          <a:p>
            <a:pPr algn="l"/>
            <a:r>
              <a:rPr lang="en-IN" sz="2000" b="1" i="0" u="none" strike="noStrike" baseline="0" dirty="0">
                <a:latin typeface="Times New Roman" panose="02020603050405020304" pitchFamily="18" charset="0"/>
                <a:cs typeface="Times New Roman" panose="02020603050405020304" pitchFamily="18" charset="0"/>
              </a:rPr>
              <a:t>RV64I Shift Opcodes</a:t>
            </a:r>
          </a:p>
          <a:p>
            <a:pPr algn="l"/>
            <a:r>
              <a:rPr lang="en-US" sz="2000" b="0" i="0" u="none" strike="noStrike" baseline="0" dirty="0">
                <a:latin typeface="Times New Roman" panose="02020603050405020304" pitchFamily="18" charset="0"/>
                <a:cs typeface="Times New Roman" panose="02020603050405020304" pitchFamily="18" charset="0"/>
              </a:rPr>
              <a:t>In addition to the previous shift opcodes, RV64I adds </a:t>
            </a:r>
            <a:r>
              <a:rPr lang="en-IN" sz="2000" b="0" i="0" u="none" strike="noStrike" baseline="0" dirty="0">
                <a:latin typeface="Times New Roman" panose="02020603050405020304" pitchFamily="18" charset="0"/>
                <a:cs typeface="Times New Roman" panose="02020603050405020304" pitchFamily="18" charset="0"/>
              </a:rPr>
              <a:t>these:</a:t>
            </a: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2FE2A72-13B2-3750-68CA-EAE82790D792}"/>
              </a:ext>
            </a:extLst>
          </p:cNvPr>
          <p:cNvPicPr>
            <a:picLocks noChangeAspect="1"/>
          </p:cNvPicPr>
          <p:nvPr/>
        </p:nvPicPr>
        <p:blipFill>
          <a:blip r:embed="rId3"/>
          <a:stretch>
            <a:fillRect/>
          </a:stretch>
        </p:blipFill>
        <p:spPr>
          <a:xfrm>
            <a:off x="1572126" y="5499555"/>
            <a:ext cx="9047747" cy="929876"/>
          </a:xfrm>
          <a:prstGeom prst="rect">
            <a:avLst/>
          </a:prstGeom>
        </p:spPr>
      </p:pic>
    </p:spTree>
    <p:extLst>
      <p:ext uri="{BB962C8B-B14F-4D97-AF65-F5344CB8AC3E}">
        <p14:creationId xmlns:p14="http://schemas.microsoft.com/office/powerpoint/2010/main" val="2303796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62D01-793C-BB28-15E8-308957EAF68F}"/>
              </a:ext>
            </a:extLst>
          </p:cNvPr>
          <p:cNvSpPr>
            <a:spLocks noGrp="1"/>
          </p:cNvSpPr>
          <p:nvPr>
            <p:ph type="title"/>
          </p:nvPr>
        </p:nvSpPr>
        <p:spPr/>
        <p:txBody>
          <a:bodyPr/>
          <a:lstStyle/>
          <a:p>
            <a:pPr algn="just"/>
            <a:r>
              <a:rPr lang="en-IN" dirty="0">
                <a:latin typeface="Times New Roman" panose="02020603050405020304" pitchFamily="18" charset="0"/>
                <a:cs typeface="Times New Roman" panose="02020603050405020304" pitchFamily="18" charset="0"/>
              </a:rPr>
              <a:t>ESP32-C3 Project</a:t>
            </a:r>
          </a:p>
        </p:txBody>
      </p:sp>
      <p:sp>
        <p:nvSpPr>
          <p:cNvPr id="3" name="Content Placeholder 2">
            <a:extLst>
              <a:ext uri="{FF2B5EF4-FFF2-40B4-BE49-F238E27FC236}">
                <a16:creationId xmlns:a16="http://schemas.microsoft.com/office/drawing/2014/main" id="{F08EC11D-C9EE-2191-6229-E32BC013A21B}"/>
              </a:ext>
            </a:extLst>
          </p:cNvPr>
          <p:cNvSpPr>
            <a:spLocks noGrp="1"/>
          </p:cNvSpPr>
          <p:nvPr>
            <p:ph idx="1"/>
          </p:nvPr>
        </p:nvSpPr>
        <p:spPr>
          <a:xfrm>
            <a:off x="838200" y="1690688"/>
            <a:ext cx="10515600" cy="4351338"/>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 this project, we'll write both an optimized C language program and an assembler language equivalent to count the number of 1-bits in a 32-bit integer, for the ESP32-C3. Let's then compare the two routines in this bake-o to see if the compiler can out-perform our assembly </a:t>
            </a:r>
            <a:r>
              <a:rPr lang="en-IN" sz="2400" dirty="0">
                <a:latin typeface="Times New Roman" panose="02020603050405020304" pitchFamily="18" charset="0"/>
                <a:cs typeface="Times New Roman" panose="02020603050405020304" pitchFamily="18" charset="0"/>
              </a:rPr>
              <a:t>language code.</a:t>
            </a:r>
          </a:p>
          <a:p>
            <a:pPr marL="0" indent="0" algn="just">
              <a:buNone/>
            </a:pPr>
            <a:r>
              <a:rPr lang="en-IN" sz="2400" b="1" dirty="0">
                <a:latin typeface="Times New Roman" panose="02020603050405020304" pitchFamily="18" charset="0"/>
                <a:cs typeface="Times New Roman" panose="02020603050405020304" pitchFamily="18" charset="0"/>
              </a:rPr>
              <a:t>Function </a:t>
            </a:r>
            <a:r>
              <a:rPr lang="en-IN" sz="2400" b="1" dirty="0" err="1">
                <a:latin typeface="Times New Roman" panose="02020603050405020304" pitchFamily="18" charset="0"/>
                <a:cs typeface="Times New Roman" panose="02020603050405020304" pitchFamily="18" charset="0"/>
              </a:rPr>
              <a:t>c_ones</a:t>
            </a:r>
            <a:r>
              <a:rPr lang="en-IN" sz="2400" b="1" dirty="0">
                <a:latin typeface="Times New Roman" panose="02020603050405020304" pitchFamily="18" charset="0"/>
                <a:cs typeface="Times New Roman" panose="02020603050405020304" pitchFamily="18" charset="0"/>
              </a:rPr>
              <a:t>()</a:t>
            </a:r>
          </a:p>
          <a:p>
            <a:pPr marL="0" indent="0" algn="just">
              <a:buNone/>
            </a:pPr>
            <a:r>
              <a:rPr lang="en-US" sz="2400" dirty="0">
                <a:latin typeface="Times New Roman" panose="02020603050405020304" pitchFamily="18" charset="0"/>
                <a:cs typeface="Times New Roman" panose="02020603050405020304" pitchFamily="18" charset="0"/>
              </a:rPr>
              <a:t>Listing 8.1 illustrates our test C language program, optimized at GCC level -O3 for good performance. The main program first invokes the assembler routine ones() in line 27 and saves the bit count in variable </a:t>
            </a:r>
            <a:r>
              <a:rPr lang="en-US" sz="2400" dirty="0" err="1">
                <a:latin typeface="Times New Roman" panose="02020603050405020304" pitchFamily="18" charset="0"/>
                <a:cs typeface="Times New Roman" panose="02020603050405020304" pitchFamily="18" charset="0"/>
              </a:rPr>
              <a:t>bcount</a:t>
            </a:r>
            <a:r>
              <a:rPr lang="en-US" sz="2400" dirty="0">
                <a:latin typeface="Times New Roman" panose="02020603050405020304" pitchFamily="18" charset="0"/>
                <a:cs typeface="Times New Roman" panose="02020603050405020304" pitchFamily="18" charset="0"/>
              </a:rPr>
              <a:t>. Then the C language function is called in line 31 with the returned value saved in variable count in Test </a:t>
            </a:r>
            <a:r>
              <a:rPr lang="en-IN" sz="2400" dirty="0">
                <a:latin typeface="Times New Roman" panose="02020603050405020304" pitchFamily="18" charset="0"/>
                <a:cs typeface="Times New Roman" panose="02020603050405020304" pitchFamily="18" charset="0"/>
              </a:rPr>
              <a:t>Program</a:t>
            </a:r>
          </a:p>
          <a:p>
            <a:pPr algn="just"/>
            <a:r>
              <a:rPr lang="en-US" sz="2400" dirty="0">
                <a:latin typeface="Times New Roman" panose="02020603050405020304" pitchFamily="18" charset="0"/>
                <a:cs typeface="Times New Roman" panose="02020603050405020304" pitchFamily="18" charset="0"/>
              </a:rPr>
              <a:t>Main program with </a:t>
            </a:r>
            <a:r>
              <a:rPr lang="en-US" sz="2400" dirty="0" err="1">
                <a:latin typeface="Times New Roman" panose="02020603050405020304" pitchFamily="18" charset="0"/>
                <a:cs typeface="Times New Roman" panose="02020603050405020304" pitchFamily="18" charset="0"/>
              </a:rPr>
              <a:t>c_ones</a:t>
            </a:r>
            <a:r>
              <a:rPr lang="en-US" sz="2400" dirty="0">
                <a:latin typeface="Times New Roman" panose="02020603050405020304" pitchFamily="18" charset="0"/>
                <a:cs typeface="Times New Roman" panose="02020603050405020304" pitchFamily="18" charset="0"/>
              </a:rPr>
              <a:t>() function,</a:t>
            </a:r>
          </a:p>
          <a:p>
            <a:pPr algn="just"/>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riscv</a:t>
            </a:r>
            <a:r>
              <a:rPr lang="en-IN" sz="2400" dirty="0">
                <a:latin typeface="Times New Roman" panose="02020603050405020304" pitchFamily="18" charset="0"/>
                <a:cs typeface="Times New Roman" panose="02020603050405020304" pitchFamily="18" charset="0"/>
              </a:rPr>
              <a:t>/repo/08/ones/main/</a:t>
            </a:r>
            <a:r>
              <a:rPr lang="en-IN" sz="2400" dirty="0" err="1">
                <a:latin typeface="Times New Roman" panose="02020603050405020304" pitchFamily="18" charset="0"/>
                <a:cs typeface="Times New Roman" panose="02020603050405020304" pitchFamily="18" charset="0"/>
              </a:rPr>
              <a:t>main.c</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02347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7621AB-781F-3765-012D-978205731A03}"/>
              </a:ext>
            </a:extLst>
          </p:cNvPr>
          <p:cNvSpPr txBox="1"/>
          <p:nvPr/>
        </p:nvSpPr>
        <p:spPr>
          <a:xfrm>
            <a:off x="272716" y="432696"/>
            <a:ext cx="3721769" cy="5324535"/>
          </a:xfrm>
          <a:prstGeom prst="rect">
            <a:avLst/>
          </a:prstGeom>
          <a:noFill/>
        </p:spPr>
        <p:txBody>
          <a:bodyPr wrap="square">
            <a:spAutoFit/>
          </a:bodyPr>
          <a:lstStyle/>
          <a:p>
            <a:pPr algn="just"/>
            <a:r>
              <a:rPr lang="en-IN" sz="2000" b="1" i="0" u="none" strike="noStrike" baseline="0" dirty="0">
                <a:latin typeface="Times New Roman" panose="02020603050405020304" pitchFamily="18" charset="0"/>
                <a:cs typeface="Times New Roman" panose="02020603050405020304" pitchFamily="18" charset="0"/>
              </a:rPr>
              <a:t>Assembler Function ones()</a:t>
            </a:r>
          </a:p>
          <a:p>
            <a:pPr algn="just"/>
            <a:r>
              <a:rPr lang="en-US" sz="2000" b="0" i="0" u="none" strike="noStrike" baseline="0" dirty="0">
                <a:latin typeface="Times New Roman" panose="02020603050405020304" pitchFamily="18" charset="0"/>
                <a:cs typeface="Times New Roman" panose="02020603050405020304" pitchFamily="18" charset="0"/>
              </a:rPr>
              <a:t>In this routine we </a:t>
            </a:r>
            <a:r>
              <a:rPr lang="en-US" sz="2000" b="0" i="0" u="none" strike="noStrike" baseline="0" dirty="0" err="1">
                <a:latin typeface="Times New Roman" panose="02020603050405020304" pitchFamily="18" charset="0"/>
                <a:cs typeface="Times New Roman" panose="02020603050405020304" pitchFamily="18" charset="0"/>
              </a:rPr>
              <a:t>ini</a:t>
            </a:r>
            <a:r>
              <a:rPr lang="en-US" sz="2000" b="0" i="0"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err="1">
                <a:latin typeface="Times New Roman" panose="02020603050405020304" pitchFamily="18" charset="0"/>
                <a:cs typeface="Times New Roman" panose="02020603050405020304" pitchFamily="18" charset="0"/>
              </a:rPr>
              <a:t>tialize</a:t>
            </a:r>
            <a:r>
              <a:rPr lang="en-US" sz="2000" b="0" i="0" u="none" strike="noStrike" baseline="0" dirty="0">
                <a:latin typeface="Times New Roman" panose="02020603050405020304" pitchFamily="18" charset="0"/>
                <a:cs typeface="Times New Roman" panose="02020603050405020304" pitchFamily="18" charset="0"/>
              </a:rPr>
              <a:t> temporary register t0 with zero (line 3) then we drop into the loop starting at line 5.</a:t>
            </a:r>
          </a:p>
          <a:p>
            <a:pPr algn="just"/>
            <a:r>
              <a:rPr lang="en-US" sz="2000" b="0" i="0" u="none" strike="noStrike" baseline="0" dirty="0">
                <a:latin typeface="Times New Roman" panose="02020603050405020304" pitchFamily="18" charset="0"/>
                <a:cs typeface="Times New Roman" panose="02020603050405020304" pitchFamily="18" charset="0"/>
              </a:rPr>
              <a:t>There we test if the argument in a0 is already zero or has </a:t>
            </a:r>
            <a:r>
              <a:rPr lang="en-IN" sz="2000" b="0" i="0" u="none" strike="noStrike" baseline="0" dirty="0">
                <a:latin typeface="Times New Roman" panose="02020603050405020304" pitchFamily="18" charset="0"/>
                <a:cs typeface="Times New Roman" panose="02020603050405020304" pitchFamily="18" charset="0"/>
              </a:rPr>
              <a:t>become zero.</a:t>
            </a:r>
          </a:p>
          <a:p>
            <a:pPr algn="just"/>
            <a:r>
              <a:rPr lang="en-IN" sz="2000" b="0" i="0" u="none" strike="noStrike" baseline="0" dirty="0">
                <a:latin typeface="Times New Roman" panose="02020603050405020304" pitchFamily="18" charset="0"/>
                <a:cs typeface="Times New Roman" panose="02020603050405020304" pitchFamily="18" charset="0"/>
              </a:rPr>
              <a:t>Assembly language function ones(),</a:t>
            </a:r>
          </a:p>
          <a:p>
            <a:pPr algn="just"/>
            <a:r>
              <a:rPr lang="en-US" sz="2000" b="0"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err="1">
                <a:latin typeface="Times New Roman" panose="02020603050405020304" pitchFamily="18" charset="0"/>
                <a:cs typeface="Times New Roman" panose="02020603050405020304" pitchFamily="18" charset="0"/>
              </a:rPr>
              <a:t>riscv</a:t>
            </a:r>
            <a:r>
              <a:rPr lang="en-US" sz="2000" b="0" i="0" u="none" strike="noStrike" baseline="0" dirty="0">
                <a:latin typeface="Times New Roman" panose="02020603050405020304" pitchFamily="18" charset="0"/>
                <a:cs typeface="Times New Roman" panose="02020603050405020304" pitchFamily="18" charset="0"/>
              </a:rPr>
              <a:t>/repo/08/ones/main/</a:t>
            </a:r>
            <a:r>
              <a:rPr lang="en-US" sz="2000" b="0" i="0" u="none" strike="noStrike" baseline="0" dirty="0" err="1">
                <a:latin typeface="Times New Roman" panose="02020603050405020304" pitchFamily="18" charset="0"/>
                <a:cs typeface="Times New Roman" panose="02020603050405020304" pitchFamily="18" charset="0"/>
              </a:rPr>
              <a:t>ones.S</a:t>
            </a:r>
            <a:r>
              <a:rPr lang="en-US" sz="2000" b="0" i="0" u="none" strike="noStrike" baseline="0" dirty="0">
                <a:latin typeface="Times New Roman" panose="02020603050405020304" pitchFamily="18" charset="0"/>
                <a:cs typeface="Times New Roman" panose="02020603050405020304" pitchFamily="18" charset="0"/>
              </a:rPr>
              <a:t>.</a:t>
            </a:r>
          </a:p>
          <a:p>
            <a:pPr algn="just"/>
            <a:r>
              <a:rPr lang="en-IN" sz="2000" b="0" i="0" u="none" strike="noStrike" baseline="0" dirty="0">
                <a:latin typeface="Times New Roman" panose="02020603050405020304" pitchFamily="18" charset="0"/>
                <a:cs typeface="Times New Roman" panose="02020603050405020304" pitchFamily="18" charset="0"/>
              </a:rPr>
              <a:t>Run it</a:t>
            </a:r>
          </a:p>
          <a:p>
            <a:pPr algn="just"/>
            <a:r>
              <a:rPr lang="en-US" sz="2000" b="0" i="0" u="none" strike="noStrike" baseline="0" dirty="0">
                <a:latin typeface="Times New Roman" panose="02020603050405020304" pitchFamily="18" charset="0"/>
                <a:cs typeface="Times New Roman" panose="02020603050405020304" pitchFamily="18" charset="0"/>
              </a:rPr>
              <a:t>Build, flash and monitor the result from the ESP32-C3</a:t>
            </a:r>
          </a:p>
          <a:p>
            <a:pPr algn="just"/>
            <a:r>
              <a:rPr lang="en-IN" sz="2000" b="0" i="0" u="none" strike="noStrike" baseline="0" dirty="0">
                <a:latin typeface="Times New Roman" panose="02020603050405020304" pitchFamily="18" charset="0"/>
                <a:cs typeface="Times New Roman" panose="02020603050405020304" pitchFamily="18" charset="0"/>
              </a:rPr>
              <a:t>device:</a:t>
            </a:r>
          </a:p>
          <a:p>
            <a:pPr algn="just"/>
            <a:r>
              <a:rPr lang="en-IN" sz="2000" b="0" i="0" u="none" strike="noStrike" baseline="0" dirty="0">
                <a:latin typeface="Times New Roman" panose="02020603050405020304" pitchFamily="18" charset="0"/>
                <a:cs typeface="Times New Roman" panose="02020603050405020304" pitchFamily="18" charset="0"/>
              </a:rPr>
              <a:t>$ cd ~/</a:t>
            </a:r>
            <a:r>
              <a:rPr lang="en-IN" sz="2000" b="0" i="0" u="none" strike="noStrike" baseline="0" dirty="0" err="1">
                <a:latin typeface="Times New Roman" panose="02020603050405020304" pitchFamily="18" charset="0"/>
                <a:cs typeface="Times New Roman" panose="02020603050405020304" pitchFamily="18" charset="0"/>
              </a:rPr>
              <a:t>riscv</a:t>
            </a:r>
            <a:r>
              <a:rPr lang="en-IN" sz="2000" b="0" i="0" u="none" strike="noStrike" baseline="0" dirty="0">
                <a:latin typeface="Times New Roman" panose="02020603050405020304" pitchFamily="18" charset="0"/>
                <a:cs typeface="Times New Roman" panose="02020603050405020304" pitchFamily="18" charset="0"/>
              </a:rPr>
              <a:t>/repo/08/ones</a:t>
            </a:r>
          </a:p>
          <a:p>
            <a:pPr algn="just"/>
            <a:r>
              <a:rPr lang="en-IN" sz="2000" b="0" i="0" u="none" strike="noStrike" baseline="0" dirty="0">
                <a:latin typeface="Times New Roman" panose="02020603050405020304" pitchFamily="18" charset="0"/>
                <a:cs typeface="Times New Roman" panose="02020603050405020304" pitchFamily="18" charset="0"/>
              </a:rPr>
              <a:t>$ idf.py build</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21823A1-D246-C068-BCF7-7C76667EE422}"/>
              </a:ext>
            </a:extLst>
          </p:cNvPr>
          <p:cNvPicPr>
            <a:picLocks noChangeAspect="1"/>
          </p:cNvPicPr>
          <p:nvPr/>
        </p:nvPicPr>
        <p:blipFill>
          <a:blip r:embed="rId2"/>
          <a:stretch>
            <a:fillRect/>
          </a:stretch>
        </p:blipFill>
        <p:spPr>
          <a:xfrm>
            <a:off x="4786860" y="304800"/>
            <a:ext cx="7405140" cy="4652211"/>
          </a:xfrm>
          <a:prstGeom prst="rect">
            <a:avLst/>
          </a:prstGeom>
        </p:spPr>
      </p:pic>
      <p:sp>
        <p:nvSpPr>
          <p:cNvPr id="9" name="TextBox 8">
            <a:extLst>
              <a:ext uri="{FF2B5EF4-FFF2-40B4-BE49-F238E27FC236}">
                <a16:creationId xmlns:a16="http://schemas.microsoft.com/office/drawing/2014/main" id="{540886A6-DB6E-160C-4333-7C161E7C2DE9}"/>
              </a:ext>
            </a:extLst>
          </p:cNvPr>
          <p:cNvSpPr txBox="1"/>
          <p:nvPr/>
        </p:nvSpPr>
        <p:spPr>
          <a:xfrm>
            <a:off x="5053265" y="5119102"/>
            <a:ext cx="6593303" cy="92333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a:t>
            </a:r>
            <a:r>
              <a:rPr lang="en-US" sz="1800" b="0" i="0" u="none" strike="noStrike" baseline="0" dirty="0">
                <a:latin typeface="Times New Roman" panose="02020603050405020304" pitchFamily="18" charset="0"/>
                <a:cs typeface="Times New Roman" panose="02020603050405020304" pitchFamily="18" charset="0"/>
              </a:rPr>
              <a:t>his confirms that both the assembly language function and the C language functions agreed. Examination of the return values indicates that the results are correct.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084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331000-5D0E-ACF0-E5FE-D9B192628A40}"/>
              </a:ext>
            </a:extLst>
          </p:cNvPr>
          <p:cNvSpPr txBox="1"/>
          <p:nvPr/>
        </p:nvSpPr>
        <p:spPr>
          <a:xfrm>
            <a:off x="565703" y="679346"/>
            <a:ext cx="4403558" cy="4708981"/>
          </a:xfrm>
          <a:prstGeom prst="rect">
            <a:avLst/>
          </a:prstGeom>
          <a:noFill/>
        </p:spPr>
        <p:txBody>
          <a:bodyPr wrap="square">
            <a:spAutoFit/>
          </a:bodyPr>
          <a:lstStyle/>
          <a:p>
            <a:pPr algn="just"/>
            <a:r>
              <a:rPr lang="en-IN" sz="2000" b="1" i="0" u="none" strike="noStrike" baseline="0" dirty="0">
                <a:latin typeface="Times New Roman" panose="02020603050405020304" pitchFamily="18" charset="0"/>
                <a:cs typeface="Times New Roman" panose="02020603050405020304" pitchFamily="18" charset="0"/>
              </a:rPr>
              <a:t>Routines Compared</a:t>
            </a:r>
          </a:p>
          <a:p>
            <a:pPr algn="just"/>
            <a:r>
              <a:rPr lang="en-IN" sz="2000" b="0" i="0" u="none" strike="noStrike" baseline="0" dirty="0">
                <a:latin typeface="Times New Roman" panose="02020603050405020304" pitchFamily="18" charset="0"/>
                <a:cs typeface="Times New Roman" panose="02020603050405020304" pitchFamily="18" charset="0"/>
              </a:rPr>
              <a:t>$ ~/</a:t>
            </a:r>
            <a:r>
              <a:rPr lang="en-IN" sz="2000" b="0" i="0" u="none" strike="noStrike" baseline="0" dirty="0" err="1">
                <a:latin typeface="Times New Roman" panose="02020603050405020304" pitchFamily="18" charset="0"/>
                <a:cs typeface="Times New Roman" panose="02020603050405020304" pitchFamily="18" charset="0"/>
              </a:rPr>
              <a:t>riscv</a:t>
            </a:r>
            <a:r>
              <a:rPr lang="en-IN" sz="2000" b="0" i="0" u="none" strike="noStrike" baseline="0" dirty="0">
                <a:latin typeface="Times New Roman" panose="02020603050405020304" pitchFamily="18" charset="0"/>
                <a:cs typeface="Times New Roman" panose="02020603050405020304" pitchFamily="18" charset="0"/>
              </a:rPr>
              <a:t>/repo/</a:t>
            </a:r>
            <a:r>
              <a:rPr lang="en-IN" sz="2000" b="0" i="0" u="none" strike="noStrike" baseline="0" dirty="0" err="1">
                <a:latin typeface="Times New Roman" panose="02020603050405020304" pitchFamily="18" charset="0"/>
                <a:cs typeface="Times New Roman" panose="02020603050405020304" pitchFamily="18" charset="0"/>
              </a:rPr>
              <a:t>listesp</a:t>
            </a:r>
            <a:r>
              <a:rPr lang="en-IN" sz="2000" b="0" i="0" u="none" strike="noStrike" baseline="0" dirty="0">
                <a:latin typeface="Times New Roman" panose="02020603050405020304" pitchFamily="18" charset="0"/>
                <a:cs typeface="Times New Roman" panose="02020603050405020304" pitchFamily="18" charset="0"/>
              </a:rPr>
              <a:t> main/</a:t>
            </a:r>
            <a:r>
              <a:rPr lang="en-IN" sz="2000" b="0" i="0" u="none" strike="noStrike" baseline="0" dirty="0" err="1">
                <a:latin typeface="Times New Roman" panose="02020603050405020304" pitchFamily="18" charset="0"/>
                <a:cs typeface="Times New Roman" panose="02020603050405020304" pitchFamily="18" charset="0"/>
              </a:rPr>
              <a:t>main.c</a:t>
            </a:r>
            <a:endParaRPr lang="en-IN" sz="2000" b="0" i="0" u="none" strike="noStrike" baseline="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It's clear from this listing that the C compiler chose to generate this function a little di er </a:t>
            </a:r>
            <a:r>
              <a:rPr lang="en-US" sz="2000" b="0" i="0" u="none" strike="noStrike" baseline="0" dirty="0" err="1">
                <a:latin typeface="Times New Roman" panose="02020603050405020304" pitchFamily="18" charset="0"/>
                <a:cs typeface="Times New Roman" panose="02020603050405020304" pitchFamily="18" charset="0"/>
              </a:rPr>
              <a:t>ently</a:t>
            </a:r>
            <a:r>
              <a:rPr lang="en-US" sz="2000" b="0" i="0" u="none" strike="noStrike" baseline="0" dirty="0">
                <a:latin typeface="Times New Roman" panose="02020603050405020304" pitchFamily="18" charset="0"/>
                <a:cs typeface="Times New Roman" panose="02020603050405020304" pitchFamily="18" charset="0"/>
              </a:rPr>
              <a:t> than our own </a:t>
            </a:r>
            <a:r>
              <a:rPr lang="en-IN" sz="2000" b="0" i="0" u="none" strike="noStrike" baseline="0" dirty="0">
                <a:latin typeface="Times New Roman" panose="02020603050405020304" pitchFamily="18" charset="0"/>
                <a:cs typeface="Times New Roman" panose="02020603050405020304" pitchFamily="18" charset="0"/>
              </a:rPr>
              <a:t>assembler routine.</a:t>
            </a:r>
          </a:p>
          <a:p>
            <a:pPr algn="just"/>
            <a:r>
              <a:rPr lang="en-IN" sz="2000" b="0" i="0" u="none" strike="noStrike" baseline="0" dirty="0">
                <a:latin typeface="Times New Roman" panose="02020603050405020304" pitchFamily="18" charset="0"/>
                <a:cs typeface="Times New Roman" panose="02020603050405020304" pitchFamily="18" charset="0"/>
              </a:rPr>
              <a:t>Compare and Set </a:t>
            </a:r>
            <a:r>
              <a:rPr lang="en-US" sz="2000" b="0" i="0" u="none" strike="noStrike" baseline="0" dirty="0">
                <a:latin typeface="Times New Roman" panose="02020603050405020304" pitchFamily="18" charset="0"/>
                <a:cs typeface="Times New Roman" panose="02020603050405020304" pitchFamily="18" charset="0"/>
              </a:rPr>
              <a:t>As reviewed in the examination of the </a:t>
            </a:r>
            <a:r>
              <a:rPr lang="en-US" sz="2000" b="0" i="0" u="none" strike="noStrike" baseline="0" dirty="0" err="1">
                <a:latin typeface="Times New Roman" panose="02020603050405020304" pitchFamily="18" charset="0"/>
                <a:cs typeface="Times New Roman" panose="02020603050405020304" pitchFamily="18" charset="0"/>
              </a:rPr>
              <a:t>c_ones</a:t>
            </a:r>
            <a:r>
              <a:rPr lang="en-US" sz="2000" b="0" i="0" u="none" strike="noStrike" baseline="0" dirty="0">
                <a:latin typeface="Times New Roman" panose="02020603050405020304" pitchFamily="18" charset="0"/>
                <a:cs typeface="Times New Roman" panose="02020603050405020304" pitchFamily="18" charset="0"/>
              </a:rPr>
              <a:t>() function, the C compiler used the "</a:t>
            </a:r>
            <a:r>
              <a:rPr lang="en-US" sz="2000" b="0" i="0" u="none" strike="noStrike" baseline="0" dirty="0" err="1">
                <a:latin typeface="Times New Roman" panose="02020603050405020304" pitchFamily="18" charset="0"/>
                <a:cs typeface="Times New Roman" panose="02020603050405020304" pitchFamily="18" charset="0"/>
              </a:rPr>
              <a:t>slti</a:t>
            </a:r>
            <a:r>
              <a:rPr lang="en-US" sz="2000" b="0" i="0" u="none" strike="noStrike" baseline="0" dirty="0">
                <a:latin typeface="Times New Roman" panose="02020603050405020304" pitchFamily="18" charset="0"/>
                <a:cs typeface="Times New Roman" panose="02020603050405020304" pitchFamily="18" charset="0"/>
              </a:rPr>
              <a:t>" opcode to set the destination register to a 1 or a 0 based upon the result of a comparison. There are other compare and set opcodes similar to it. </a:t>
            </a:r>
          </a:p>
          <a:p>
            <a:pPr algn="just"/>
            <a:r>
              <a:rPr lang="en-US" sz="2000" b="0" i="0" u="none" strike="noStrike" baseline="0" dirty="0">
                <a:latin typeface="Times New Roman" panose="02020603050405020304" pitchFamily="18" charset="0"/>
                <a:cs typeface="Times New Roman" panose="02020603050405020304" pitchFamily="18" charset="0"/>
              </a:rPr>
              <a:t>These are listed with their C </a:t>
            </a:r>
            <a:r>
              <a:rPr lang="en-US" sz="2000" b="0" i="0" u="none" strike="noStrike" baseline="0" dirty="0" err="1">
                <a:latin typeface="Times New Roman" panose="02020603050405020304" pitchFamily="18" charset="0"/>
                <a:cs typeface="Times New Roman" panose="02020603050405020304" pitchFamily="18" charset="0"/>
              </a:rPr>
              <a:t>lan</a:t>
            </a:r>
            <a:r>
              <a:rPr lang="en-US" sz="2000" b="0" i="0"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err="1">
                <a:latin typeface="Times New Roman" panose="02020603050405020304" pitchFamily="18" charset="0"/>
                <a:cs typeface="Times New Roman" panose="02020603050405020304" pitchFamily="18" charset="0"/>
              </a:rPr>
              <a:t>guage</a:t>
            </a:r>
            <a:endParaRPr lang="en-US" sz="2000" b="0" i="0" u="none" strike="noStrike" baseline="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equivalent expression in the comments: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5A9FD33-6759-971B-FBAD-08E20469F53F}"/>
              </a:ext>
            </a:extLst>
          </p:cNvPr>
          <p:cNvPicPr>
            <a:picLocks noChangeAspect="1"/>
          </p:cNvPicPr>
          <p:nvPr/>
        </p:nvPicPr>
        <p:blipFill>
          <a:blip r:embed="rId2"/>
          <a:stretch>
            <a:fillRect/>
          </a:stretch>
        </p:blipFill>
        <p:spPr>
          <a:xfrm>
            <a:off x="5554132" y="781182"/>
            <a:ext cx="6072165" cy="3117112"/>
          </a:xfrm>
          <a:prstGeom prst="rect">
            <a:avLst/>
          </a:prstGeom>
        </p:spPr>
      </p:pic>
      <p:pic>
        <p:nvPicPr>
          <p:cNvPr id="9" name="Picture 8">
            <a:extLst>
              <a:ext uri="{FF2B5EF4-FFF2-40B4-BE49-F238E27FC236}">
                <a16:creationId xmlns:a16="http://schemas.microsoft.com/office/drawing/2014/main" id="{EECF56AD-6EB5-7C4F-3189-9B22DF9DD03E}"/>
              </a:ext>
            </a:extLst>
          </p:cNvPr>
          <p:cNvPicPr>
            <a:picLocks noChangeAspect="1"/>
          </p:cNvPicPr>
          <p:nvPr/>
        </p:nvPicPr>
        <p:blipFill>
          <a:blip r:embed="rId3"/>
          <a:stretch>
            <a:fillRect/>
          </a:stretch>
        </p:blipFill>
        <p:spPr>
          <a:xfrm>
            <a:off x="5554132" y="3898294"/>
            <a:ext cx="6072165" cy="1558556"/>
          </a:xfrm>
          <a:prstGeom prst="rect">
            <a:avLst/>
          </a:prstGeom>
        </p:spPr>
      </p:pic>
    </p:spTree>
    <p:extLst>
      <p:ext uri="{BB962C8B-B14F-4D97-AF65-F5344CB8AC3E}">
        <p14:creationId xmlns:p14="http://schemas.microsoft.com/office/powerpoint/2010/main" val="4204675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C6DD8-CF5D-C3EC-870C-E7B0800F65A5}"/>
              </a:ext>
            </a:extLst>
          </p:cNvPr>
          <p:cNvSpPr>
            <a:spLocks noGrp="1"/>
          </p:cNvSpPr>
          <p:nvPr>
            <p:ph type="title"/>
          </p:nvPr>
        </p:nvSpPr>
        <p:spPr>
          <a:xfrm>
            <a:off x="838200" y="365125"/>
            <a:ext cx="5150329" cy="613443"/>
          </a:xfrm>
        </p:spPr>
        <p:txBody>
          <a:bodyPr>
            <a:normAutofit fontScale="90000"/>
          </a:bodyPr>
          <a:lstStyle/>
          <a:p>
            <a:r>
              <a:rPr lang="en-IN" dirty="0">
                <a:latin typeface="Times New Roman" panose="02020603050405020304" pitchFamily="18" charset="0"/>
                <a:cs typeface="Times New Roman" panose="02020603050405020304" pitchFamily="18" charset="0"/>
              </a:rPr>
              <a:t>Odd Parity Example</a:t>
            </a:r>
          </a:p>
        </p:txBody>
      </p:sp>
      <p:sp>
        <p:nvSpPr>
          <p:cNvPr id="5" name="TextBox 4">
            <a:extLst>
              <a:ext uri="{FF2B5EF4-FFF2-40B4-BE49-F238E27FC236}">
                <a16:creationId xmlns:a16="http://schemas.microsoft.com/office/drawing/2014/main" id="{BF28D914-DCE4-31A7-F247-4042028E66FC}"/>
              </a:ext>
            </a:extLst>
          </p:cNvPr>
          <p:cNvSpPr txBox="1"/>
          <p:nvPr/>
        </p:nvSpPr>
        <p:spPr>
          <a:xfrm>
            <a:off x="641685" y="1120685"/>
            <a:ext cx="5346844" cy="5016758"/>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cs typeface="Times New Roman" panose="02020603050405020304" pitchFamily="18" charset="0"/>
              </a:rPr>
              <a:t>Let's try another example, that is perhaps a little more practical. Our assembler routine named </a:t>
            </a:r>
            <a:r>
              <a:rPr lang="en-US" sz="2000" b="0" i="0" u="none" strike="noStrike" baseline="0" dirty="0" err="1">
                <a:latin typeface="Times New Roman" panose="02020603050405020304" pitchFamily="18" charset="0"/>
                <a:cs typeface="Times New Roman" panose="02020603050405020304" pitchFamily="18" charset="0"/>
              </a:rPr>
              <a:t>odd_parity</a:t>
            </a:r>
            <a:r>
              <a:rPr lang="en-US" sz="2000" b="0" i="0" u="none" strike="noStrike" baseline="0" dirty="0">
                <a:latin typeface="Times New Roman" panose="02020603050405020304" pitchFamily="18" charset="0"/>
                <a:cs typeface="Times New Roman" panose="02020603050405020304" pitchFamily="18" charset="0"/>
              </a:rPr>
              <a:t>() will determine if there is an odd or even number of 1 bits. The return value will be 1 if the parity is odd, else it returns 0 </a:t>
            </a:r>
            <a:r>
              <a:rPr lang="en-IN" sz="2000" b="0" i="0" u="none" strike="noStrike" baseline="0" dirty="0">
                <a:latin typeface="Times New Roman" panose="02020603050405020304" pitchFamily="18" charset="0"/>
                <a:cs typeface="Times New Roman" panose="02020603050405020304" pitchFamily="18" charset="0"/>
              </a:rPr>
              <a:t>for even parity.</a:t>
            </a:r>
          </a:p>
          <a:p>
            <a:pPr algn="just"/>
            <a:endParaRPr lang="en-IN" sz="2000" b="0" i="0" u="none" strike="noStrike" baseline="0" dirty="0">
              <a:latin typeface="Times New Roman" panose="02020603050405020304" pitchFamily="18" charset="0"/>
              <a:cs typeface="Times New Roman" panose="02020603050405020304" pitchFamily="18" charset="0"/>
            </a:endParaRPr>
          </a:p>
          <a:p>
            <a:pPr algn="just"/>
            <a:r>
              <a:rPr lang="en-IN" sz="2000" b="0" i="0" u="none" strike="noStrike" baseline="0" dirty="0">
                <a:latin typeface="Times New Roman" panose="02020603050405020304" pitchFamily="18" charset="0"/>
                <a:cs typeface="Times New Roman" panose="02020603050405020304" pitchFamily="18" charset="0"/>
              </a:rPr>
              <a:t>The </a:t>
            </a:r>
            <a:r>
              <a:rPr lang="en-IN" sz="2000" b="0" i="0" u="none" strike="noStrike" baseline="0" dirty="0" err="1">
                <a:latin typeface="Times New Roman" panose="02020603050405020304" pitchFamily="18" charset="0"/>
                <a:cs typeface="Times New Roman" panose="02020603050405020304" pitchFamily="18" charset="0"/>
              </a:rPr>
              <a:t>odd_parity</a:t>
            </a:r>
            <a:r>
              <a:rPr lang="en-IN" sz="2000" b="0" i="0" u="none" strike="noStrike" baseline="0" dirty="0">
                <a:latin typeface="Times New Roman" panose="02020603050405020304" pitchFamily="18" charset="0"/>
                <a:cs typeface="Times New Roman" panose="02020603050405020304" pitchFamily="18" charset="0"/>
              </a:rPr>
              <a:t>() function,</a:t>
            </a:r>
          </a:p>
          <a:p>
            <a:pPr algn="just"/>
            <a:r>
              <a:rPr lang="en-US" sz="2000" b="0"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err="1">
                <a:latin typeface="Times New Roman" panose="02020603050405020304" pitchFamily="18" charset="0"/>
                <a:cs typeface="Times New Roman" panose="02020603050405020304" pitchFamily="18" charset="0"/>
              </a:rPr>
              <a:t>riscv</a:t>
            </a:r>
            <a:r>
              <a:rPr lang="en-US" sz="2000" b="0" i="0" u="none" strike="noStrike" baseline="0" dirty="0">
                <a:latin typeface="Times New Roman" panose="02020603050405020304" pitchFamily="18" charset="0"/>
                <a:cs typeface="Times New Roman" panose="02020603050405020304" pitchFamily="18" charset="0"/>
              </a:rPr>
              <a:t>/repo/08/parity/main/</a:t>
            </a:r>
            <a:r>
              <a:rPr lang="en-US" sz="2000" b="0" i="0" u="none" strike="noStrike" baseline="0" dirty="0" err="1">
                <a:latin typeface="Times New Roman" panose="02020603050405020304" pitchFamily="18" charset="0"/>
                <a:cs typeface="Times New Roman" panose="02020603050405020304" pitchFamily="18" charset="0"/>
              </a:rPr>
              <a:t>parity.S</a:t>
            </a:r>
            <a:endParaRPr lang="en-US" sz="2000" b="0" i="0" u="none" strike="noStrike" baseline="0" dirty="0">
              <a:latin typeface="Times New Roman" panose="02020603050405020304" pitchFamily="18" charset="0"/>
              <a:cs typeface="Times New Roman" panose="02020603050405020304" pitchFamily="18" charset="0"/>
            </a:endParaRPr>
          </a:p>
          <a:p>
            <a:pPr algn="just"/>
            <a:endParaRPr lang="en-IN" sz="2000" b="0" i="0" u="none" strike="noStrike" baseline="0" dirty="0">
              <a:latin typeface="Times New Roman" panose="02020603050405020304" pitchFamily="18" charset="0"/>
              <a:cs typeface="Times New Roman" panose="02020603050405020304" pitchFamily="18" charset="0"/>
            </a:endParaRPr>
          </a:p>
          <a:p>
            <a:pPr algn="just"/>
            <a:r>
              <a:rPr lang="en-IN" sz="2000" b="0" i="0" u="none" strike="noStrike" baseline="0" dirty="0">
                <a:latin typeface="Times New Roman" panose="02020603050405020304" pitchFamily="18" charset="0"/>
                <a:cs typeface="Times New Roman" panose="02020603050405020304" pitchFamily="18" charset="0"/>
              </a:rPr>
              <a:t>The main test program,</a:t>
            </a:r>
          </a:p>
          <a:p>
            <a:pPr algn="just"/>
            <a:r>
              <a:rPr lang="en-US" sz="2000" b="0"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err="1">
                <a:latin typeface="Times New Roman" panose="02020603050405020304" pitchFamily="18" charset="0"/>
                <a:cs typeface="Times New Roman" panose="02020603050405020304" pitchFamily="18" charset="0"/>
              </a:rPr>
              <a:t>riscv</a:t>
            </a:r>
            <a:r>
              <a:rPr lang="en-US" sz="2000" b="0" i="0" u="none" strike="noStrike" baseline="0" dirty="0">
                <a:latin typeface="Times New Roman" panose="02020603050405020304" pitchFamily="18" charset="0"/>
                <a:cs typeface="Times New Roman" panose="02020603050405020304" pitchFamily="18" charset="0"/>
              </a:rPr>
              <a:t>/repo/08/parity/main/</a:t>
            </a:r>
            <a:r>
              <a:rPr lang="en-US" sz="2000" b="0" i="0" u="none" strike="noStrike" baseline="0" dirty="0" err="1">
                <a:latin typeface="Times New Roman" panose="02020603050405020304" pitchFamily="18" charset="0"/>
                <a:cs typeface="Times New Roman" panose="02020603050405020304" pitchFamily="18" charset="0"/>
              </a:rPr>
              <a:t>main.c</a:t>
            </a:r>
            <a:r>
              <a:rPr lang="en-US" sz="2000" b="0" i="0" u="none" strike="noStrike" baseline="0" dirty="0">
                <a:latin typeface="Times New Roman" panose="02020603050405020304" pitchFamily="18" charset="0"/>
                <a:cs typeface="Times New Roman" panose="02020603050405020304" pitchFamily="18" charset="0"/>
              </a:rPr>
              <a:t>.</a:t>
            </a:r>
          </a:p>
          <a:p>
            <a:pPr algn="just"/>
            <a:endParaRPr lang="en-US" sz="2000" b="0" i="0" u="none" strike="noStrike" baseline="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Build, flash and monitor this ESP32-C3 project as </a:t>
            </a:r>
            <a:r>
              <a:rPr lang="en-IN" sz="2000" b="0" i="0" u="none" strike="noStrike" baseline="0" dirty="0">
                <a:latin typeface="Times New Roman" panose="02020603050405020304" pitchFamily="18" charset="0"/>
                <a:cs typeface="Times New Roman" panose="02020603050405020304" pitchFamily="18" charset="0"/>
              </a:rPr>
              <a:t>follows:</a:t>
            </a:r>
          </a:p>
          <a:p>
            <a:pPr algn="just"/>
            <a:r>
              <a:rPr lang="it-IT" sz="2000" b="0" i="0" u="none" strike="noStrike" baseline="0" dirty="0">
                <a:latin typeface="Times New Roman" panose="02020603050405020304" pitchFamily="18" charset="0"/>
                <a:cs typeface="Times New Roman" panose="02020603050405020304" pitchFamily="18" charset="0"/>
              </a:rPr>
              <a:t>$ cd ~/riscv/repo/08/parity</a:t>
            </a:r>
          </a:p>
          <a:p>
            <a:pPr algn="just"/>
            <a:r>
              <a:rPr lang="en-IN" sz="2000" b="0" i="0" u="none" strike="noStrike" baseline="0" dirty="0">
                <a:latin typeface="Times New Roman" panose="02020603050405020304" pitchFamily="18" charset="0"/>
                <a:cs typeface="Times New Roman" panose="02020603050405020304" pitchFamily="18" charset="0"/>
              </a:rPr>
              <a:t>$ idf.py build</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84EC67F-FA88-E063-5DE8-E9BE1B455BB0}"/>
              </a:ext>
            </a:extLst>
          </p:cNvPr>
          <p:cNvPicPr>
            <a:picLocks noChangeAspect="1"/>
          </p:cNvPicPr>
          <p:nvPr/>
        </p:nvPicPr>
        <p:blipFill>
          <a:blip r:embed="rId2"/>
          <a:stretch>
            <a:fillRect/>
          </a:stretch>
        </p:blipFill>
        <p:spPr>
          <a:xfrm>
            <a:off x="6203471" y="240632"/>
            <a:ext cx="5346844" cy="4136392"/>
          </a:xfrm>
          <a:prstGeom prst="rect">
            <a:avLst/>
          </a:prstGeom>
        </p:spPr>
      </p:pic>
      <p:pic>
        <p:nvPicPr>
          <p:cNvPr id="9" name="Picture 8">
            <a:extLst>
              <a:ext uri="{FF2B5EF4-FFF2-40B4-BE49-F238E27FC236}">
                <a16:creationId xmlns:a16="http://schemas.microsoft.com/office/drawing/2014/main" id="{142F63B6-73D6-4C44-9D5B-B55E848E1BA6}"/>
              </a:ext>
            </a:extLst>
          </p:cNvPr>
          <p:cNvPicPr>
            <a:picLocks noChangeAspect="1"/>
          </p:cNvPicPr>
          <p:nvPr/>
        </p:nvPicPr>
        <p:blipFill>
          <a:blip r:embed="rId3"/>
          <a:stretch>
            <a:fillRect/>
          </a:stretch>
        </p:blipFill>
        <p:spPr>
          <a:xfrm>
            <a:off x="6203471" y="4377024"/>
            <a:ext cx="5346844" cy="2068196"/>
          </a:xfrm>
          <a:prstGeom prst="rect">
            <a:avLst/>
          </a:prstGeom>
        </p:spPr>
      </p:pic>
    </p:spTree>
    <p:extLst>
      <p:ext uri="{BB962C8B-B14F-4D97-AF65-F5344CB8AC3E}">
        <p14:creationId xmlns:p14="http://schemas.microsoft.com/office/powerpoint/2010/main" val="3865531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4092-51D0-89CB-E19E-C0B0D118CF90}"/>
              </a:ext>
            </a:extLst>
          </p:cNvPr>
          <p:cNvSpPr>
            <a:spLocks noGrp="1"/>
          </p:cNvSpPr>
          <p:nvPr>
            <p:ph type="title"/>
          </p:nvPr>
        </p:nvSpPr>
        <p:spPr>
          <a:xfrm>
            <a:off x="838200" y="365125"/>
            <a:ext cx="4279232" cy="918243"/>
          </a:xfrm>
        </p:spPr>
        <p:txBody>
          <a:bodyPr/>
          <a:lstStyle/>
          <a:p>
            <a:r>
              <a:rPr lang="en-IN" dirty="0">
                <a:latin typeface="Times New Roman" panose="02020603050405020304" pitchFamily="18" charset="0"/>
                <a:cs typeface="Times New Roman" panose="02020603050405020304" pitchFamily="18" charset="0"/>
              </a:rPr>
              <a:t>RV64I Odd Parity</a:t>
            </a:r>
          </a:p>
        </p:txBody>
      </p:sp>
      <p:sp>
        <p:nvSpPr>
          <p:cNvPr id="5" name="TextBox 4">
            <a:extLst>
              <a:ext uri="{FF2B5EF4-FFF2-40B4-BE49-F238E27FC236}">
                <a16:creationId xmlns:a16="http://schemas.microsoft.com/office/drawing/2014/main" id="{20310778-0F10-F1E8-D543-AF458073488C}"/>
              </a:ext>
            </a:extLst>
          </p:cNvPr>
          <p:cNvSpPr txBox="1"/>
          <p:nvPr/>
        </p:nvSpPr>
        <p:spPr>
          <a:xfrm>
            <a:off x="838200" y="1288269"/>
            <a:ext cx="3818467" cy="4247317"/>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L</a:t>
            </a:r>
            <a:r>
              <a:rPr lang="en-US" sz="1800" b="0" i="0" u="none" strike="noStrike" baseline="0" dirty="0">
                <a:latin typeface="Times New Roman" panose="02020603050405020304" pitchFamily="18" charset="0"/>
                <a:cs typeface="Times New Roman" panose="02020603050405020304" pitchFamily="18" charset="0"/>
              </a:rPr>
              <a:t>et's do a 64-bit version of the </a:t>
            </a:r>
            <a:r>
              <a:rPr lang="en-US" sz="1800" b="0" i="0" u="none" strike="noStrike" baseline="0" dirty="0" err="1">
                <a:latin typeface="Times New Roman" panose="02020603050405020304" pitchFamily="18" charset="0"/>
                <a:cs typeface="Times New Roman" panose="02020603050405020304" pitchFamily="18" charset="0"/>
              </a:rPr>
              <a:t>odd_parity</a:t>
            </a:r>
            <a:r>
              <a:rPr lang="en-US" sz="1800" b="0" i="0" u="none" strike="noStrike" baseline="0" dirty="0">
                <a:latin typeface="Times New Roman" panose="02020603050405020304" pitchFamily="18" charset="0"/>
                <a:cs typeface="Times New Roman" panose="02020603050405020304" pitchFamily="18" charset="0"/>
              </a:rPr>
              <a:t>() function.</a:t>
            </a:r>
          </a:p>
          <a:p>
            <a:pPr algn="just"/>
            <a:r>
              <a:rPr lang="en-US" sz="1800" b="0" i="0" u="none" strike="noStrike" baseline="0" dirty="0">
                <a:latin typeface="Times New Roman" panose="02020603050405020304" pitchFamily="18" charset="0"/>
                <a:cs typeface="Times New Roman" panose="02020603050405020304" pitchFamily="18" charset="0"/>
              </a:rPr>
              <a:t>Listing 8.7 lists the main program that drives this test. In this example, notice that </a:t>
            </a:r>
            <a:r>
              <a:rPr lang="en-US" sz="1800" b="0" i="0" u="none" strike="noStrike" baseline="0" dirty="0" err="1">
                <a:latin typeface="Times New Roman" panose="02020603050405020304" pitchFamily="18" charset="0"/>
                <a:cs typeface="Times New Roman" panose="02020603050405020304" pitchFamily="18" charset="0"/>
              </a:rPr>
              <a:t>odd_parity</a:t>
            </a:r>
            <a:r>
              <a:rPr lang="en-US" sz="1800" b="0" i="0" u="none" strike="noStrike" baseline="0" dirty="0">
                <a:latin typeface="Times New Roman" panose="02020603050405020304" pitchFamily="18" charset="0"/>
                <a:cs typeface="Times New Roman" panose="02020603050405020304" pitchFamily="18" charset="0"/>
              </a:rPr>
              <a:t>() now accepts a 64-bit integer argument for parity tests.</a:t>
            </a:r>
          </a:p>
          <a:p>
            <a:pPr algn="just"/>
            <a:endParaRPr lang="en-IN" sz="1800" b="0" i="0" u="none" strike="noStrike" baseline="0" dirty="0">
              <a:latin typeface="Times New Roman" panose="02020603050405020304" pitchFamily="18" charset="0"/>
              <a:cs typeface="Times New Roman" panose="02020603050405020304" pitchFamily="18" charset="0"/>
            </a:endParaRPr>
          </a:p>
          <a:p>
            <a:pPr algn="just"/>
            <a:r>
              <a:rPr lang="en-IN" sz="1800" b="0" i="0" u="none" strike="noStrike" baseline="0" dirty="0">
                <a:latin typeface="Times New Roman" panose="02020603050405020304" pitchFamily="18" charset="0"/>
                <a:cs typeface="Times New Roman" panose="02020603050405020304" pitchFamily="18" charset="0"/>
              </a:rPr>
              <a:t>Main program listing,</a:t>
            </a:r>
          </a:p>
          <a:p>
            <a:pPr algn="just"/>
            <a:r>
              <a:rPr lang="en-IN" sz="1800" b="0" i="0" u="none" strike="noStrike" baseline="0" dirty="0">
                <a:latin typeface="Times New Roman" panose="02020603050405020304" pitchFamily="18" charset="0"/>
                <a:cs typeface="Times New Roman" panose="02020603050405020304" pitchFamily="18" charset="0"/>
              </a:rPr>
              <a:t>~/</a:t>
            </a:r>
            <a:r>
              <a:rPr lang="en-IN" sz="1800" b="0" i="0" u="none" strike="noStrike" baseline="0" dirty="0" err="1">
                <a:latin typeface="Times New Roman" panose="02020603050405020304" pitchFamily="18" charset="0"/>
                <a:cs typeface="Times New Roman" panose="02020603050405020304" pitchFamily="18" charset="0"/>
              </a:rPr>
              <a:t>riscv</a:t>
            </a:r>
            <a:r>
              <a:rPr lang="en-IN" sz="1800" b="0" i="0" u="none" strike="noStrike" baseline="0" dirty="0">
                <a:latin typeface="Times New Roman" panose="02020603050405020304" pitchFamily="18" charset="0"/>
                <a:cs typeface="Times New Roman" panose="02020603050405020304" pitchFamily="18" charset="0"/>
              </a:rPr>
              <a:t>/repo/08/parity/qemu64/</a:t>
            </a:r>
            <a:r>
              <a:rPr lang="en-IN" sz="1800" b="0" i="0" u="none" strike="noStrike" baseline="0" dirty="0" err="1">
                <a:latin typeface="Times New Roman" panose="02020603050405020304" pitchFamily="18" charset="0"/>
                <a:cs typeface="Times New Roman" panose="02020603050405020304" pitchFamily="18" charset="0"/>
              </a:rPr>
              <a:t>main.c</a:t>
            </a:r>
            <a:r>
              <a:rPr lang="en-IN" sz="1800" b="0" i="0" u="none" strike="noStrike" baseline="0" dirty="0">
                <a:latin typeface="Times New Roman" panose="02020603050405020304" pitchFamily="18" charset="0"/>
                <a:cs typeface="Times New Roman" panose="02020603050405020304" pitchFamily="18" charset="0"/>
              </a:rPr>
              <a:t>.</a:t>
            </a:r>
          </a:p>
          <a:p>
            <a:pPr algn="just"/>
            <a:endParaRPr lang="en-US" sz="1800" b="0"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Build and execute the program as follows in </a:t>
            </a:r>
            <a:r>
              <a:rPr lang="en-US" sz="1800" b="0" i="0" u="none" strike="noStrike" baseline="0" dirty="0" err="1">
                <a:latin typeface="Times New Roman" panose="02020603050405020304" pitchFamily="18" charset="0"/>
                <a:cs typeface="Times New Roman" panose="02020603050405020304" pitchFamily="18" charset="0"/>
              </a:rPr>
              <a:t>qemu</a:t>
            </a:r>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err="1">
                <a:latin typeface="Times New Roman" panose="02020603050405020304" pitchFamily="18" charset="0"/>
                <a:cs typeface="Times New Roman" panose="02020603050405020304" pitchFamily="18" charset="0"/>
              </a:rPr>
              <a:t>riscv</a:t>
            </a:r>
            <a:r>
              <a:rPr lang="en-US" dirty="0">
                <a:latin typeface="Times New Roman" panose="02020603050405020304" pitchFamily="18" charset="0"/>
                <a:cs typeface="Times New Roman" panose="02020603050405020304" pitchFamily="18" charset="0"/>
              </a:rPr>
              <a:t> </a:t>
            </a:r>
            <a:r>
              <a:rPr lang="en-IN" sz="1800" b="0" i="0" u="none" strike="noStrike" baseline="0" dirty="0">
                <a:latin typeface="Times New Roman" panose="02020603050405020304" pitchFamily="18" charset="0"/>
                <a:cs typeface="Times New Roman" panose="02020603050405020304" pitchFamily="18" charset="0"/>
              </a:rPr>
              <a:t>fedora</a:t>
            </a:r>
          </a:p>
          <a:p>
            <a:pPr algn="just"/>
            <a:r>
              <a:rPr lang="it-IT" sz="1800" b="0" i="0" u="none" strike="noStrike" baseline="0" dirty="0">
                <a:latin typeface="Times New Roman" panose="02020603050405020304" pitchFamily="18" charset="0"/>
                <a:cs typeface="Times New Roman" panose="02020603050405020304" pitchFamily="18" charset="0"/>
              </a:rPr>
              <a:t>$ cd ~/riscv/repo/08/parity/qemu64</a:t>
            </a:r>
          </a:p>
          <a:p>
            <a:pPr algn="just"/>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err="1">
                <a:latin typeface="Times New Roman" panose="02020603050405020304" pitchFamily="18" charset="0"/>
                <a:cs typeface="Times New Roman" panose="02020603050405020304" pitchFamily="18" charset="0"/>
              </a:rPr>
              <a:t>gcc</a:t>
            </a:r>
            <a:r>
              <a:rPr lang="en-US" sz="1800" b="0" i="0" u="none" strike="noStrike" baseline="0" dirty="0">
                <a:latin typeface="Times New Roman" panose="02020603050405020304" pitchFamily="18" charset="0"/>
                <a:cs typeface="Times New Roman" panose="02020603050405020304" pitchFamily="18" charset="0"/>
              </a:rPr>
              <a:t> -g </a:t>
            </a:r>
            <a:r>
              <a:rPr lang="en-US" sz="1800" b="0" i="0" u="none" strike="noStrike" baseline="0" dirty="0" err="1">
                <a:latin typeface="Times New Roman" panose="02020603050405020304" pitchFamily="18" charset="0"/>
                <a:cs typeface="Times New Roman" panose="02020603050405020304" pitchFamily="18" charset="0"/>
              </a:rPr>
              <a:t>parity.S</a:t>
            </a:r>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err="1">
                <a:latin typeface="Times New Roman" panose="02020603050405020304" pitchFamily="18" charset="0"/>
                <a:cs typeface="Times New Roman" panose="02020603050405020304" pitchFamily="18" charset="0"/>
              </a:rPr>
              <a:t>main.c</a:t>
            </a:r>
            <a:endParaRPr lang="en-US" sz="1800" b="0" i="0" u="none" strike="noStrike" baseline="0" dirty="0">
              <a:latin typeface="Times New Roman" panose="02020603050405020304" pitchFamily="18" charset="0"/>
              <a:cs typeface="Times New Roman" panose="02020603050405020304" pitchFamily="18" charset="0"/>
            </a:endParaRPr>
          </a:p>
          <a:p>
            <a:pPr algn="just"/>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a.out</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C4E905F-8DC4-1F78-CEA9-0F3CD291D090}"/>
              </a:ext>
            </a:extLst>
          </p:cNvPr>
          <p:cNvPicPr>
            <a:picLocks noChangeAspect="1"/>
          </p:cNvPicPr>
          <p:nvPr/>
        </p:nvPicPr>
        <p:blipFill>
          <a:blip r:embed="rId2"/>
          <a:srcRect r="22348"/>
          <a:stretch>
            <a:fillRect/>
          </a:stretch>
        </p:blipFill>
        <p:spPr>
          <a:xfrm>
            <a:off x="5117432" y="533400"/>
            <a:ext cx="6999752" cy="5791200"/>
          </a:xfrm>
          <a:prstGeom prst="rect">
            <a:avLst/>
          </a:prstGeom>
        </p:spPr>
      </p:pic>
    </p:spTree>
    <p:extLst>
      <p:ext uri="{BB962C8B-B14F-4D97-AF65-F5344CB8AC3E}">
        <p14:creationId xmlns:p14="http://schemas.microsoft.com/office/powerpoint/2010/main" val="849390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79AD7-3467-D4AF-9E59-59F92D463D1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Position Independent Code</a:t>
            </a:r>
          </a:p>
        </p:txBody>
      </p:sp>
      <p:sp>
        <p:nvSpPr>
          <p:cNvPr id="3" name="Content Placeholder 2">
            <a:extLst>
              <a:ext uri="{FF2B5EF4-FFF2-40B4-BE49-F238E27FC236}">
                <a16:creationId xmlns:a16="http://schemas.microsoft.com/office/drawing/2014/main" id="{531AFC48-34D5-C7D1-9234-2B6F3AE9B01F}"/>
              </a:ext>
            </a:extLst>
          </p:cNvPr>
          <p:cNvSpPr>
            <a:spLocks noGrp="1"/>
          </p:cNvSpPr>
          <p:nvPr>
            <p:ph idx="1"/>
          </p:nvPr>
        </p:nvSpPr>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Normally we write code to execute at one fixed address. But what happens if the code needs to be copied to a different address and executed there? Traditionally, this requires fixing up addresses of referenced routines that didn't move. Under Fedora Linux, for example, shared libraries need to be able to run in the shared memory segments, which are dynamically allocated. This creates </a:t>
            </a:r>
            <a:r>
              <a:rPr lang="en-IN" dirty="0">
                <a:latin typeface="Times New Roman" panose="02020603050405020304" pitchFamily="18" charset="0"/>
                <a:cs typeface="Times New Roman" panose="02020603050405020304" pitchFamily="18" charset="0"/>
              </a:rPr>
              <a:t>two problems:</a:t>
            </a:r>
          </a:p>
          <a:p>
            <a:pPr marL="0" indent="0" algn="just">
              <a:buNone/>
            </a:pPr>
            <a:r>
              <a:rPr lang="en-US" dirty="0">
                <a:latin typeface="Times New Roman" panose="02020603050405020304" pitchFamily="18" charset="0"/>
                <a:cs typeface="Times New Roman" panose="02020603050405020304" pitchFamily="18" charset="0"/>
              </a:rPr>
              <a:t>1. Labels of instructions that move with the code, need to be relative to the pc. In this way, moving the code does not upset branch references because they remain relative </a:t>
            </a:r>
            <a:r>
              <a:rPr lang="en-IN" dirty="0">
                <a:latin typeface="Times New Roman" panose="02020603050405020304" pitchFamily="18" charset="0"/>
                <a:cs typeface="Times New Roman" panose="02020603050405020304" pitchFamily="18" charset="0"/>
              </a:rPr>
              <a:t>to the current address.</a:t>
            </a:r>
          </a:p>
          <a:p>
            <a:pPr marL="0" indent="0" algn="just">
              <a:buNone/>
            </a:pPr>
            <a:r>
              <a:rPr lang="en-US" dirty="0">
                <a:latin typeface="Times New Roman" panose="02020603050405020304" pitchFamily="18" charset="0"/>
                <a:cs typeface="Times New Roman" panose="02020603050405020304" pitchFamily="18" charset="0"/>
              </a:rPr>
              <a:t>2. Fixed labels of routines or global data that do not move, require some special treatment in order to remain </a:t>
            </a:r>
            <a:r>
              <a:rPr lang="en-IN" dirty="0">
                <a:latin typeface="Times New Roman" panose="02020603050405020304" pitchFamily="18" charset="0"/>
                <a:cs typeface="Times New Roman" panose="02020603050405020304" pitchFamily="18" charset="0"/>
              </a:rPr>
              <a:t>valid after the move.</a:t>
            </a:r>
          </a:p>
        </p:txBody>
      </p:sp>
    </p:spTree>
    <p:extLst>
      <p:ext uri="{BB962C8B-B14F-4D97-AF65-F5344CB8AC3E}">
        <p14:creationId xmlns:p14="http://schemas.microsoft.com/office/powerpoint/2010/main" val="3171262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2BCB-639E-EFC2-3C6C-4D4DFF5A9C57}"/>
              </a:ext>
            </a:extLst>
          </p:cNvPr>
          <p:cNvSpPr>
            <a:spLocks noGrp="1"/>
          </p:cNvSpPr>
          <p:nvPr>
            <p:ph type="title"/>
          </p:nvPr>
        </p:nvSpPr>
        <p:spPr>
          <a:xfrm>
            <a:off x="4590047" y="2865604"/>
            <a:ext cx="3011905" cy="1126791"/>
          </a:xfrm>
        </p:spPr>
        <p:txBody>
          <a:bodyPr/>
          <a:lstStyle/>
          <a:p>
            <a:r>
              <a:rPr lang="en-US" dirty="0">
                <a:latin typeface="Times New Roman" panose="02020603050405020304" pitchFamily="18" charset="0"/>
                <a:cs typeface="Times New Roman" panose="02020603050405020304" pitchFamily="18" charset="0"/>
              </a:rPr>
              <a:t>Thank You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2630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1111</Words>
  <Application>Microsoft Office PowerPoint</Application>
  <PresentationFormat>Widescreen</PresentationFormat>
  <Paragraphs>69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Times New Roman</vt:lpstr>
      <vt:lpstr>Office Theme</vt:lpstr>
      <vt:lpstr>PowerPoint Presentation</vt:lpstr>
      <vt:lpstr>Branching Instructions</vt:lpstr>
      <vt:lpstr>Unconditional Transfers</vt:lpstr>
      <vt:lpstr>PowerPoint Presentation</vt:lpstr>
      <vt:lpstr>ESP32-C3 Project</vt:lpstr>
      <vt:lpstr>PowerPoint Presentation</vt:lpstr>
      <vt:lpstr>PowerPoint Presentation</vt:lpstr>
      <vt:lpstr>Odd Parity Example</vt:lpstr>
      <vt:lpstr>RV64I Odd Parity</vt:lpstr>
      <vt:lpstr>Position Independent Code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雷迪</dc:creator>
  <cp:lastModifiedBy>雷迪</cp:lastModifiedBy>
  <cp:revision>2</cp:revision>
  <dcterms:created xsi:type="dcterms:W3CDTF">2025-08-01T07:48:13Z</dcterms:created>
  <dcterms:modified xsi:type="dcterms:W3CDTF">2025-08-01T08:14:33Z</dcterms:modified>
</cp:coreProperties>
</file>