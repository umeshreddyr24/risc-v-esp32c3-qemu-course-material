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921" autoAdjust="0"/>
  </p:normalViewPr>
  <p:slideViewPr>
    <p:cSldViewPr snapToGrid="0">
      <p:cViewPr varScale="1">
        <p:scale>
          <a:sx n="86" d="100"/>
          <a:sy n="86" d="100"/>
        </p:scale>
        <p:origin x="533"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14F9EE-23B9-4F8F-85DE-FE48FDE79DCD}" type="datetimeFigureOut">
              <a:rPr lang="en-IN" smtClean="0"/>
              <a:t>01-08-2025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CB2885-5966-464B-9350-F2ADC406806C}" type="slidenum">
              <a:rPr lang="en-IN" smtClean="0"/>
              <a:t>‹#›</a:t>
            </a:fld>
            <a:endParaRPr lang="en-IN"/>
          </a:p>
        </p:txBody>
      </p:sp>
    </p:spTree>
    <p:extLst>
      <p:ext uri="{BB962C8B-B14F-4D97-AF65-F5344CB8AC3E}">
        <p14:creationId xmlns:p14="http://schemas.microsoft.com/office/powerpoint/2010/main" val="1999504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At the end of the test run, the returned value is indeed</a:t>
            </a:r>
          </a:p>
          <a:p>
            <a:r>
              <a:rPr lang="en-US" sz="1200" b="0" i="0" u="none" strike="noStrike" kern="1200" baseline="0" dirty="0">
                <a:solidFill>
                  <a:schemeClr val="tx1"/>
                </a:solidFill>
                <a:latin typeface="+mn-lt"/>
                <a:ea typeface="+mn-ea"/>
                <a:cs typeface="+mn-cs"/>
              </a:rPr>
              <a:t>0xBEEF, which is the value that it started with. Success!</a:t>
            </a:r>
            <a:endParaRPr lang="en-IN" dirty="0"/>
          </a:p>
        </p:txBody>
      </p:sp>
      <p:sp>
        <p:nvSpPr>
          <p:cNvPr id="4" name="Slide Number Placeholder 3"/>
          <p:cNvSpPr>
            <a:spLocks noGrp="1"/>
          </p:cNvSpPr>
          <p:nvPr>
            <p:ph type="sldNum" sz="quarter" idx="5"/>
          </p:nvPr>
        </p:nvSpPr>
        <p:spPr/>
        <p:txBody>
          <a:bodyPr/>
          <a:lstStyle/>
          <a:p>
            <a:fld id="{AACB2885-5966-464B-9350-F2ADC406806C}" type="slidenum">
              <a:rPr lang="en-IN" smtClean="0"/>
              <a:t>4</a:t>
            </a:fld>
            <a:endParaRPr lang="en-IN"/>
          </a:p>
        </p:txBody>
      </p:sp>
    </p:spTree>
    <p:extLst>
      <p:ext uri="{BB962C8B-B14F-4D97-AF65-F5344CB8AC3E}">
        <p14:creationId xmlns:p14="http://schemas.microsoft.com/office/powerpoint/2010/main" val="36793296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exercise, create a RV64 version of the same to be run</a:t>
            </a:r>
          </a:p>
          <a:p>
            <a:r>
              <a:rPr lang="en-US" sz="1200" b="0" i="0" u="none" strike="noStrike" kern="1200" baseline="0" dirty="0">
                <a:solidFill>
                  <a:schemeClr val="tx1"/>
                </a:solidFill>
                <a:latin typeface="+mn-lt"/>
                <a:ea typeface="+mn-ea"/>
                <a:cs typeface="+mn-cs"/>
              </a:rPr>
              <a:t>under QEMU. There is one minor change needed for</a:t>
            </a:r>
          </a:p>
          <a:p>
            <a:r>
              <a:rPr lang="en-US" sz="1200" b="0" i="0" u="none" strike="noStrike" kern="1200" baseline="0" dirty="0" err="1">
                <a:solidFill>
                  <a:schemeClr val="tx1"/>
                </a:solidFill>
                <a:latin typeface="+mn-lt"/>
                <a:ea typeface="+mn-ea"/>
                <a:cs typeface="+mn-cs"/>
              </a:rPr>
              <a:t>ror.S</a:t>
            </a:r>
            <a:r>
              <a:rPr lang="en-US" sz="1200" b="0" i="0" u="none" strike="noStrike" kern="1200" baseline="0" dirty="0">
                <a:solidFill>
                  <a:schemeClr val="tx1"/>
                </a:solidFill>
                <a:latin typeface="+mn-lt"/>
                <a:ea typeface="+mn-ea"/>
                <a:cs typeface="+mn-cs"/>
              </a:rPr>
              <a:t> ?</a:t>
            </a:r>
            <a:endParaRPr lang="en-IN" dirty="0"/>
          </a:p>
        </p:txBody>
      </p:sp>
      <p:sp>
        <p:nvSpPr>
          <p:cNvPr id="4" name="Slide Number Placeholder 3"/>
          <p:cNvSpPr>
            <a:spLocks noGrp="1"/>
          </p:cNvSpPr>
          <p:nvPr>
            <p:ph type="sldNum" sz="quarter" idx="5"/>
          </p:nvPr>
        </p:nvSpPr>
        <p:spPr/>
        <p:txBody>
          <a:bodyPr/>
          <a:lstStyle/>
          <a:p>
            <a:fld id="{AACB2885-5966-464B-9350-F2ADC406806C}" type="slidenum">
              <a:rPr lang="en-IN" smtClean="0"/>
              <a:t>6</a:t>
            </a:fld>
            <a:endParaRPr lang="en-IN"/>
          </a:p>
        </p:txBody>
      </p:sp>
    </p:spTree>
    <p:extLst>
      <p:ext uri="{BB962C8B-B14F-4D97-AF65-F5344CB8AC3E}">
        <p14:creationId xmlns:p14="http://schemas.microsoft.com/office/powerpoint/2010/main" val="37181343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67B0C-FAAA-C2A2-3148-AF885510DE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052CE37-0488-1159-B17C-97EB8EBE2D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870D1E4-73ED-41C8-5DC0-30750EFF1F19}"/>
              </a:ext>
            </a:extLst>
          </p:cNvPr>
          <p:cNvSpPr>
            <a:spLocks noGrp="1"/>
          </p:cNvSpPr>
          <p:nvPr>
            <p:ph type="dt" sz="half" idx="10"/>
          </p:nvPr>
        </p:nvSpPr>
        <p:spPr/>
        <p:txBody>
          <a:bodyPr/>
          <a:lstStyle/>
          <a:p>
            <a:fld id="{CAC11EBA-01C5-4D91-AECC-11CE2A69637F}" type="datetimeFigureOut">
              <a:rPr lang="en-IN" smtClean="0"/>
              <a:t>01-08-2025</a:t>
            </a:fld>
            <a:endParaRPr lang="en-IN"/>
          </a:p>
        </p:txBody>
      </p:sp>
      <p:sp>
        <p:nvSpPr>
          <p:cNvPr id="5" name="Footer Placeholder 4">
            <a:extLst>
              <a:ext uri="{FF2B5EF4-FFF2-40B4-BE49-F238E27FC236}">
                <a16:creationId xmlns:a16="http://schemas.microsoft.com/office/drawing/2014/main" id="{7418AFE4-F93C-7B7E-5BDF-10E334AB49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16EF7F-439A-0D12-E588-5ED7315A688D}"/>
              </a:ext>
            </a:extLst>
          </p:cNvPr>
          <p:cNvSpPr>
            <a:spLocks noGrp="1"/>
          </p:cNvSpPr>
          <p:nvPr>
            <p:ph type="sldNum" sz="quarter" idx="12"/>
          </p:nvPr>
        </p:nvSpPr>
        <p:spPr/>
        <p:txBody>
          <a:bodyPr/>
          <a:lstStyle/>
          <a:p>
            <a:fld id="{524478B3-BDAC-4F7D-843F-914D14637282}" type="slidenum">
              <a:rPr lang="en-IN" smtClean="0"/>
              <a:t>‹#›</a:t>
            </a:fld>
            <a:endParaRPr lang="en-IN"/>
          </a:p>
        </p:txBody>
      </p:sp>
    </p:spTree>
    <p:extLst>
      <p:ext uri="{BB962C8B-B14F-4D97-AF65-F5344CB8AC3E}">
        <p14:creationId xmlns:p14="http://schemas.microsoft.com/office/powerpoint/2010/main" val="3722433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F8B35-EA27-6859-32AC-C314D649E5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3F47CE0-C901-491B-6BE8-48F4D0A3F8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43BC80-6BEB-6D89-A5A3-81AF1AB18ED1}"/>
              </a:ext>
            </a:extLst>
          </p:cNvPr>
          <p:cNvSpPr>
            <a:spLocks noGrp="1"/>
          </p:cNvSpPr>
          <p:nvPr>
            <p:ph type="dt" sz="half" idx="10"/>
          </p:nvPr>
        </p:nvSpPr>
        <p:spPr/>
        <p:txBody>
          <a:bodyPr/>
          <a:lstStyle/>
          <a:p>
            <a:fld id="{CAC11EBA-01C5-4D91-AECC-11CE2A69637F}" type="datetimeFigureOut">
              <a:rPr lang="en-IN" smtClean="0"/>
              <a:t>01-08-2025</a:t>
            </a:fld>
            <a:endParaRPr lang="en-IN"/>
          </a:p>
        </p:txBody>
      </p:sp>
      <p:sp>
        <p:nvSpPr>
          <p:cNvPr id="5" name="Footer Placeholder 4">
            <a:extLst>
              <a:ext uri="{FF2B5EF4-FFF2-40B4-BE49-F238E27FC236}">
                <a16:creationId xmlns:a16="http://schemas.microsoft.com/office/drawing/2014/main" id="{987F58E0-AA43-F123-DA0E-C58B64856B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1BBDF0-8BA4-791B-8B67-5788F57051C0}"/>
              </a:ext>
            </a:extLst>
          </p:cNvPr>
          <p:cNvSpPr>
            <a:spLocks noGrp="1"/>
          </p:cNvSpPr>
          <p:nvPr>
            <p:ph type="sldNum" sz="quarter" idx="12"/>
          </p:nvPr>
        </p:nvSpPr>
        <p:spPr/>
        <p:txBody>
          <a:bodyPr/>
          <a:lstStyle/>
          <a:p>
            <a:fld id="{524478B3-BDAC-4F7D-843F-914D14637282}" type="slidenum">
              <a:rPr lang="en-IN" smtClean="0"/>
              <a:t>‹#›</a:t>
            </a:fld>
            <a:endParaRPr lang="en-IN"/>
          </a:p>
        </p:txBody>
      </p:sp>
    </p:spTree>
    <p:extLst>
      <p:ext uri="{BB962C8B-B14F-4D97-AF65-F5344CB8AC3E}">
        <p14:creationId xmlns:p14="http://schemas.microsoft.com/office/powerpoint/2010/main" val="3092168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980B3-600F-12EB-A881-5C626EB23B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5C4DCA2-4554-4421-F5EE-1A12FEBF1C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DAE07A-295F-0D43-6C02-6D33548F3D02}"/>
              </a:ext>
            </a:extLst>
          </p:cNvPr>
          <p:cNvSpPr>
            <a:spLocks noGrp="1"/>
          </p:cNvSpPr>
          <p:nvPr>
            <p:ph type="dt" sz="half" idx="10"/>
          </p:nvPr>
        </p:nvSpPr>
        <p:spPr/>
        <p:txBody>
          <a:bodyPr/>
          <a:lstStyle/>
          <a:p>
            <a:fld id="{CAC11EBA-01C5-4D91-AECC-11CE2A69637F}" type="datetimeFigureOut">
              <a:rPr lang="en-IN" smtClean="0"/>
              <a:t>01-08-2025</a:t>
            </a:fld>
            <a:endParaRPr lang="en-IN"/>
          </a:p>
        </p:txBody>
      </p:sp>
      <p:sp>
        <p:nvSpPr>
          <p:cNvPr id="5" name="Footer Placeholder 4">
            <a:extLst>
              <a:ext uri="{FF2B5EF4-FFF2-40B4-BE49-F238E27FC236}">
                <a16:creationId xmlns:a16="http://schemas.microsoft.com/office/drawing/2014/main" id="{0163A21E-0EC8-6403-00E9-AFA6A0BAC6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6BA9EB-1BF4-B7AC-83E0-2F3BDE8FCCD5}"/>
              </a:ext>
            </a:extLst>
          </p:cNvPr>
          <p:cNvSpPr>
            <a:spLocks noGrp="1"/>
          </p:cNvSpPr>
          <p:nvPr>
            <p:ph type="sldNum" sz="quarter" idx="12"/>
          </p:nvPr>
        </p:nvSpPr>
        <p:spPr/>
        <p:txBody>
          <a:bodyPr/>
          <a:lstStyle/>
          <a:p>
            <a:fld id="{524478B3-BDAC-4F7D-843F-914D14637282}" type="slidenum">
              <a:rPr lang="en-IN" smtClean="0"/>
              <a:t>‹#›</a:t>
            </a:fld>
            <a:endParaRPr lang="en-IN"/>
          </a:p>
        </p:txBody>
      </p:sp>
    </p:spTree>
    <p:extLst>
      <p:ext uri="{BB962C8B-B14F-4D97-AF65-F5344CB8AC3E}">
        <p14:creationId xmlns:p14="http://schemas.microsoft.com/office/powerpoint/2010/main" val="1349182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4C93B-550F-1E9D-06D3-15BD7B4F2F4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A745B8B-36E9-4FD7-8FED-3CFCF0C96C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37DD095-444E-2B5B-971F-39ADF0583E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4A3889A-458A-5DC3-5760-0C00D76A42C9}"/>
              </a:ext>
            </a:extLst>
          </p:cNvPr>
          <p:cNvSpPr>
            <a:spLocks noGrp="1"/>
          </p:cNvSpPr>
          <p:nvPr>
            <p:ph type="dt" sz="half" idx="10"/>
          </p:nvPr>
        </p:nvSpPr>
        <p:spPr/>
        <p:txBody>
          <a:bodyPr/>
          <a:lstStyle/>
          <a:p>
            <a:fld id="{CAC11EBA-01C5-4D91-AECC-11CE2A69637F}" type="datetimeFigureOut">
              <a:rPr lang="en-IN" smtClean="0"/>
              <a:t>01-08-2025</a:t>
            </a:fld>
            <a:endParaRPr lang="en-IN"/>
          </a:p>
        </p:txBody>
      </p:sp>
      <p:sp>
        <p:nvSpPr>
          <p:cNvPr id="6" name="Footer Placeholder 5">
            <a:extLst>
              <a:ext uri="{FF2B5EF4-FFF2-40B4-BE49-F238E27FC236}">
                <a16:creationId xmlns:a16="http://schemas.microsoft.com/office/drawing/2014/main" id="{16BE278B-EF76-8A9D-3AC5-22F84BEE63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F09331-2775-CCBF-1490-047D252BF6C9}"/>
              </a:ext>
            </a:extLst>
          </p:cNvPr>
          <p:cNvSpPr>
            <a:spLocks noGrp="1"/>
          </p:cNvSpPr>
          <p:nvPr>
            <p:ph type="sldNum" sz="quarter" idx="12"/>
          </p:nvPr>
        </p:nvSpPr>
        <p:spPr/>
        <p:txBody>
          <a:bodyPr/>
          <a:lstStyle/>
          <a:p>
            <a:fld id="{524478B3-BDAC-4F7D-843F-914D14637282}" type="slidenum">
              <a:rPr lang="en-IN" smtClean="0"/>
              <a:t>‹#›</a:t>
            </a:fld>
            <a:endParaRPr lang="en-IN"/>
          </a:p>
        </p:txBody>
      </p:sp>
    </p:spTree>
    <p:extLst>
      <p:ext uri="{BB962C8B-B14F-4D97-AF65-F5344CB8AC3E}">
        <p14:creationId xmlns:p14="http://schemas.microsoft.com/office/powerpoint/2010/main" val="554709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1DBC1-132D-7931-3F39-D94BFE07176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B417334-84E1-2A50-94B2-6AE5AAFE25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F19DD8-9C7C-337D-A72A-CDBF704DA1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DAB60D0-01C4-945F-843D-E3AD1F0784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49803E-B20C-1761-945C-F88509FA00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32523A4-BE82-6A18-6B41-18C12DE08D65}"/>
              </a:ext>
            </a:extLst>
          </p:cNvPr>
          <p:cNvSpPr>
            <a:spLocks noGrp="1"/>
          </p:cNvSpPr>
          <p:nvPr>
            <p:ph type="dt" sz="half" idx="10"/>
          </p:nvPr>
        </p:nvSpPr>
        <p:spPr/>
        <p:txBody>
          <a:bodyPr/>
          <a:lstStyle/>
          <a:p>
            <a:fld id="{CAC11EBA-01C5-4D91-AECC-11CE2A69637F}" type="datetimeFigureOut">
              <a:rPr lang="en-IN" smtClean="0"/>
              <a:t>01-08-2025</a:t>
            </a:fld>
            <a:endParaRPr lang="en-IN"/>
          </a:p>
        </p:txBody>
      </p:sp>
      <p:sp>
        <p:nvSpPr>
          <p:cNvPr id="8" name="Footer Placeholder 7">
            <a:extLst>
              <a:ext uri="{FF2B5EF4-FFF2-40B4-BE49-F238E27FC236}">
                <a16:creationId xmlns:a16="http://schemas.microsoft.com/office/drawing/2014/main" id="{03DB443A-C4B6-D75C-0525-7AB864E059E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0DC0916-8BB4-302D-4BF9-D0D5B8021386}"/>
              </a:ext>
            </a:extLst>
          </p:cNvPr>
          <p:cNvSpPr>
            <a:spLocks noGrp="1"/>
          </p:cNvSpPr>
          <p:nvPr>
            <p:ph type="sldNum" sz="quarter" idx="12"/>
          </p:nvPr>
        </p:nvSpPr>
        <p:spPr/>
        <p:txBody>
          <a:bodyPr/>
          <a:lstStyle/>
          <a:p>
            <a:fld id="{524478B3-BDAC-4F7D-843F-914D14637282}" type="slidenum">
              <a:rPr lang="en-IN" smtClean="0"/>
              <a:t>‹#›</a:t>
            </a:fld>
            <a:endParaRPr lang="en-IN"/>
          </a:p>
        </p:txBody>
      </p:sp>
    </p:spTree>
    <p:extLst>
      <p:ext uri="{BB962C8B-B14F-4D97-AF65-F5344CB8AC3E}">
        <p14:creationId xmlns:p14="http://schemas.microsoft.com/office/powerpoint/2010/main" val="2390555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D1635-FD58-4FC7-53F8-16B1173FC1B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B17D94F-CBF4-17D8-2B68-02F641F3FCA1}"/>
              </a:ext>
            </a:extLst>
          </p:cNvPr>
          <p:cNvSpPr>
            <a:spLocks noGrp="1"/>
          </p:cNvSpPr>
          <p:nvPr>
            <p:ph type="dt" sz="half" idx="10"/>
          </p:nvPr>
        </p:nvSpPr>
        <p:spPr/>
        <p:txBody>
          <a:bodyPr/>
          <a:lstStyle/>
          <a:p>
            <a:fld id="{CAC11EBA-01C5-4D91-AECC-11CE2A69637F}" type="datetimeFigureOut">
              <a:rPr lang="en-IN" smtClean="0"/>
              <a:t>01-08-2025</a:t>
            </a:fld>
            <a:endParaRPr lang="en-IN"/>
          </a:p>
        </p:txBody>
      </p:sp>
      <p:sp>
        <p:nvSpPr>
          <p:cNvPr id="4" name="Footer Placeholder 3">
            <a:extLst>
              <a:ext uri="{FF2B5EF4-FFF2-40B4-BE49-F238E27FC236}">
                <a16:creationId xmlns:a16="http://schemas.microsoft.com/office/drawing/2014/main" id="{87AF7054-A7C1-6193-3664-7D8083380AF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D17A3A3-D76A-E40B-95E9-7E2298B774A5}"/>
              </a:ext>
            </a:extLst>
          </p:cNvPr>
          <p:cNvSpPr>
            <a:spLocks noGrp="1"/>
          </p:cNvSpPr>
          <p:nvPr>
            <p:ph type="sldNum" sz="quarter" idx="12"/>
          </p:nvPr>
        </p:nvSpPr>
        <p:spPr/>
        <p:txBody>
          <a:bodyPr/>
          <a:lstStyle/>
          <a:p>
            <a:fld id="{524478B3-BDAC-4F7D-843F-914D14637282}" type="slidenum">
              <a:rPr lang="en-IN" smtClean="0"/>
              <a:t>‹#›</a:t>
            </a:fld>
            <a:endParaRPr lang="en-IN"/>
          </a:p>
        </p:txBody>
      </p:sp>
    </p:spTree>
    <p:extLst>
      <p:ext uri="{BB962C8B-B14F-4D97-AF65-F5344CB8AC3E}">
        <p14:creationId xmlns:p14="http://schemas.microsoft.com/office/powerpoint/2010/main" val="1558295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51F193-150D-76F0-4454-AC41B9DA89B0}"/>
              </a:ext>
            </a:extLst>
          </p:cNvPr>
          <p:cNvSpPr>
            <a:spLocks noGrp="1"/>
          </p:cNvSpPr>
          <p:nvPr>
            <p:ph type="dt" sz="half" idx="10"/>
          </p:nvPr>
        </p:nvSpPr>
        <p:spPr/>
        <p:txBody>
          <a:bodyPr/>
          <a:lstStyle/>
          <a:p>
            <a:fld id="{CAC11EBA-01C5-4D91-AECC-11CE2A69637F}" type="datetimeFigureOut">
              <a:rPr lang="en-IN" smtClean="0"/>
              <a:t>01-08-2025</a:t>
            </a:fld>
            <a:endParaRPr lang="en-IN"/>
          </a:p>
        </p:txBody>
      </p:sp>
      <p:sp>
        <p:nvSpPr>
          <p:cNvPr id="3" name="Footer Placeholder 2">
            <a:extLst>
              <a:ext uri="{FF2B5EF4-FFF2-40B4-BE49-F238E27FC236}">
                <a16:creationId xmlns:a16="http://schemas.microsoft.com/office/drawing/2014/main" id="{BD3911D9-487D-B90C-8DFC-5BD2D70C912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2DDC19A-9DB9-B27F-E9EE-7941A6CB5211}"/>
              </a:ext>
            </a:extLst>
          </p:cNvPr>
          <p:cNvSpPr>
            <a:spLocks noGrp="1"/>
          </p:cNvSpPr>
          <p:nvPr>
            <p:ph type="sldNum" sz="quarter" idx="12"/>
          </p:nvPr>
        </p:nvSpPr>
        <p:spPr/>
        <p:txBody>
          <a:bodyPr/>
          <a:lstStyle/>
          <a:p>
            <a:fld id="{524478B3-BDAC-4F7D-843F-914D14637282}" type="slidenum">
              <a:rPr lang="en-IN" smtClean="0"/>
              <a:t>‹#›</a:t>
            </a:fld>
            <a:endParaRPr lang="en-IN"/>
          </a:p>
        </p:txBody>
      </p:sp>
    </p:spTree>
    <p:extLst>
      <p:ext uri="{BB962C8B-B14F-4D97-AF65-F5344CB8AC3E}">
        <p14:creationId xmlns:p14="http://schemas.microsoft.com/office/powerpoint/2010/main" val="1625368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F0AF4-8306-32E9-FA38-C7171B173B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213562E-A601-04D8-5EDB-3CADF65FD7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32E79B1-198C-B756-DA3D-C961284BFC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4F11B4-B487-C8D7-985A-61CC2987CC7C}"/>
              </a:ext>
            </a:extLst>
          </p:cNvPr>
          <p:cNvSpPr>
            <a:spLocks noGrp="1"/>
          </p:cNvSpPr>
          <p:nvPr>
            <p:ph type="dt" sz="half" idx="10"/>
          </p:nvPr>
        </p:nvSpPr>
        <p:spPr/>
        <p:txBody>
          <a:bodyPr/>
          <a:lstStyle/>
          <a:p>
            <a:fld id="{CAC11EBA-01C5-4D91-AECC-11CE2A69637F}" type="datetimeFigureOut">
              <a:rPr lang="en-IN" smtClean="0"/>
              <a:t>01-08-2025</a:t>
            </a:fld>
            <a:endParaRPr lang="en-IN"/>
          </a:p>
        </p:txBody>
      </p:sp>
      <p:sp>
        <p:nvSpPr>
          <p:cNvPr id="6" name="Footer Placeholder 5">
            <a:extLst>
              <a:ext uri="{FF2B5EF4-FFF2-40B4-BE49-F238E27FC236}">
                <a16:creationId xmlns:a16="http://schemas.microsoft.com/office/drawing/2014/main" id="{1BA65E64-DF67-3F56-2545-CA22299E5B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9E4A6D-E889-ED5B-4190-3A0E3BE498D0}"/>
              </a:ext>
            </a:extLst>
          </p:cNvPr>
          <p:cNvSpPr>
            <a:spLocks noGrp="1"/>
          </p:cNvSpPr>
          <p:nvPr>
            <p:ph type="sldNum" sz="quarter" idx="12"/>
          </p:nvPr>
        </p:nvSpPr>
        <p:spPr/>
        <p:txBody>
          <a:bodyPr/>
          <a:lstStyle/>
          <a:p>
            <a:fld id="{524478B3-BDAC-4F7D-843F-914D14637282}" type="slidenum">
              <a:rPr lang="en-IN" smtClean="0"/>
              <a:t>‹#›</a:t>
            </a:fld>
            <a:endParaRPr lang="en-IN"/>
          </a:p>
        </p:txBody>
      </p:sp>
    </p:spTree>
    <p:extLst>
      <p:ext uri="{BB962C8B-B14F-4D97-AF65-F5344CB8AC3E}">
        <p14:creationId xmlns:p14="http://schemas.microsoft.com/office/powerpoint/2010/main" val="1225851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C8869-B543-E46D-9132-B29068C7D0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8DED04F-92E7-A81E-1FAD-19E908BF76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1887858-CC3F-CD70-B03A-50D0C8C4C4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4942A8-C244-4482-2FD1-8EA7C46BFDAD}"/>
              </a:ext>
            </a:extLst>
          </p:cNvPr>
          <p:cNvSpPr>
            <a:spLocks noGrp="1"/>
          </p:cNvSpPr>
          <p:nvPr>
            <p:ph type="dt" sz="half" idx="10"/>
          </p:nvPr>
        </p:nvSpPr>
        <p:spPr/>
        <p:txBody>
          <a:bodyPr/>
          <a:lstStyle/>
          <a:p>
            <a:fld id="{CAC11EBA-01C5-4D91-AECC-11CE2A69637F}" type="datetimeFigureOut">
              <a:rPr lang="en-IN" smtClean="0"/>
              <a:t>01-08-2025</a:t>
            </a:fld>
            <a:endParaRPr lang="en-IN"/>
          </a:p>
        </p:txBody>
      </p:sp>
      <p:sp>
        <p:nvSpPr>
          <p:cNvPr id="6" name="Footer Placeholder 5">
            <a:extLst>
              <a:ext uri="{FF2B5EF4-FFF2-40B4-BE49-F238E27FC236}">
                <a16:creationId xmlns:a16="http://schemas.microsoft.com/office/drawing/2014/main" id="{FFBDBA03-B9CF-910F-DCB9-0EB565C29E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A84FFE-AF6D-B80E-D199-E48E12904520}"/>
              </a:ext>
            </a:extLst>
          </p:cNvPr>
          <p:cNvSpPr>
            <a:spLocks noGrp="1"/>
          </p:cNvSpPr>
          <p:nvPr>
            <p:ph type="sldNum" sz="quarter" idx="12"/>
          </p:nvPr>
        </p:nvSpPr>
        <p:spPr/>
        <p:txBody>
          <a:bodyPr/>
          <a:lstStyle/>
          <a:p>
            <a:fld id="{524478B3-BDAC-4F7D-843F-914D14637282}" type="slidenum">
              <a:rPr lang="en-IN" smtClean="0"/>
              <a:t>‹#›</a:t>
            </a:fld>
            <a:endParaRPr lang="en-IN"/>
          </a:p>
        </p:txBody>
      </p:sp>
    </p:spTree>
    <p:extLst>
      <p:ext uri="{BB962C8B-B14F-4D97-AF65-F5344CB8AC3E}">
        <p14:creationId xmlns:p14="http://schemas.microsoft.com/office/powerpoint/2010/main" val="3311716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5E91E-C8D2-89FC-02DB-546A49CCD69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C8F3F16-3982-C8CF-1EEC-83CCB4C9E6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435744-C91D-1DDC-CFE1-6EAAD38BFCC5}"/>
              </a:ext>
            </a:extLst>
          </p:cNvPr>
          <p:cNvSpPr>
            <a:spLocks noGrp="1"/>
          </p:cNvSpPr>
          <p:nvPr>
            <p:ph type="dt" sz="half" idx="10"/>
          </p:nvPr>
        </p:nvSpPr>
        <p:spPr/>
        <p:txBody>
          <a:bodyPr/>
          <a:lstStyle/>
          <a:p>
            <a:fld id="{CAC11EBA-01C5-4D91-AECC-11CE2A69637F}" type="datetimeFigureOut">
              <a:rPr lang="en-IN" smtClean="0"/>
              <a:t>01-08-2025</a:t>
            </a:fld>
            <a:endParaRPr lang="en-IN"/>
          </a:p>
        </p:txBody>
      </p:sp>
      <p:sp>
        <p:nvSpPr>
          <p:cNvPr id="5" name="Footer Placeholder 4">
            <a:extLst>
              <a:ext uri="{FF2B5EF4-FFF2-40B4-BE49-F238E27FC236}">
                <a16:creationId xmlns:a16="http://schemas.microsoft.com/office/drawing/2014/main" id="{83C23858-6A7D-FD7A-C225-1B7AA96F1F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A4F7E7-425D-BC89-9040-EB60119BDA5E}"/>
              </a:ext>
            </a:extLst>
          </p:cNvPr>
          <p:cNvSpPr>
            <a:spLocks noGrp="1"/>
          </p:cNvSpPr>
          <p:nvPr>
            <p:ph type="sldNum" sz="quarter" idx="12"/>
          </p:nvPr>
        </p:nvSpPr>
        <p:spPr/>
        <p:txBody>
          <a:bodyPr/>
          <a:lstStyle/>
          <a:p>
            <a:fld id="{524478B3-BDAC-4F7D-843F-914D14637282}" type="slidenum">
              <a:rPr lang="en-IN" smtClean="0"/>
              <a:t>‹#›</a:t>
            </a:fld>
            <a:endParaRPr lang="en-IN"/>
          </a:p>
        </p:txBody>
      </p:sp>
    </p:spTree>
    <p:extLst>
      <p:ext uri="{BB962C8B-B14F-4D97-AF65-F5344CB8AC3E}">
        <p14:creationId xmlns:p14="http://schemas.microsoft.com/office/powerpoint/2010/main" val="2376777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AAD294-1C0E-8F36-22B4-9951090BA00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801FFA8-1533-8C5F-D38F-709504353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91F55D-3640-7CCB-9FBE-62149217C423}"/>
              </a:ext>
            </a:extLst>
          </p:cNvPr>
          <p:cNvSpPr>
            <a:spLocks noGrp="1"/>
          </p:cNvSpPr>
          <p:nvPr>
            <p:ph type="dt" sz="half" idx="10"/>
          </p:nvPr>
        </p:nvSpPr>
        <p:spPr/>
        <p:txBody>
          <a:bodyPr/>
          <a:lstStyle/>
          <a:p>
            <a:fld id="{CAC11EBA-01C5-4D91-AECC-11CE2A69637F}" type="datetimeFigureOut">
              <a:rPr lang="en-IN" smtClean="0"/>
              <a:t>01-08-2025</a:t>
            </a:fld>
            <a:endParaRPr lang="en-IN"/>
          </a:p>
        </p:txBody>
      </p:sp>
      <p:sp>
        <p:nvSpPr>
          <p:cNvPr id="5" name="Footer Placeholder 4">
            <a:extLst>
              <a:ext uri="{FF2B5EF4-FFF2-40B4-BE49-F238E27FC236}">
                <a16:creationId xmlns:a16="http://schemas.microsoft.com/office/drawing/2014/main" id="{45D78F14-6CE0-6D95-2248-28CD4E8F7C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AB726E-2229-9938-2DD1-7E2DCFDF7977}"/>
              </a:ext>
            </a:extLst>
          </p:cNvPr>
          <p:cNvSpPr>
            <a:spLocks noGrp="1"/>
          </p:cNvSpPr>
          <p:nvPr>
            <p:ph type="sldNum" sz="quarter" idx="12"/>
          </p:nvPr>
        </p:nvSpPr>
        <p:spPr/>
        <p:txBody>
          <a:bodyPr/>
          <a:lstStyle/>
          <a:p>
            <a:fld id="{524478B3-BDAC-4F7D-843F-914D14637282}" type="slidenum">
              <a:rPr lang="en-IN" smtClean="0"/>
              <a:t>‹#›</a:t>
            </a:fld>
            <a:endParaRPr lang="en-IN"/>
          </a:p>
        </p:txBody>
      </p:sp>
    </p:spTree>
    <p:extLst>
      <p:ext uri="{BB962C8B-B14F-4D97-AF65-F5344CB8AC3E}">
        <p14:creationId xmlns:p14="http://schemas.microsoft.com/office/powerpoint/2010/main" val="647266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22D034-4689-3FA5-C7F7-B39E6382CF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E5FD09-FD7C-BEDA-B4F0-25C0D44334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63CE65-7228-5656-2C0C-515EF0BC3C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AC11EBA-01C5-4D91-AECC-11CE2A69637F}" type="datetimeFigureOut">
              <a:rPr lang="en-IN" smtClean="0"/>
              <a:t>01-08-2025</a:t>
            </a:fld>
            <a:endParaRPr lang="en-IN"/>
          </a:p>
        </p:txBody>
      </p:sp>
      <p:sp>
        <p:nvSpPr>
          <p:cNvPr id="5" name="Footer Placeholder 4">
            <a:extLst>
              <a:ext uri="{FF2B5EF4-FFF2-40B4-BE49-F238E27FC236}">
                <a16:creationId xmlns:a16="http://schemas.microsoft.com/office/drawing/2014/main" id="{95B97C71-A21E-E9AE-6A12-84B6D7FD12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AB66CD1-0980-2E5C-755A-D2B1F441FD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24478B3-BDAC-4F7D-843F-914D14637282}" type="slidenum">
              <a:rPr lang="en-IN" smtClean="0"/>
              <a:t>‹#›</a:t>
            </a:fld>
            <a:endParaRPr lang="en-IN"/>
          </a:p>
        </p:txBody>
      </p:sp>
    </p:spTree>
    <p:extLst>
      <p:ext uri="{BB962C8B-B14F-4D97-AF65-F5344CB8AC3E}">
        <p14:creationId xmlns:p14="http://schemas.microsoft.com/office/powerpoint/2010/main" val="5581896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8">
            <a:extLst>
              <a:ext uri="{FF2B5EF4-FFF2-40B4-BE49-F238E27FC236}">
                <a16:creationId xmlns:a16="http://schemas.microsoft.com/office/drawing/2014/main" id="{2E2F3FB2-55E4-A47D-BFCB-30B998F7B1F1}"/>
              </a:ext>
            </a:extLst>
          </p:cNvPr>
          <p:cNvSpPr/>
          <p:nvPr/>
        </p:nvSpPr>
        <p:spPr>
          <a:xfrm>
            <a:off x="8229600" y="377184"/>
            <a:ext cx="3282432" cy="658897"/>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2"/>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imes New Roman" panose="02020603050405020304" pitchFamily="18" charset="0"/>
              <a:cs typeface="Times New Roman" panose="02020603050405020304" pitchFamily="18" charset="0"/>
            </a:endParaRPr>
          </a:p>
        </p:txBody>
      </p:sp>
      <p:sp>
        <p:nvSpPr>
          <p:cNvPr id="5" name="TextBox 10">
            <a:extLst>
              <a:ext uri="{FF2B5EF4-FFF2-40B4-BE49-F238E27FC236}">
                <a16:creationId xmlns:a16="http://schemas.microsoft.com/office/drawing/2014/main" id="{E303923B-15C4-1AD0-410B-D78B63775C23}"/>
              </a:ext>
            </a:extLst>
          </p:cNvPr>
          <p:cNvSpPr txBox="1"/>
          <p:nvPr/>
        </p:nvSpPr>
        <p:spPr>
          <a:xfrm>
            <a:off x="604696" y="927972"/>
            <a:ext cx="6619064" cy="658898"/>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5604"/>
              </a:lnSpc>
            </a:pPr>
            <a:r>
              <a:rPr lang="en-US" sz="4002" dirty="0">
                <a:solidFill>
                  <a:srgbClr val="000000"/>
                </a:solidFill>
                <a:latin typeface="Times New Roman" panose="02020603050405020304" pitchFamily="18" charset="0"/>
                <a:cs typeface="Times New Roman" panose="02020603050405020304" pitchFamily="18" charset="0"/>
              </a:rPr>
              <a:t>Presentation by Yi-</a:t>
            </a:r>
            <a:r>
              <a:rPr lang="en-US" sz="4002" dirty="0" err="1">
                <a:solidFill>
                  <a:srgbClr val="000000"/>
                </a:solidFill>
                <a:latin typeface="Times New Roman" panose="02020603050405020304" pitchFamily="18" charset="0"/>
                <a:cs typeface="Times New Roman" panose="02020603050405020304" pitchFamily="18" charset="0"/>
              </a:rPr>
              <a:t>Chih</a:t>
            </a:r>
            <a:r>
              <a:rPr lang="en-US" sz="4002" dirty="0">
                <a:solidFill>
                  <a:srgbClr val="000000"/>
                </a:solidFill>
                <a:latin typeface="Times New Roman" panose="02020603050405020304" pitchFamily="18" charset="0"/>
                <a:cs typeface="Times New Roman" panose="02020603050405020304" pitchFamily="18" charset="0"/>
              </a:rPr>
              <a:t> Tung</a:t>
            </a:r>
          </a:p>
        </p:txBody>
      </p:sp>
      <p:sp>
        <p:nvSpPr>
          <p:cNvPr id="6" name="TextBox 5">
            <a:extLst>
              <a:ext uri="{FF2B5EF4-FFF2-40B4-BE49-F238E27FC236}">
                <a16:creationId xmlns:a16="http://schemas.microsoft.com/office/drawing/2014/main" id="{80AE6EB0-A2C5-FE21-EF0B-D9CD3BA6F220}"/>
              </a:ext>
            </a:extLst>
          </p:cNvPr>
          <p:cNvSpPr txBox="1"/>
          <p:nvPr/>
        </p:nvSpPr>
        <p:spPr>
          <a:xfrm>
            <a:off x="604696" y="1586870"/>
            <a:ext cx="3939689" cy="1053750"/>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9021"/>
              </a:lnSpc>
            </a:pPr>
            <a:r>
              <a:rPr lang="en-US" sz="6444" dirty="0">
                <a:solidFill>
                  <a:srgbClr val="000000"/>
                </a:solidFill>
                <a:latin typeface="Times New Roman" panose="02020603050405020304" pitchFamily="18" charset="0"/>
                <a:cs typeface="Times New Roman" panose="02020603050405020304" pitchFamily="18" charset="0"/>
              </a:rPr>
              <a:t>Chapter 9</a:t>
            </a:r>
          </a:p>
        </p:txBody>
      </p:sp>
      <p:sp>
        <p:nvSpPr>
          <p:cNvPr id="7" name="TextBox 6">
            <a:extLst>
              <a:ext uri="{FF2B5EF4-FFF2-40B4-BE49-F238E27FC236}">
                <a16:creationId xmlns:a16="http://schemas.microsoft.com/office/drawing/2014/main" id="{899F97AA-10C5-8BAA-254E-D1869F099DE5}"/>
              </a:ext>
            </a:extLst>
          </p:cNvPr>
          <p:cNvSpPr txBox="1"/>
          <p:nvPr/>
        </p:nvSpPr>
        <p:spPr>
          <a:xfrm>
            <a:off x="668418" y="2720576"/>
            <a:ext cx="5427582" cy="2492990"/>
          </a:xfrm>
          <a:prstGeom prst="rect">
            <a:avLst/>
          </a:prstGeom>
          <a:noFill/>
        </p:spPr>
        <p:txBody>
          <a:bodyPr wrap="square">
            <a:spAutoFit/>
          </a:bodyPr>
          <a:lstStyle/>
          <a:p>
            <a:pPr algn="just"/>
            <a:r>
              <a:rPr lang="en-IN" sz="2400" b="1" dirty="0">
                <a:latin typeface="Times New Roman" panose="02020603050405020304" pitchFamily="18" charset="0"/>
                <a:cs typeface="Times New Roman" panose="02020603050405020304" pitchFamily="18" charset="0"/>
              </a:rPr>
              <a:t>Basic Opcodes</a:t>
            </a:r>
          </a:p>
          <a:p>
            <a:pPr algn="just"/>
            <a:endParaRPr lang="en-IN" sz="3600" b="1"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chapter introduces a number of additional opcodes, which are the essential building blocks for most RISC-V </a:t>
            </a:r>
            <a:r>
              <a:rPr lang="en-IN" sz="2400" dirty="0">
                <a:latin typeface="Times New Roman" panose="02020603050405020304" pitchFamily="18" charset="0"/>
                <a:cs typeface="Times New Roman" panose="02020603050405020304" pitchFamily="18" charset="0"/>
              </a:rPr>
              <a:t>assembly language programs.</a:t>
            </a:r>
            <a:endParaRPr lang="en-IN" sz="36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7A5DD7B2-C0E6-0D99-CF64-02ABD647D36E}"/>
              </a:ext>
            </a:extLst>
          </p:cNvPr>
          <p:cNvPicPr>
            <a:picLocks noChangeAspect="1"/>
          </p:cNvPicPr>
          <p:nvPr/>
        </p:nvPicPr>
        <p:blipFill>
          <a:blip r:embed="rId3"/>
          <a:stretch>
            <a:fillRect/>
          </a:stretch>
        </p:blipFill>
        <p:spPr>
          <a:xfrm>
            <a:off x="6842011" y="2462774"/>
            <a:ext cx="4453629" cy="3467254"/>
          </a:xfrm>
          <a:prstGeom prst="rect">
            <a:avLst/>
          </a:prstGeom>
        </p:spPr>
      </p:pic>
    </p:spTree>
    <p:extLst>
      <p:ext uri="{BB962C8B-B14F-4D97-AF65-F5344CB8AC3E}">
        <p14:creationId xmlns:p14="http://schemas.microsoft.com/office/powerpoint/2010/main" val="2775507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A9C32-BBEF-B933-3034-FD35D0B2EE33}"/>
              </a:ext>
            </a:extLst>
          </p:cNvPr>
          <p:cNvSpPr>
            <a:spLocks noGrp="1"/>
          </p:cNvSpPr>
          <p:nvPr>
            <p:ph type="title"/>
          </p:nvPr>
        </p:nvSpPr>
        <p:spPr>
          <a:xfrm>
            <a:off x="838200" y="365126"/>
            <a:ext cx="10515600" cy="659342"/>
          </a:xfrm>
        </p:spPr>
        <p:txBody>
          <a:bodyPr>
            <a:normAutofit fontScale="90000"/>
          </a:bodyPr>
          <a:lstStyle/>
          <a:p>
            <a:pPr algn="just"/>
            <a:r>
              <a:rPr lang="en-IN" b="1" dirty="0">
                <a:latin typeface="Times New Roman" panose="02020603050405020304" pitchFamily="18" charset="0"/>
                <a:cs typeface="Times New Roman" panose="02020603050405020304" pitchFamily="18" charset="0"/>
              </a:rPr>
              <a:t>Arithmetic Opcodes</a:t>
            </a:r>
            <a:endParaRPr lang="en-IN"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6B39B17D-83B6-B6BA-8320-3897409339C9}"/>
              </a:ext>
            </a:extLst>
          </p:cNvPr>
          <p:cNvPicPr>
            <a:picLocks noGrp="1" noChangeAspect="1"/>
          </p:cNvPicPr>
          <p:nvPr>
            <p:ph idx="1"/>
          </p:nvPr>
        </p:nvPicPr>
        <p:blipFill>
          <a:blip r:embed="rId2"/>
          <a:stretch>
            <a:fillRect/>
          </a:stretch>
        </p:blipFill>
        <p:spPr>
          <a:xfrm>
            <a:off x="5943600" y="1024468"/>
            <a:ext cx="5563490" cy="1466464"/>
          </a:xfrm>
        </p:spPr>
      </p:pic>
      <p:pic>
        <p:nvPicPr>
          <p:cNvPr id="7" name="Picture 6">
            <a:extLst>
              <a:ext uri="{FF2B5EF4-FFF2-40B4-BE49-F238E27FC236}">
                <a16:creationId xmlns:a16="http://schemas.microsoft.com/office/drawing/2014/main" id="{D4E3FAE9-F3B1-D2A5-DCC0-2F3C735384C0}"/>
              </a:ext>
            </a:extLst>
          </p:cNvPr>
          <p:cNvPicPr>
            <a:picLocks noChangeAspect="1"/>
          </p:cNvPicPr>
          <p:nvPr/>
        </p:nvPicPr>
        <p:blipFill>
          <a:blip r:embed="rId3"/>
          <a:stretch>
            <a:fillRect/>
          </a:stretch>
        </p:blipFill>
        <p:spPr>
          <a:xfrm>
            <a:off x="6072382" y="4367069"/>
            <a:ext cx="5469467" cy="1051821"/>
          </a:xfrm>
          <a:prstGeom prst="rect">
            <a:avLst/>
          </a:prstGeom>
        </p:spPr>
      </p:pic>
      <p:sp>
        <p:nvSpPr>
          <p:cNvPr id="9" name="TextBox 8">
            <a:extLst>
              <a:ext uri="{FF2B5EF4-FFF2-40B4-BE49-F238E27FC236}">
                <a16:creationId xmlns:a16="http://schemas.microsoft.com/office/drawing/2014/main" id="{404C1F0F-B0B1-EE42-F867-599E2387B167}"/>
              </a:ext>
            </a:extLst>
          </p:cNvPr>
          <p:cNvSpPr txBox="1"/>
          <p:nvPr/>
        </p:nvSpPr>
        <p:spPr>
          <a:xfrm>
            <a:off x="168887" y="1024468"/>
            <a:ext cx="5317514" cy="5078313"/>
          </a:xfrm>
          <a:prstGeom prst="rect">
            <a:avLst/>
          </a:prstGeom>
          <a:noFill/>
        </p:spPr>
        <p:txBody>
          <a:bodyPr wrap="square">
            <a:spAutoFit/>
          </a:bodyPr>
          <a:lstStyle/>
          <a:p>
            <a:pPr algn="just"/>
            <a:r>
              <a:rPr lang="en-IN" b="1" i="0" u="none" strike="noStrike" baseline="0" dirty="0">
                <a:latin typeface="Times New Roman" panose="02020603050405020304" pitchFamily="18" charset="0"/>
                <a:cs typeface="Times New Roman" panose="02020603050405020304" pitchFamily="18" charset="0"/>
              </a:rPr>
              <a:t>add, </a:t>
            </a:r>
            <a:r>
              <a:rPr lang="en-IN" b="1" i="0" u="none" strike="noStrike" baseline="0" dirty="0" err="1">
                <a:latin typeface="Times New Roman" panose="02020603050405020304" pitchFamily="18" charset="0"/>
                <a:cs typeface="Times New Roman" panose="02020603050405020304" pitchFamily="18" charset="0"/>
              </a:rPr>
              <a:t>addi</a:t>
            </a:r>
            <a:r>
              <a:rPr lang="en-IN" b="1" i="0" u="none" strike="noStrike" baseline="0" dirty="0">
                <a:latin typeface="Times New Roman" panose="02020603050405020304" pitchFamily="18" charset="0"/>
                <a:cs typeface="Times New Roman" panose="02020603050405020304" pitchFamily="18" charset="0"/>
              </a:rPr>
              <a:t> and sub</a:t>
            </a:r>
          </a:p>
          <a:p>
            <a:pPr algn="just"/>
            <a:r>
              <a:rPr lang="en-US" b="0" i="0" u="none" strike="noStrike" baseline="0" dirty="0">
                <a:latin typeface="Times New Roman" panose="02020603050405020304" pitchFamily="18" charset="0"/>
                <a:cs typeface="Times New Roman" panose="02020603050405020304" pitchFamily="18" charset="0"/>
              </a:rPr>
              <a:t>You've already used "add" and "</a:t>
            </a:r>
            <a:r>
              <a:rPr lang="en-US" b="0" i="0" u="none" strike="noStrike" baseline="0" dirty="0" err="1">
                <a:latin typeface="Times New Roman" panose="02020603050405020304" pitchFamily="18" charset="0"/>
                <a:cs typeface="Times New Roman" panose="02020603050405020304" pitchFamily="18" charset="0"/>
              </a:rPr>
              <a:t>addi</a:t>
            </a:r>
            <a:r>
              <a:rPr lang="en-US" b="0" i="0" u="none" strike="noStrike" baseline="0" dirty="0">
                <a:latin typeface="Times New Roman" panose="02020603050405020304" pitchFamily="18" charset="0"/>
                <a:cs typeface="Times New Roman" panose="02020603050405020304" pitchFamily="18" charset="0"/>
              </a:rPr>
              <a:t>", which simply add two values. Notice that there is no "</a:t>
            </a:r>
            <a:r>
              <a:rPr lang="en-US" b="0" i="0" u="none" strike="noStrike" baseline="0" dirty="0" err="1">
                <a:latin typeface="Times New Roman" panose="02020603050405020304" pitchFamily="18" charset="0"/>
                <a:cs typeface="Times New Roman" panose="02020603050405020304" pitchFamily="18" charset="0"/>
              </a:rPr>
              <a:t>subi</a:t>
            </a:r>
            <a:r>
              <a:rPr lang="en-US" b="0" i="0" u="none" strike="noStrike" baseline="0" dirty="0">
                <a:latin typeface="Times New Roman" panose="02020603050405020304" pitchFamily="18" charset="0"/>
                <a:cs typeface="Times New Roman" panose="02020603050405020304" pitchFamily="18" charset="0"/>
              </a:rPr>
              <a:t>" (subtract immediate) opcode. The same effect can be accomplished by adding a negative immediate constant.</a:t>
            </a:r>
          </a:p>
          <a:p>
            <a:pPr algn="just"/>
            <a:endParaRPr lang="en-US"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Lui</a:t>
            </a:r>
          </a:p>
          <a:p>
            <a:pPr algn="just"/>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lui</a:t>
            </a:r>
            <a:r>
              <a:rPr lang="en-US" dirty="0">
                <a:latin typeface="Times New Roman" panose="02020603050405020304" pitchFamily="18" charset="0"/>
                <a:cs typeface="Times New Roman" panose="02020603050405020304" pitchFamily="18" charset="0"/>
              </a:rPr>
              <a:t>" opcode provides a way to load 20 bits of unsigned data, into the high order 32 bits of a 32-bit </a:t>
            </a:r>
            <a:r>
              <a:rPr lang="en-IN" dirty="0">
                <a:latin typeface="Times New Roman" panose="02020603050405020304" pitchFamily="18" charset="0"/>
                <a:cs typeface="Times New Roman" panose="02020603050405020304" pitchFamily="18" charset="0"/>
              </a:rPr>
              <a:t>register.</a:t>
            </a:r>
          </a:p>
          <a:p>
            <a:pPr algn="just"/>
            <a:r>
              <a:rPr lang="en-IN" dirty="0">
                <a:latin typeface="Times New Roman" panose="02020603050405020304" pitchFamily="18" charset="0"/>
                <a:cs typeface="Times New Roman" panose="02020603050405020304" pitchFamily="18" charset="0"/>
              </a:rPr>
              <a:t>the instruction: </a:t>
            </a:r>
            <a:r>
              <a:rPr lang="en-IN" dirty="0" err="1">
                <a:latin typeface="Times New Roman" panose="02020603050405020304" pitchFamily="18" charset="0"/>
                <a:cs typeface="Times New Roman" panose="02020603050405020304" pitchFamily="18" charset="0"/>
              </a:rPr>
              <a:t>lui</a:t>
            </a:r>
            <a:r>
              <a:rPr lang="en-IN" dirty="0">
                <a:latin typeface="Times New Roman" panose="02020603050405020304" pitchFamily="18" charset="0"/>
                <a:cs typeface="Times New Roman" panose="02020603050405020304" pitchFamily="18" charset="0"/>
              </a:rPr>
              <a:t> a0,0xEEEEE </a:t>
            </a:r>
            <a:r>
              <a:rPr lang="en-US" dirty="0">
                <a:latin typeface="Times New Roman" panose="02020603050405020304" pitchFamily="18" charset="0"/>
                <a:cs typeface="Times New Roman" panose="02020603050405020304" pitchFamily="18" charset="0"/>
              </a:rPr>
              <a:t>results in a0 receiving the value of </a:t>
            </a:r>
            <a:r>
              <a:rPr lang="en-IN" dirty="0">
                <a:latin typeface="Times New Roman" panose="02020603050405020304" pitchFamily="18" charset="0"/>
                <a:cs typeface="Times New Roman" panose="02020603050405020304" pitchFamily="18" charset="0"/>
              </a:rPr>
              <a:t>0xFFFFFFFFEEEEE000 for RV64.</a:t>
            </a:r>
          </a:p>
          <a:p>
            <a:pPr algn="just"/>
            <a:r>
              <a:rPr lang="en-IN" b="1" dirty="0" err="1">
                <a:latin typeface="Times New Roman" panose="02020603050405020304" pitchFamily="18" charset="0"/>
                <a:cs typeface="Times New Roman" panose="02020603050405020304" pitchFamily="18" charset="0"/>
              </a:rPr>
              <a:t>auipc</a:t>
            </a:r>
            <a:endParaRPr lang="en-IN" b="1"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It adds the current location (register pc before it is incremented) to the unsigned immediate data (shifted up 20 bits). Like the "</a:t>
            </a:r>
            <a:r>
              <a:rPr lang="en-US" dirty="0" err="1">
                <a:latin typeface="Times New Roman" panose="02020603050405020304" pitchFamily="18" charset="0"/>
                <a:cs typeface="Times New Roman" panose="02020603050405020304" pitchFamily="18" charset="0"/>
              </a:rPr>
              <a:t>lui</a:t>
            </a:r>
            <a:r>
              <a:rPr lang="en-US" dirty="0">
                <a:latin typeface="Times New Roman" panose="02020603050405020304" pitchFamily="18" charset="0"/>
                <a:cs typeface="Times New Roman" panose="02020603050405020304" pitchFamily="18" charset="0"/>
              </a:rPr>
              <a:t>" opcode, bit 31 is sign-extended to the full register width for RV64 and larger platforms.</a:t>
            </a:r>
            <a:endParaRPr lang="en-IN"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4B09FC6F-E0B0-608A-37D5-6BBEEAF00332}"/>
              </a:ext>
            </a:extLst>
          </p:cNvPr>
          <p:cNvSpPr txBox="1"/>
          <p:nvPr/>
        </p:nvSpPr>
        <p:spPr>
          <a:xfrm>
            <a:off x="6705600" y="3690880"/>
            <a:ext cx="2101516" cy="369332"/>
          </a:xfrm>
          <a:prstGeom prst="rect">
            <a:avLst/>
          </a:prstGeom>
          <a:noFill/>
        </p:spPr>
        <p:txBody>
          <a:bodyPr wrap="square">
            <a:spAutoFit/>
          </a:bodyPr>
          <a:lstStyle/>
          <a:p>
            <a:pPr algn="just"/>
            <a:r>
              <a:rPr lang="en-IN" sz="1800" b="1" i="0" u="none" strike="noStrike" baseline="0" dirty="0">
                <a:latin typeface="Times New Roman" panose="02020603050405020304" pitchFamily="18" charset="0"/>
                <a:cs typeface="Times New Roman" panose="02020603050405020304" pitchFamily="18" charset="0"/>
              </a:rPr>
              <a:t>RV64 Arithmetic</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60887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CDA79-B4AF-F3AC-BBE4-54EEE5BBC267}"/>
              </a:ext>
            </a:extLst>
          </p:cNvPr>
          <p:cNvSpPr>
            <a:spLocks noGrp="1"/>
          </p:cNvSpPr>
          <p:nvPr>
            <p:ph type="title"/>
          </p:nvPr>
        </p:nvSpPr>
        <p:spPr/>
        <p:txBody>
          <a:bodyPr/>
          <a:lstStyle/>
          <a:p>
            <a:pPr algn="just"/>
            <a:r>
              <a:rPr lang="en-IN" b="1" dirty="0">
                <a:latin typeface="Times New Roman" panose="02020603050405020304" pitchFamily="18" charset="0"/>
                <a:cs typeface="Times New Roman" panose="02020603050405020304" pitchFamily="18" charset="0"/>
              </a:rPr>
              <a:t>Logical Opcodes</a:t>
            </a:r>
            <a:endParaRPr lang="en-IN"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E88119E2-1B08-1AD2-4432-FA46A398FE3D}"/>
              </a:ext>
            </a:extLst>
          </p:cNvPr>
          <p:cNvPicPr>
            <a:picLocks noGrp="1" noChangeAspect="1"/>
          </p:cNvPicPr>
          <p:nvPr>
            <p:ph idx="1"/>
          </p:nvPr>
        </p:nvPicPr>
        <p:blipFill>
          <a:blip r:embed="rId2"/>
          <a:stretch>
            <a:fillRect/>
          </a:stretch>
        </p:blipFill>
        <p:spPr>
          <a:xfrm>
            <a:off x="5256270" y="1556703"/>
            <a:ext cx="6097530" cy="1903276"/>
          </a:xfrm>
        </p:spPr>
      </p:pic>
      <p:pic>
        <p:nvPicPr>
          <p:cNvPr id="7" name="Picture 6">
            <a:extLst>
              <a:ext uri="{FF2B5EF4-FFF2-40B4-BE49-F238E27FC236}">
                <a16:creationId xmlns:a16="http://schemas.microsoft.com/office/drawing/2014/main" id="{E92B88AE-9E98-9CCB-E659-E63341CB21E6}"/>
              </a:ext>
            </a:extLst>
          </p:cNvPr>
          <p:cNvPicPr>
            <a:picLocks noChangeAspect="1"/>
          </p:cNvPicPr>
          <p:nvPr/>
        </p:nvPicPr>
        <p:blipFill>
          <a:blip r:embed="rId3"/>
          <a:stretch>
            <a:fillRect/>
          </a:stretch>
        </p:blipFill>
        <p:spPr>
          <a:xfrm>
            <a:off x="5860414" y="4023750"/>
            <a:ext cx="5131374" cy="2308339"/>
          </a:xfrm>
          <a:prstGeom prst="rect">
            <a:avLst/>
          </a:prstGeom>
        </p:spPr>
      </p:pic>
      <p:sp>
        <p:nvSpPr>
          <p:cNvPr id="9" name="TextBox 8">
            <a:extLst>
              <a:ext uri="{FF2B5EF4-FFF2-40B4-BE49-F238E27FC236}">
                <a16:creationId xmlns:a16="http://schemas.microsoft.com/office/drawing/2014/main" id="{BEA98782-7E6F-28B7-34BB-B5F09BB42C81}"/>
              </a:ext>
            </a:extLst>
          </p:cNvPr>
          <p:cNvSpPr txBox="1"/>
          <p:nvPr/>
        </p:nvSpPr>
        <p:spPr>
          <a:xfrm>
            <a:off x="529389" y="2510759"/>
            <a:ext cx="3818022" cy="2246769"/>
          </a:xfrm>
          <a:prstGeom prst="rect">
            <a:avLst/>
          </a:prstGeom>
          <a:noFill/>
        </p:spPr>
        <p:txBody>
          <a:bodyPr wrap="square">
            <a:spAutoFit/>
          </a:bodyPr>
          <a:lstStyle/>
          <a:p>
            <a:pPr algn="just"/>
            <a:r>
              <a:rPr lang="en-US" sz="2000" b="0" i="0" u="none" strike="noStrike" baseline="0" dirty="0">
                <a:latin typeface="Times New Roman" panose="02020603050405020304" pitchFamily="18" charset="0"/>
                <a:cs typeface="Times New Roman" panose="02020603050405020304" pitchFamily="18" charset="0"/>
              </a:rPr>
              <a:t>The logical opcodes permit the programmer to perform </a:t>
            </a:r>
            <a:r>
              <a:rPr lang="en-IN" sz="2000" b="0" i="0" u="none" strike="noStrike" baseline="0" dirty="0">
                <a:latin typeface="Times New Roman" panose="02020603050405020304" pitchFamily="18" charset="0"/>
                <a:cs typeface="Times New Roman" panose="02020603050405020304" pitchFamily="18" charset="0"/>
              </a:rPr>
              <a:t>bit-wise logical operations.</a:t>
            </a:r>
          </a:p>
          <a:p>
            <a:pPr algn="just"/>
            <a:endParaRPr lang="en-IN" sz="2000" b="0" i="0" u="none" strike="noStrike" baseline="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operations of "and", "or" and "</a:t>
            </a:r>
            <a:r>
              <a:rPr lang="en-US" sz="2000" dirty="0" err="1">
                <a:latin typeface="Times New Roman" panose="02020603050405020304" pitchFamily="18" charset="0"/>
                <a:cs typeface="Times New Roman" panose="02020603050405020304" pitchFamily="18" charset="0"/>
              </a:rPr>
              <a:t>xor</a:t>
            </a:r>
            <a:r>
              <a:rPr lang="en-US" sz="2000" dirty="0">
                <a:latin typeface="Times New Roman" panose="02020603050405020304" pitchFamily="18" charset="0"/>
                <a:cs typeface="Times New Roman" panose="02020603050405020304" pitchFamily="18" charset="0"/>
              </a:rPr>
              <a:t>" should be familiar to the C/C++ language programmer.</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0528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3FC42-AFD5-F275-F61C-8FE7012FC65B}"/>
              </a:ext>
            </a:extLst>
          </p:cNvPr>
          <p:cNvSpPr>
            <a:spLocks noGrp="1"/>
          </p:cNvSpPr>
          <p:nvPr>
            <p:ph type="title"/>
          </p:nvPr>
        </p:nvSpPr>
        <p:spPr>
          <a:xfrm>
            <a:off x="838200" y="365125"/>
            <a:ext cx="10515600" cy="996589"/>
          </a:xfrm>
        </p:spPr>
        <p:txBody>
          <a:bodyPr/>
          <a:lstStyle/>
          <a:p>
            <a:pPr algn="just"/>
            <a:r>
              <a:rPr lang="en-IN" b="1" dirty="0">
                <a:latin typeface="Times New Roman" panose="02020603050405020304" pitchFamily="18" charset="0"/>
                <a:cs typeface="Times New Roman" panose="02020603050405020304" pitchFamily="18" charset="0"/>
              </a:rPr>
              <a:t>ESP32-C3 Rotate Left</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E8713C8-8814-4065-4AEA-12801F3A1B1E}"/>
              </a:ext>
            </a:extLst>
          </p:cNvPr>
          <p:cNvSpPr txBox="1"/>
          <p:nvPr/>
        </p:nvSpPr>
        <p:spPr>
          <a:xfrm>
            <a:off x="348069" y="1501039"/>
            <a:ext cx="5261810" cy="4801314"/>
          </a:xfrm>
          <a:prstGeom prst="rect">
            <a:avLst/>
          </a:prstGeom>
          <a:noFill/>
        </p:spPr>
        <p:txBody>
          <a:bodyPr wrap="square">
            <a:spAutoFit/>
          </a:bodyPr>
          <a:lstStyle/>
          <a:p>
            <a:pPr algn="just"/>
            <a:r>
              <a:rPr lang="en-US" sz="1800" b="0" i="0" u="none" strike="noStrike" baseline="0" dirty="0">
                <a:latin typeface="Times New Roman" panose="02020603050405020304" pitchFamily="18" charset="0"/>
                <a:cs typeface="Times New Roman" panose="02020603050405020304" pitchFamily="18" charset="0"/>
              </a:rPr>
              <a:t>Many microcomputer architectures support some kind of a rotate left or right instruction, which is noticeably</a:t>
            </a:r>
          </a:p>
          <a:p>
            <a:pPr algn="just"/>
            <a:r>
              <a:rPr lang="en-US" sz="1800" b="0" i="0" u="none" strike="noStrike" baseline="0" dirty="0">
                <a:latin typeface="Times New Roman" panose="02020603050405020304" pitchFamily="18" charset="0"/>
                <a:cs typeface="Times New Roman" panose="02020603050405020304" pitchFamily="18" charset="0"/>
              </a:rPr>
              <a:t>absent in RISC-V. But the example program in Listing</a:t>
            </a:r>
          </a:p>
          <a:p>
            <a:pPr algn="just"/>
            <a:r>
              <a:rPr lang="en-US" sz="1800" b="0" i="0" u="none" strike="noStrike" baseline="0" dirty="0">
                <a:latin typeface="Times New Roman" panose="02020603050405020304" pitchFamily="18" charset="0"/>
                <a:cs typeface="Times New Roman" panose="02020603050405020304" pitchFamily="18" charset="0"/>
              </a:rPr>
              <a:t>9.1 demonstrates that this really is no hardship. Function </a:t>
            </a:r>
            <a:r>
              <a:rPr lang="en-US" sz="1800" b="0" i="0" u="none" strike="noStrike" baseline="0" dirty="0" err="1">
                <a:latin typeface="Times New Roman" panose="02020603050405020304" pitchFamily="18" charset="0"/>
                <a:cs typeface="Times New Roman" panose="02020603050405020304" pitchFamily="18" charset="0"/>
              </a:rPr>
              <a:t>rotate_left</a:t>
            </a:r>
            <a:r>
              <a:rPr lang="en-US" sz="1800" b="0" i="0" u="none" strike="noStrike" baseline="0" dirty="0">
                <a:latin typeface="Times New Roman" panose="02020603050405020304" pitchFamily="18" charset="0"/>
                <a:cs typeface="Times New Roman" panose="02020603050405020304" pitchFamily="18" charset="0"/>
              </a:rPr>
              <a:t>() rotates an uint32_t integer left one bit, placing the shifted out bit into bit position 0.</a:t>
            </a:r>
          </a:p>
          <a:p>
            <a:pPr algn="just"/>
            <a:endParaRPr lang="en-US" sz="1800" b="0" i="0" u="none" strike="noStrike" baseline="0" dirty="0">
              <a:latin typeface="Times New Roman" panose="02020603050405020304" pitchFamily="18" charset="0"/>
              <a:cs typeface="Times New Roman" panose="02020603050405020304" pitchFamily="18" charset="0"/>
            </a:endParaRPr>
          </a:p>
          <a:p>
            <a:pPr algn="just"/>
            <a:r>
              <a:rPr lang="en-US" sz="1800" b="0" i="0" u="none" strike="noStrike" baseline="0" dirty="0">
                <a:latin typeface="Times New Roman" panose="02020603050405020304" pitchFamily="18" charset="0"/>
                <a:cs typeface="Times New Roman" panose="02020603050405020304" pitchFamily="18" charset="0"/>
              </a:rPr>
              <a:t>Rotate left assembler function, ~/</a:t>
            </a:r>
            <a:r>
              <a:rPr lang="en-US" sz="1800" b="0" i="0" u="none" strike="noStrike" baseline="0" dirty="0" err="1">
                <a:latin typeface="Times New Roman" panose="02020603050405020304" pitchFamily="18" charset="0"/>
                <a:cs typeface="Times New Roman" panose="02020603050405020304" pitchFamily="18" charset="0"/>
              </a:rPr>
              <a:t>riscv</a:t>
            </a:r>
            <a:r>
              <a:rPr lang="en-US" sz="1800" b="0" i="0" u="none" strike="noStrike" baseline="0" dirty="0">
                <a:latin typeface="Times New Roman" panose="02020603050405020304" pitchFamily="18" charset="0"/>
                <a:cs typeface="Times New Roman" panose="02020603050405020304" pitchFamily="18" charset="0"/>
              </a:rPr>
              <a:t>/repo/09/</a:t>
            </a:r>
            <a:r>
              <a:rPr lang="en-US" sz="1800" b="0" i="0" u="none" strike="noStrike" baseline="0" dirty="0" err="1">
                <a:latin typeface="Times New Roman" panose="02020603050405020304" pitchFamily="18" charset="0"/>
                <a:cs typeface="Times New Roman" panose="02020603050405020304" pitchFamily="18" charset="0"/>
              </a:rPr>
              <a:t>rol</a:t>
            </a:r>
            <a:r>
              <a:rPr lang="en-US" sz="1800" b="0" i="0" u="none" strike="noStrike" baseline="0" dirty="0">
                <a:latin typeface="Times New Roman" panose="02020603050405020304" pitchFamily="18" charset="0"/>
                <a:cs typeface="Times New Roman" panose="02020603050405020304" pitchFamily="18" charset="0"/>
              </a:rPr>
              <a:t>/</a:t>
            </a:r>
            <a:r>
              <a:rPr lang="en-US" sz="1800" b="0" i="0" u="none" strike="noStrike" baseline="0" dirty="0" err="1">
                <a:latin typeface="Times New Roman" panose="02020603050405020304" pitchFamily="18" charset="0"/>
                <a:cs typeface="Times New Roman" panose="02020603050405020304" pitchFamily="18" charset="0"/>
              </a:rPr>
              <a:t>rol.S</a:t>
            </a:r>
            <a:r>
              <a:rPr lang="en-US" sz="1800" b="0" i="0" u="none" strike="noStrike" baseline="0" dirty="0">
                <a:latin typeface="Times New Roman" panose="02020603050405020304" pitchFamily="18" charset="0"/>
                <a:cs typeface="Times New Roman" panose="02020603050405020304" pitchFamily="18" charset="0"/>
              </a:rPr>
              <a:t>.</a:t>
            </a:r>
          </a:p>
          <a:p>
            <a:pPr algn="just"/>
            <a:r>
              <a:rPr lang="en-US" sz="1800" b="0" i="0" u="none" strike="noStrike" baseline="0" dirty="0">
                <a:latin typeface="Times New Roman" panose="02020603050405020304" pitchFamily="18" charset="0"/>
                <a:cs typeface="Times New Roman" panose="02020603050405020304" pitchFamily="18" charset="0"/>
              </a:rPr>
              <a:t>Main program from ~/</a:t>
            </a:r>
            <a:r>
              <a:rPr lang="en-US" sz="1800" b="0" i="0" u="none" strike="noStrike" baseline="0" dirty="0" err="1">
                <a:latin typeface="Times New Roman" panose="02020603050405020304" pitchFamily="18" charset="0"/>
                <a:cs typeface="Times New Roman" panose="02020603050405020304" pitchFamily="18" charset="0"/>
              </a:rPr>
              <a:t>riscv</a:t>
            </a:r>
            <a:r>
              <a:rPr lang="en-US" sz="1800" b="0" i="0" u="none" strike="noStrike" baseline="0" dirty="0">
                <a:latin typeface="Times New Roman" panose="02020603050405020304" pitchFamily="18" charset="0"/>
                <a:cs typeface="Times New Roman" panose="02020603050405020304" pitchFamily="18" charset="0"/>
              </a:rPr>
              <a:t>/repo/09/</a:t>
            </a:r>
            <a:r>
              <a:rPr lang="en-US" sz="1800" b="0" i="0" u="none" strike="noStrike" baseline="0" dirty="0" err="1">
                <a:latin typeface="Times New Roman" panose="02020603050405020304" pitchFamily="18" charset="0"/>
                <a:cs typeface="Times New Roman" panose="02020603050405020304" pitchFamily="18" charset="0"/>
              </a:rPr>
              <a:t>rol</a:t>
            </a:r>
            <a:r>
              <a:rPr lang="en-US" sz="1800" b="0" i="0" u="none" strike="noStrike" baseline="0" dirty="0">
                <a:latin typeface="Times New Roman" panose="02020603050405020304" pitchFamily="18" charset="0"/>
                <a:cs typeface="Times New Roman" panose="02020603050405020304" pitchFamily="18" charset="0"/>
              </a:rPr>
              <a:t>/main/</a:t>
            </a:r>
            <a:r>
              <a:rPr lang="en-US" sz="1800" b="0" i="0" u="none" strike="noStrike" baseline="0" dirty="0" err="1">
                <a:latin typeface="Times New Roman" panose="02020603050405020304" pitchFamily="18" charset="0"/>
                <a:cs typeface="Times New Roman" panose="02020603050405020304" pitchFamily="18" charset="0"/>
              </a:rPr>
              <a:t>main.c</a:t>
            </a:r>
            <a:r>
              <a:rPr lang="en-US" sz="1800" b="0" i="0" u="none" strike="noStrike" baseline="0" dirty="0">
                <a:latin typeface="Times New Roman" panose="02020603050405020304" pitchFamily="18" charset="0"/>
                <a:cs typeface="Times New Roman" panose="02020603050405020304" pitchFamily="18" charset="0"/>
              </a:rPr>
              <a:t>.</a:t>
            </a:r>
          </a:p>
          <a:p>
            <a:pPr algn="just"/>
            <a:r>
              <a:rPr lang="en-IN" sz="1800" b="0" i="0" u="none" strike="noStrike" baseline="0" dirty="0">
                <a:latin typeface="Times New Roman" panose="02020603050405020304" pitchFamily="18" charset="0"/>
                <a:cs typeface="Times New Roman" panose="02020603050405020304" pitchFamily="18" charset="0"/>
              </a:rPr>
              <a:t>Modify , code in </a:t>
            </a:r>
            <a:r>
              <a:rPr lang="en-IN" sz="1800" b="0" i="0" u="none" strike="noStrike" baseline="0" dirty="0" err="1">
                <a:latin typeface="Times New Roman" panose="02020603050405020304" pitchFamily="18" charset="0"/>
                <a:cs typeface="Times New Roman" panose="02020603050405020304" pitchFamily="18" charset="0"/>
              </a:rPr>
              <a:t>main.c</a:t>
            </a:r>
            <a:endParaRPr lang="en-IN" sz="1800" b="0" i="0" u="none" strike="noStrike" baseline="0" dirty="0">
              <a:latin typeface="Times New Roman" panose="02020603050405020304" pitchFamily="18" charset="0"/>
              <a:cs typeface="Times New Roman" panose="02020603050405020304" pitchFamily="18" charset="0"/>
            </a:endParaRPr>
          </a:p>
          <a:p>
            <a:pPr algn="just"/>
            <a:r>
              <a:rPr lang="en-IN" sz="1800" b="0" i="0" u="none" strike="noStrike" baseline="0" dirty="0">
                <a:latin typeface="Times New Roman" panose="02020603050405020304" pitchFamily="18" charset="0"/>
                <a:cs typeface="Times New Roman" panose="02020603050405020304" pitchFamily="18" charset="0"/>
              </a:rPr>
              <a:t>Add, #include &lt;</a:t>
            </a:r>
            <a:r>
              <a:rPr lang="en-IN" sz="1800" b="0" i="0" u="none" strike="noStrike" baseline="0" dirty="0" err="1">
                <a:latin typeface="Times New Roman" panose="02020603050405020304" pitchFamily="18" charset="0"/>
                <a:cs typeface="Times New Roman" panose="02020603050405020304" pitchFamily="18" charset="0"/>
              </a:rPr>
              <a:t>inttypes.h</a:t>
            </a:r>
            <a:r>
              <a:rPr lang="en-IN" sz="1800" b="0" i="0" u="none" strike="noStrike" baseline="0" dirty="0">
                <a:latin typeface="Times New Roman" panose="02020603050405020304" pitchFamily="18" charset="0"/>
                <a:cs typeface="Times New Roman" panose="02020603050405020304" pitchFamily="18" charset="0"/>
              </a:rPr>
              <a:t>&gt;</a:t>
            </a:r>
          </a:p>
          <a:p>
            <a:pPr algn="just"/>
            <a:r>
              <a:rPr lang="en-US" sz="1800" b="0" i="0" u="none" strike="noStrike" baseline="0" dirty="0" err="1">
                <a:latin typeface="Times New Roman" panose="02020603050405020304" pitchFamily="18" charset="0"/>
                <a:cs typeface="Times New Roman" panose="02020603050405020304" pitchFamily="18" charset="0"/>
              </a:rPr>
              <a:t>printf</a:t>
            </a:r>
            <a:r>
              <a:rPr lang="en-US" sz="1800" b="0" i="0" u="none" strike="noStrike" baseline="0" dirty="0">
                <a:latin typeface="Times New Roman" panose="02020603050405020304" pitchFamily="18" charset="0"/>
                <a:cs typeface="Times New Roman" panose="02020603050405020304" pitchFamily="18" charset="0"/>
              </a:rPr>
              <a:t>("</a:t>
            </a:r>
            <a:r>
              <a:rPr lang="en-US" sz="1800" b="0" i="0" u="none" strike="noStrike" baseline="0" dirty="0" err="1">
                <a:latin typeface="Times New Roman" panose="02020603050405020304" pitchFamily="18" charset="0"/>
                <a:cs typeface="Times New Roman" panose="02020603050405020304" pitchFamily="18" charset="0"/>
              </a:rPr>
              <a:t>rotate_left</a:t>
            </a:r>
            <a:r>
              <a:rPr lang="en-US" sz="1800" b="0" i="0" u="none" strike="noStrike" baseline="0" dirty="0">
                <a:latin typeface="Times New Roman" panose="02020603050405020304" pitchFamily="18" charset="0"/>
                <a:cs typeface="Times New Roman" panose="02020603050405020304" pitchFamily="18" charset="0"/>
              </a:rPr>
              <a:t>(0x%08" PRIx32 ") returned 0x%08"</a:t>
            </a:r>
          </a:p>
          <a:p>
            <a:pPr algn="just"/>
            <a:r>
              <a:rPr lang="en-IN" sz="1800" b="0" i="0" u="none" strike="noStrike" baseline="0" dirty="0">
                <a:latin typeface="Times New Roman" panose="02020603050405020304" pitchFamily="18" charset="0"/>
                <a:cs typeface="Times New Roman" panose="02020603050405020304" pitchFamily="18" charset="0"/>
              </a:rPr>
              <a:t>PRIx32 "\n", bits, </a:t>
            </a:r>
            <a:r>
              <a:rPr lang="en-IN" sz="1800" b="0" i="0" u="none" strike="noStrike" baseline="0" dirty="0" err="1">
                <a:latin typeface="Times New Roman" panose="02020603050405020304" pitchFamily="18" charset="0"/>
                <a:cs typeface="Times New Roman" panose="02020603050405020304" pitchFamily="18" charset="0"/>
              </a:rPr>
              <a:t>rol</a:t>
            </a:r>
            <a:r>
              <a:rPr lang="en-IN" sz="1800" b="0" i="0" u="none" strike="noStrike" baseline="0" dirty="0">
                <a:latin typeface="Times New Roman" panose="02020603050405020304" pitchFamily="18" charset="0"/>
                <a:cs typeface="Times New Roman" panose="02020603050405020304" pitchFamily="18" charset="0"/>
              </a:rPr>
              <a:t>);</a:t>
            </a:r>
          </a:p>
          <a:p>
            <a:pPr algn="just"/>
            <a:r>
              <a:rPr lang="en-US" sz="1800" b="0" i="0" u="none" strike="noStrike" baseline="0" dirty="0">
                <a:latin typeface="Times New Roman" panose="02020603050405020304" pitchFamily="18" charset="0"/>
                <a:cs typeface="Times New Roman" panose="02020603050405020304" pitchFamily="18" charset="0"/>
              </a:rPr>
              <a:t>Build, flash and monitor the program as follows:</a:t>
            </a:r>
          </a:p>
          <a:p>
            <a:pPr algn="just"/>
            <a:r>
              <a:rPr lang="it-IT" sz="1800" b="0" i="0" u="none" strike="noStrike" baseline="0" dirty="0">
                <a:latin typeface="Times New Roman" panose="02020603050405020304" pitchFamily="18" charset="0"/>
                <a:cs typeface="Times New Roman" panose="02020603050405020304" pitchFamily="18" charset="0"/>
              </a:rPr>
              <a:t>$ cd ~/riscv/repo/09/rol</a:t>
            </a:r>
          </a:p>
          <a:p>
            <a:pPr algn="just"/>
            <a:r>
              <a:rPr lang="en-IN" sz="1800" b="0" i="0" u="none" strike="noStrike" baseline="0" dirty="0">
                <a:latin typeface="Times New Roman" panose="02020603050405020304" pitchFamily="18" charset="0"/>
                <a:cs typeface="Times New Roman" panose="02020603050405020304" pitchFamily="18" charset="0"/>
              </a:rPr>
              <a:t>$ idf.py build</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0F42397E-DC80-11F3-D4B7-DC92E2B4AEDE}"/>
              </a:ext>
            </a:extLst>
          </p:cNvPr>
          <p:cNvPicPr>
            <a:picLocks noChangeAspect="1"/>
          </p:cNvPicPr>
          <p:nvPr/>
        </p:nvPicPr>
        <p:blipFill>
          <a:blip r:embed="rId3"/>
          <a:stretch>
            <a:fillRect/>
          </a:stretch>
        </p:blipFill>
        <p:spPr>
          <a:xfrm>
            <a:off x="6096000" y="1361714"/>
            <a:ext cx="5743921" cy="5356961"/>
          </a:xfrm>
          <a:prstGeom prst="rect">
            <a:avLst/>
          </a:prstGeom>
        </p:spPr>
      </p:pic>
    </p:spTree>
    <p:extLst>
      <p:ext uri="{BB962C8B-B14F-4D97-AF65-F5344CB8AC3E}">
        <p14:creationId xmlns:p14="http://schemas.microsoft.com/office/powerpoint/2010/main" val="2383150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61AF5-7B11-4034-082A-519C37CEEC19}"/>
              </a:ext>
            </a:extLst>
          </p:cNvPr>
          <p:cNvSpPr>
            <a:spLocks noGrp="1"/>
          </p:cNvSpPr>
          <p:nvPr>
            <p:ph type="title"/>
          </p:nvPr>
        </p:nvSpPr>
        <p:spPr/>
        <p:txBody>
          <a:bodyPr/>
          <a:lstStyle/>
          <a:p>
            <a:pPr algn="just"/>
            <a:r>
              <a:rPr lang="en-IN" b="1" dirty="0">
                <a:latin typeface="Times New Roman" panose="02020603050405020304" pitchFamily="18" charset="0"/>
                <a:cs typeface="Times New Roman" panose="02020603050405020304" pitchFamily="18" charset="0"/>
              </a:rPr>
              <a:t>RV64 Rotate Left</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DE330AD-5CBB-0E13-3CC9-14B98409122F}"/>
              </a:ext>
            </a:extLst>
          </p:cNvPr>
          <p:cNvSpPr txBox="1"/>
          <p:nvPr/>
        </p:nvSpPr>
        <p:spPr>
          <a:xfrm>
            <a:off x="481263" y="1690688"/>
            <a:ext cx="4973053" cy="3416320"/>
          </a:xfrm>
          <a:prstGeom prst="rect">
            <a:avLst/>
          </a:prstGeom>
          <a:noFill/>
        </p:spPr>
        <p:txBody>
          <a:bodyPr wrap="square">
            <a:spAutoFit/>
          </a:bodyPr>
          <a:lstStyle/>
          <a:p>
            <a:pPr algn="just"/>
            <a:r>
              <a:rPr lang="en-US" sz="1800" b="0" i="0" u="none" strike="noStrike" baseline="0" dirty="0">
                <a:latin typeface="Times New Roman" panose="02020603050405020304" pitchFamily="18" charset="0"/>
                <a:cs typeface="Times New Roman" panose="02020603050405020304" pitchFamily="18" charset="0"/>
              </a:rPr>
              <a:t>Under RV64, we have 64-bit registers to work with and Listing 9.3 illustrates a version of the same for running under QEMU. The only difference is the comment in line5 is modified to reflect 64 bits.</a:t>
            </a:r>
          </a:p>
          <a:p>
            <a:pPr algn="just"/>
            <a:endParaRPr lang="en-US" sz="1800" b="0" i="0" u="none" strike="noStrike" baseline="0" dirty="0">
              <a:latin typeface="Times New Roman" panose="02020603050405020304" pitchFamily="18" charset="0"/>
              <a:cs typeface="Times New Roman" panose="02020603050405020304" pitchFamily="18" charset="0"/>
            </a:endParaRPr>
          </a:p>
          <a:p>
            <a:pPr algn="just"/>
            <a:r>
              <a:rPr lang="en-US" sz="1800" b="0" i="0" u="none" strike="noStrike" baseline="0" dirty="0">
                <a:latin typeface="Times New Roman" panose="02020603050405020304" pitchFamily="18" charset="0"/>
                <a:cs typeface="Times New Roman" panose="02020603050405020304" pitchFamily="18" charset="0"/>
              </a:rPr>
              <a:t>Program for </a:t>
            </a:r>
            <a:r>
              <a:rPr lang="en-US" sz="1800" b="0" i="0" u="none" strike="noStrike" baseline="0" dirty="0" err="1">
                <a:latin typeface="Times New Roman" panose="02020603050405020304" pitchFamily="18" charset="0"/>
                <a:cs typeface="Times New Roman" panose="02020603050405020304" pitchFamily="18" charset="0"/>
              </a:rPr>
              <a:t>rotate_left</a:t>
            </a:r>
            <a:r>
              <a:rPr lang="en-US" sz="1800" b="0" i="0" u="none" strike="noStrike" baseline="0" dirty="0">
                <a:latin typeface="Times New Roman" panose="02020603050405020304" pitchFamily="18" charset="0"/>
                <a:cs typeface="Times New Roman" panose="02020603050405020304" pitchFamily="18" charset="0"/>
              </a:rPr>
              <a:t>() function,</a:t>
            </a:r>
          </a:p>
          <a:p>
            <a:pPr algn="just"/>
            <a:r>
              <a:rPr lang="en-IN" sz="1800" b="0" i="0" u="none" strike="noStrike" baseline="0" dirty="0">
                <a:latin typeface="Times New Roman" panose="02020603050405020304" pitchFamily="18" charset="0"/>
                <a:cs typeface="Times New Roman" panose="02020603050405020304" pitchFamily="18" charset="0"/>
              </a:rPr>
              <a:t>~/</a:t>
            </a:r>
            <a:r>
              <a:rPr lang="en-IN" sz="1800" b="0" i="0" u="none" strike="noStrike" baseline="0" dirty="0" err="1">
                <a:latin typeface="Times New Roman" panose="02020603050405020304" pitchFamily="18" charset="0"/>
                <a:cs typeface="Times New Roman" panose="02020603050405020304" pitchFamily="18" charset="0"/>
              </a:rPr>
              <a:t>riscv</a:t>
            </a:r>
            <a:r>
              <a:rPr lang="en-IN" sz="1800" b="0" i="0" u="none" strike="noStrike" baseline="0" dirty="0">
                <a:latin typeface="Times New Roman" panose="02020603050405020304" pitchFamily="18" charset="0"/>
                <a:cs typeface="Times New Roman" panose="02020603050405020304" pitchFamily="18" charset="0"/>
              </a:rPr>
              <a:t>/repo/09/</a:t>
            </a:r>
            <a:r>
              <a:rPr lang="en-IN" sz="1800" b="0" i="0" u="none" strike="noStrike" baseline="0" dirty="0" err="1">
                <a:latin typeface="Times New Roman" panose="02020603050405020304" pitchFamily="18" charset="0"/>
                <a:cs typeface="Times New Roman" panose="02020603050405020304" pitchFamily="18" charset="0"/>
              </a:rPr>
              <a:t>rol</a:t>
            </a:r>
            <a:r>
              <a:rPr lang="en-IN" sz="1800" b="0" i="0" u="none" strike="noStrike" baseline="0" dirty="0">
                <a:latin typeface="Times New Roman" panose="02020603050405020304" pitchFamily="18" charset="0"/>
                <a:cs typeface="Times New Roman" panose="02020603050405020304" pitchFamily="18" charset="0"/>
              </a:rPr>
              <a:t>/qemu64/</a:t>
            </a:r>
            <a:r>
              <a:rPr lang="en-IN" sz="1800" b="0" i="0" u="none" strike="noStrike" baseline="0" dirty="0" err="1">
                <a:latin typeface="Times New Roman" panose="02020603050405020304" pitchFamily="18" charset="0"/>
                <a:cs typeface="Times New Roman" panose="02020603050405020304" pitchFamily="18" charset="0"/>
              </a:rPr>
              <a:t>rol.S</a:t>
            </a:r>
            <a:r>
              <a:rPr lang="en-IN" sz="1800" b="0" i="0" u="none" strike="noStrike" baseline="0" dirty="0">
                <a:latin typeface="Times New Roman" panose="02020603050405020304" pitchFamily="18" charset="0"/>
                <a:cs typeface="Times New Roman" panose="02020603050405020304" pitchFamily="18" charset="0"/>
              </a:rPr>
              <a:t>.</a:t>
            </a:r>
          </a:p>
          <a:p>
            <a:pPr algn="just"/>
            <a:endParaRPr lang="en-IN" sz="1800" b="0" i="0" u="none" strike="noStrike" baseline="0" dirty="0">
              <a:latin typeface="Times New Roman" panose="02020603050405020304" pitchFamily="18" charset="0"/>
              <a:cs typeface="Times New Roman" panose="02020603050405020304" pitchFamily="18" charset="0"/>
            </a:endParaRPr>
          </a:p>
          <a:p>
            <a:pPr algn="just"/>
            <a:r>
              <a:rPr lang="en-IN" sz="1800" b="0" i="0" u="none" strike="noStrike" baseline="0" dirty="0">
                <a:latin typeface="Times New Roman" panose="02020603050405020304" pitchFamily="18" charset="0"/>
                <a:cs typeface="Times New Roman" panose="02020603050405020304" pitchFamily="18" charset="0"/>
              </a:rPr>
              <a:t>The main program in</a:t>
            </a:r>
          </a:p>
          <a:p>
            <a:pPr algn="just"/>
            <a:r>
              <a:rPr lang="en-IN" sz="1800" b="0" i="0" u="none" strike="noStrike" baseline="0" dirty="0">
                <a:latin typeface="Times New Roman" panose="02020603050405020304" pitchFamily="18" charset="0"/>
                <a:cs typeface="Times New Roman" panose="02020603050405020304" pitchFamily="18" charset="0"/>
              </a:rPr>
              <a:t>~/</a:t>
            </a:r>
            <a:r>
              <a:rPr lang="en-IN" sz="1800" b="0" i="0" u="none" strike="noStrike" baseline="0" dirty="0" err="1">
                <a:latin typeface="Times New Roman" panose="02020603050405020304" pitchFamily="18" charset="0"/>
                <a:cs typeface="Times New Roman" panose="02020603050405020304" pitchFamily="18" charset="0"/>
              </a:rPr>
              <a:t>riscv</a:t>
            </a:r>
            <a:r>
              <a:rPr lang="en-IN" sz="1800" b="0" i="0" u="none" strike="noStrike" baseline="0" dirty="0">
                <a:latin typeface="Times New Roman" panose="02020603050405020304" pitchFamily="18" charset="0"/>
                <a:cs typeface="Times New Roman" panose="02020603050405020304" pitchFamily="18" charset="0"/>
              </a:rPr>
              <a:t>/repo/09/</a:t>
            </a:r>
            <a:r>
              <a:rPr lang="en-IN" sz="1800" b="0" i="0" u="none" strike="noStrike" baseline="0" dirty="0" err="1">
                <a:latin typeface="Times New Roman" panose="02020603050405020304" pitchFamily="18" charset="0"/>
                <a:cs typeface="Times New Roman" panose="02020603050405020304" pitchFamily="18" charset="0"/>
              </a:rPr>
              <a:t>rol</a:t>
            </a:r>
            <a:r>
              <a:rPr lang="en-IN" sz="1800" b="0" i="0" u="none" strike="noStrike" baseline="0" dirty="0">
                <a:latin typeface="Times New Roman" panose="02020603050405020304" pitchFamily="18" charset="0"/>
                <a:cs typeface="Times New Roman" panose="02020603050405020304" pitchFamily="18" charset="0"/>
              </a:rPr>
              <a:t>/qemu64/</a:t>
            </a:r>
            <a:r>
              <a:rPr lang="en-IN" sz="1800" b="0" i="0" u="none" strike="noStrike" baseline="0" dirty="0" err="1">
                <a:latin typeface="Times New Roman" panose="02020603050405020304" pitchFamily="18" charset="0"/>
                <a:cs typeface="Times New Roman" panose="02020603050405020304" pitchFamily="18" charset="0"/>
              </a:rPr>
              <a:t>main.c</a:t>
            </a:r>
            <a:r>
              <a:rPr lang="en-IN" sz="1800" b="0" i="0" u="none" strike="noStrike" baseline="0" dirty="0">
                <a:latin typeface="Times New Roman" panose="02020603050405020304" pitchFamily="18" charset="0"/>
                <a:cs typeface="Times New Roman" panose="02020603050405020304" pitchFamily="18" charset="0"/>
              </a:rPr>
              <a:t>.</a:t>
            </a:r>
          </a:p>
          <a:p>
            <a:pPr algn="just"/>
            <a:r>
              <a:rPr lang="en-IN" sz="1800" b="0" i="0" u="none" strike="noStrike" baseline="0" dirty="0">
                <a:latin typeface="Times New Roman" panose="02020603050405020304" pitchFamily="18" charset="0"/>
                <a:cs typeface="Times New Roman" panose="02020603050405020304" pitchFamily="18" charset="0"/>
              </a:rPr>
              <a:t>$ </a:t>
            </a:r>
            <a:r>
              <a:rPr lang="en-IN" sz="1800" b="0" i="0" u="none" strike="noStrike" baseline="0" dirty="0" err="1">
                <a:latin typeface="Times New Roman" panose="02020603050405020304" pitchFamily="18" charset="0"/>
                <a:cs typeface="Times New Roman" panose="02020603050405020304" pitchFamily="18" charset="0"/>
              </a:rPr>
              <a:t>gcc</a:t>
            </a:r>
            <a:r>
              <a:rPr lang="en-IN" sz="1800" b="0" i="0" u="none" strike="noStrike" baseline="0" dirty="0">
                <a:latin typeface="Times New Roman" panose="02020603050405020304" pitchFamily="18" charset="0"/>
                <a:cs typeface="Times New Roman" panose="02020603050405020304" pitchFamily="18" charset="0"/>
              </a:rPr>
              <a:t> -g </a:t>
            </a:r>
            <a:r>
              <a:rPr lang="en-IN" sz="1800" b="0" i="0" u="none" strike="noStrike" baseline="0" dirty="0" err="1">
                <a:latin typeface="Times New Roman" panose="02020603050405020304" pitchFamily="18" charset="0"/>
                <a:cs typeface="Times New Roman" panose="02020603050405020304" pitchFamily="18" charset="0"/>
              </a:rPr>
              <a:t>rol.S</a:t>
            </a:r>
            <a:r>
              <a:rPr lang="en-IN" sz="1800" b="0" i="0" u="none" strike="noStrike" baseline="0" dirty="0">
                <a:latin typeface="Times New Roman" panose="02020603050405020304" pitchFamily="18" charset="0"/>
                <a:cs typeface="Times New Roman" panose="02020603050405020304" pitchFamily="18" charset="0"/>
              </a:rPr>
              <a:t> </a:t>
            </a:r>
            <a:r>
              <a:rPr lang="en-IN" sz="1800" b="0" i="0" u="none" strike="noStrike" baseline="0" dirty="0" err="1">
                <a:latin typeface="Times New Roman" panose="02020603050405020304" pitchFamily="18" charset="0"/>
                <a:cs typeface="Times New Roman" panose="02020603050405020304" pitchFamily="18" charset="0"/>
              </a:rPr>
              <a:t>main.c</a:t>
            </a:r>
            <a:endParaRPr lang="en-IN" sz="1800" b="0" i="0" u="none" strike="noStrike" baseline="0" dirty="0">
              <a:latin typeface="Times New Roman" panose="02020603050405020304" pitchFamily="18" charset="0"/>
              <a:cs typeface="Times New Roman" panose="02020603050405020304" pitchFamily="18" charset="0"/>
            </a:endParaRPr>
          </a:p>
          <a:p>
            <a:pPr algn="just"/>
            <a:r>
              <a:rPr lang="en-IN" sz="1800" b="0" i="0" u="none" strike="noStrike" baseline="0" dirty="0">
                <a:latin typeface="Times New Roman" panose="02020603050405020304" pitchFamily="18" charset="0"/>
                <a:cs typeface="Times New Roman" panose="02020603050405020304" pitchFamily="18" charset="0"/>
              </a:rPr>
              <a:t>$ ./</a:t>
            </a:r>
            <a:r>
              <a:rPr lang="en-IN" sz="1800" b="0" i="0" u="none" strike="noStrike" baseline="0" dirty="0" err="1">
                <a:latin typeface="Times New Roman" panose="02020603050405020304" pitchFamily="18" charset="0"/>
                <a:cs typeface="Times New Roman" panose="02020603050405020304" pitchFamily="18" charset="0"/>
              </a:rPr>
              <a:t>a.out</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5437C09-16A1-F1A8-CC2D-CC85ECAD02AB}"/>
              </a:ext>
            </a:extLst>
          </p:cNvPr>
          <p:cNvPicPr>
            <a:picLocks noChangeAspect="1"/>
          </p:cNvPicPr>
          <p:nvPr/>
        </p:nvPicPr>
        <p:blipFill>
          <a:blip r:embed="rId2"/>
          <a:stretch>
            <a:fillRect/>
          </a:stretch>
        </p:blipFill>
        <p:spPr>
          <a:xfrm>
            <a:off x="5759116" y="585309"/>
            <a:ext cx="6095999" cy="3052238"/>
          </a:xfrm>
          <a:prstGeom prst="rect">
            <a:avLst/>
          </a:prstGeom>
        </p:spPr>
      </p:pic>
      <p:pic>
        <p:nvPicPr>
          <p:cNvPr id="9" name="Picture 8">
            <a:extLst>
              <a:ext uri="{FF2B5EF4-FFF2-40B4-BE49-F238E27FC236}">
                <a16:creationId xmlns:a16="http://schemas.microsoft.com/office/drawing/2014/main" id="{90F94D7F-E4BF-A10F-60EB-37FEA7053AAA}"/>
              </a:ext>
            </a:extLst>
          </p:cNvPr>
          <p:cNvPicPr>
            <a:picLocks noChangeAspect="1"/>
          </p:cNvPicPr>
          <p:nvPr/>
        </p:nvPicPr>
        <p:blipFill>
          <a:blip r:embed="rId3"/>
          <a:stretch>
            <a:fillRect/>
          </a:stretch>
        </p:blipFill>
        <p:spPr>
          <a:xfrm>
            <a:off x="5759115" y="3637547"/>
            <a:ext cx="6095999" cy="3116496"/>
          </a:xfrm>
          <a:prstGeom prst="rect">
            <a:avLst/>
          </a:prstGeom>
        </p:spPr>
      </p:pic>
      <p:sp>
        <p:nvSpPr>
          <p:cNvPr id="11" name="TextBox 10">
            <a:extLst>
              <a:ext uri="{FF2B5EF4-FFF2-40B4-BE49-F238E27FC236}">
                <a16:creationId xmlns:a16="http://schemas.microsoft.com/office/drawing/2014/main" id="{66FE5740-596F-2EC9-0DDA-10ECFA281765}"/>
              </a:ext>
            </a:extLst>
          </p:cNvPr>
          <p:cNvSpPr txBox="1"/>
          <p:nvPr/>
        </p:nvSpPr>
        <p:spPr>
          <a:xfrm>
            <a:off x="481263" y="5195795"/>
            <a:ext cx="4973053" cy="923330"/>
          </a:xfrm>
          <a:prstGeom prst="rect">
            <a:avLst/>
          </a:prstGeom>
          <a:noFill/>
        </p:spPr>
        <p:txBody>
          <a:bodyPr wrap="square">
            <a:spAutoFit/>
          </a:bodyPr>
          <a:lstStyle/>
          <a:p>
            <a:pPr algn="just"/>
            <a:r>
              <a:rPr lang="en-US" sz="1800" b="0" i="0" u="none" strike="noStrike" baseline="0" dirty="0">
                <a:latin typeface="Times New Roman" panose="02020603050405020304" pitchFamily="18" charset="0"/>
                <a:cs typeface="Times New Roman" panose="02020603050405020304" pitchFamily="18" charset="0"/>
              </a:rPr>
              <a:t>The result shows proof positive that the rotate left was correct because the original value returned after 64 </a:t>
            </a:r>
            <a:r>
              <a:rPr lang="en-IN" sz="1800" b="0" i="0" u="none" strike="noStrike" baseline="0" dirty="0">
                <a:latin typeface="Times New Roman" panose="02020603050405020304" pitchFamily="18" charset="0"/>
                <a:cs typeface="Times New Roman" panose="02020603050405020304" pitchFamily="18" charset="0"/>
              </a:rPr>
              <a:t>iterations.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8822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E39EA-24D7-CB44-2285-ED2858E7F2B0}"/>
              </a:ext>
            </a:extLst>
          </p:cNvPr>
          <p:cNvSpPr>
            <a:spLocks noGrp="1"/>
          </p:cNvSpPr>
          <p:nvPr>
            <p:ph type="title"/>
          </p:nvPr>
        </p:nvSpPr>
        <p:spPr>
          <a:xfrm>
            <a:off x="855955" y="223824"/>
            <a:ext cx="9690717" cy="913739"/>
          </a:xfrm>
        </p:spPr>
        <p:txBody>
          <a:bodyPr/>
          <a:lstStyle/>
          <a:p>
            <a:pPr algn="just"/>
            <a:r>
              <a:rPr lang="en-IN" b="1" dirty="0">
                <a:latin typeface="Times New Roman" panose="02020603050405020304" pitchFamily="18" charset="0"/>
                <a:cs typeface="Times New Roman" panose="02020603050405020304" pitchFamily="18" charset="0"/>
              </a:rPr>
              <a:t>ESP32-C3 Rotate Right</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F04FFBB-5491-68C3-1FD6-047D5AF9B27D}"/>
              </a:ext>
            </a:extLst>
          </p:cNvPr>
          <p:cNvSpPr txBox="1"/>
          <p:nvPr/>
        </p:nvSpPr>
        <p:spPr>
          <a:xfrm>
            <a:off x="641684" y="1278864"/>
            <a:ext cx="5598695" cy="5078313"/>
          </a:xfrm>
          <a:prstGeom prst="rect">
            <a:avLst/>
          </a:prstGeom>
          <a:noFill/>
        </p:spPr>
        <p:txBody>
          <a:bodyPr wrap="square">
            <a:spAutoFit/>
          </a:bodyPr>
          <a:lstStyle/>
          <a:p>
            <a:pPr algn="just"/>
            <a:r>
              <a:rPr lang="en-US" sz="1800" b="0" i="0" u="none" strike="noStrike" baseline="0" dirty="0">
                <a:latin typeface="Times New Roman" panose="02020603050405020304" pitchFamily="18" charset="0"/>
                <a:cs typeface="Times New Roman" panose="02020603050405020304" pitchFamily="18" charset="0"/>
              </a:rPr>
              <a:t>Rotating the bits to the right requires an extra step, as shown in Listing 9.5. Line 5 performs an "and immediate“ operation placing a 1 or 0 into register a1. This example als</a:t>
            </a:r>
            <a:r>
              <a:rPr lang="en-US" dirty="0">
                <a:latin typeface="Times New Roman" panose="02020603050405020304" pitchFamily="18" charset="0"/>
                <a:cs typeface="Times New Roman" panose="02020603050405020304" pitchFamily="18" charset="0"/>
              </a:rPr>
              <a:t>o </a:t>
            </a:r>
            <a:r>
              <a:rPr lang="en-US" sz="1800" b="0" i="0" u="none" strike="noStrike" baseline="0" dirty="0">
                <a:latin typeface="Times New Roman" panose="02020603050405020304" pitchFamily="18" charset="0"/>
                <a:cs typeface="Times New Roman" panose="02020603050405020304" pitchFamily="18" charset="0"/>
              </a:rPr>
              <a:t>illustrates that you can work with unused argument registers as temporary registers. Line 6 shifts that result in a1 up to bit 31. Then the argument value in a0 is shifted right (logical) one bit in line 7. Finally, the bit saved in a1 is or-ed into register a0 (line</a:t>
            </a:r>
            <a:r>
              <a:rPr lang="en-IN" sz="1800" b="0" i="0" u="none" strike="noStrike" baseline="0" dirty="0">
                <a:latin typeface="Times New Roman" panose="02020603050405020304" pitchFamily="18" charset="0"/>
                <a:cs typeface="Times New Roman" panose="02020603050405020304" pitchFamily="18" charset="0"/>
              </a:rPr>
              <a:t>8) and then returned.</a:t>
            </a:r>
          </a:p>
          <a:p>
            <a:pPr algn="just"/>
            <a:endParaRPr lang="en-IN" sz="1800" b="0" i="0" u="none" strike="noStrike" baseline="0" dirty="0">
              <a:latin typeface="Times New Roman" panose="02020603050405020304" pitchFamily="18" charset="0"/>
              <a:cs typeface="Times New Roman" panose="02020603050405020304" pitchFamily="18" charset="0"/>
            </a:endParaRPr>
          </a:p>
          <a:p>
            <a:pPr algn="just"/>
            <a:r>
              <a:rPr lang="en-US" sz="1800" b="0" i="0" u="none" strike="noStrike" baseline="0" dirty="0">
                <a:latin typeface="Times New Roman" panose="02020603050405020304" pitchFamily="18" charset="0"/>
                <a:cs typeface="Times New Roman" panose="02020603050405020304" pitchFamily="18" charset="0"/>
              </a:rPr>
              <a:t>Program for </a:t>
            </a:r>
            <a:r>
              <a:rPr lang="en-US" sz="1800" b="0" i="0" u="none" strike="noStrike" baseline="0" dirty="0" err="1">
                <a:latin typeface="Times New Roman" panose="02020603050405020304" pitchFamily="18" charset="0"/>
                <a:cs typeface="Times New Roman" panose="02020603050405020304" pitchFamily="18" charset="0"/>
              </a:rPr>
              <a:t>rotate_right</a:t>
            </a:r>
            <a:r>
              <a:rPr lang="en-US" sz="1800" b="0" i="0" u="none" strike="noStrike" baseline="0" dirty="0">
                <a:latin typeface="Times New Roman" panose="02020603050405020304" pitchFamily="18" charset="0"/>
                <a:cs typeface="Times New Roman" panose="02020603050405020304" pitchFamily="18" charset="0"/>
              </a:rPr>
              <a:t>() function,</a:t>
            </a:r>
          </a:p>
          <a:p>
            <a:pPr algn="just"/>
            <a:r>
              <a:rPr lang="en-IN" sz="1800" b="0" i="0" u="none" strike="noStrike" baseline="0" dirty="0">
                <a:latin typeface="Times New Roman" panose="02020603050405020304" pitchFamily="18" charset="0"/>
                <a:cs typeface="Times New Roman" panose="02020603050405020304" pitchFamily="18" charset="0"/>
              </a:rPr>
              <a:t>~/</a:t>
            </a:r>
            <a:r>
              <a:rPr lang="en-IN" sz="1800" b="0" i="0" u="none" strike="noStrike" baseline="0" dirty="0" err="1">
                <a:latin typeface="Times New Roman" panose="02020603050405020304" pitchFamily="18" charset="0"/>
                <a:cs typeface="Times New Roman" panose="02020603050405020304" pitchFamily="18" charset="0"/>
              </a:rPr>
              <a:t>riscv</a:t>
            </a:r>
            <a:r>
              <a:rPr lang="en-IN" sz="1800" b="0" i="0" u="none" strike="noStrike" baseline="0" dirty="0">
                <a:latin typeface="Times New Roman" panose="02020603050405020304" pitchFamily="18" charset="0"/>
                <a:cs typeface="Times New Roman" panose="02020603050405020304" pitchFamily="18" charset="0"/>
              </a:rPr>
              <a:t>/repo/09/</a:t>
            </a:r>
            <a:r>
              <a:rPr lang="en-IN" sz="1800" b="0" i="0" u="none" strike="noStrike" baseline="0" dirty="0" err="1">
                <a:latin typeface="Times New Roman" panose="02020603050405020304" pitchFamily="18" charset="0"/>
                <a:cs typeface="Times New Roman" panose="02020603050405020304" pitchFamily="18" charset="0"/>
              </a:rPr>
              <a:t>ror</a:t>
            </a:r>
            <a:r>
              <a:rPr lang="en-IN" sz="1800" b="0" i="0" u="none" strike="noStrike" baseline="0" dirty="0">
                <a:latin typeface="Times New Roman" panose="02020603050405020304" pitchFamily="18" charset="0"/>
                <a:cs typeface="Times New Roman" panose="02020603050405020304" pitchFamily="18" charset="0"/>
              </a:rPr>
              <a:t>/main/</a:t>
            </a:r>
            <a:r>
              <a:rPr lang="en-IN" sz="1800" b="0" i="0" u="none" strike="noStrike" baseline="0" dirty="0" err="1">
                <a:latin typeface="Times New Roman" panose="02020603050405020304" pitchFamily="18" charset="0"/>
                <a:cs typeface="Times New Roman" panose="02020603050405020304" pitchFamily="18" charset="0"/>
              </a:rPr>
              <a:t>ror.S</a:t>
            </a:r>
            <a:r>
              <a:rPr lang="en-IN" sz="1800" b="0" i="0" u="none" strike="noStrike" baseline="0" dirty="0">
                <a:latin typeface="Times New Roman" panose="02020603050405020304" pitchFamily="18" charset="0"/>
                <a:cs typeface="Times New Roman" panose="02020603050405020304" pitchFamily="18" charset="0"/>
              </a:rPr>
              <a:t>.</a:t>
            </a:r>
          </a:p>
          <a:p>
            <a:pPr algn="just"/>
            <a:r>
              <a:rPr lang="en-US" sz="1800" b="0" i="0" u="none" strike="noStrike" baseline="0" dirty="0">
                <a:latin typeface="Times New Roman" panose="02020603050405020304" pitchFamily="18" charset="0"/>
                <a:cs typeface="Times New Roman" panose="02020603050405020304" pitchFamily="18" charset="0"/>
              </a:rPr>
              <a:t>The main program to test </a:t>
            </a:r>
            <a:r>
              <a:rPr lang="en-US" sz="1800" b="0" i="0" u="none" strike="noStrike" baseline="0" dirty="0" err="1">
                <a:latin typeface="Times New Roman" panose="02020603050405020304" pitchFamily="18" charset="0"/>
                <a:cs typeface="Times New Roman" panose="02020603050405020304" pitchFamily="18" charset="0"/>
              </a:rPr>
              <a:t>rotate_right</a:t>
            </a:r>
            <a:r>
              <a:rPr lang="en-US" sz="1800" b="0" i="0" u="none" strike="noStrike" baseline="0" dirty="0">
                <a:latin typeface="Times New Roman" panose="02020603050405020304" pitchFamily="18" charset="0"/>
                <a:cs typeface="Times New Roman" panose="02020603050405020304" pitchFamily="18" charset="0"/>
              </a:rPr>
              <a:t>(),</a:t>
            </a:r>
          </a:p>
          <a:p>
            <a:pPr algn="just"/>
            <a:r>
              <a:rPr lang="en-US" sz="1800" b="0" i="0" u="none" strike="noStrike" baseline="0" dirty="0">
                <a:latin typeface="Times New Roman" panose="02020603050405020304" pitchFamily="18" charset="0"/>
                <a:cs typeface="Times New Roman" panose="02020603050405020304" pitchFamily="18" charset="0"/>
              </a:rPr>
              <a:t>~/</a:t>
            </a:r>
            <a:r>
              <a:rPr lang="en-US" sz="1800" b="0" i="0" u="none" strike="noStrike" baseline="0" dirty="0" err="1">
                <a:latin typeface="Times New Roman" panose="02020603050405020304" pitchFamily="18" charset="0"/>
                <a:cs typeface="Times New Roman" panose="02020603050405020304" pitchFamily="18" charset="0"/>
              </a:rPr>
              <a:t>riscv</a:t>
            </a:r>
            <a:r>
              <a:rPr lang="en-US" sz="1800" b="0" i="0" u="none" strike="noStrike" baseline="0" dirty="0">
                <a:latin typeface="Times New Roman" panose="02020603050405020304" pitchFamily="18" charset="0"/>
                <a:cs typeface="Times New Roman" panose="02020603050405020304" pitchFamily="18" charset="0"/>
              </a:rPr>
              <a:t>/repo/09/</a:t>
            </a:r>
            <a:r>
              <a:rPr lang="en-US" sz="1800" b="0" i="0" u="none" strike="noStrike" baseline="0" dirty="0" err="1">
                <a:latin typeface="Times New Roman" panose="02020603050405020304" pitchFamily="18" charset="0"/>
                <a:cs typeface="Times New Roman" panose="02020603050405020304" pitchFamily="18" charset="0"/>
              </a:rPr>
              <a:t>ror</a:t>
            </a:r>
            <a:r>
              <a:rPr lang="en-US" sz="1800" b="0" i="0" u="none" strike="noStrike" baseline="0" dirty="0">
                <a:latin typeface="Times New Roman" panose="02020603050405020304" pitchFamily="18" charset="0"/>
                <a:cs typeface="Times New Roman" panose="02020603050405020304" pitchFamily="18" charset="0"/>
              </a:rPr>
              <a:t>/main/</a:t>
            </a:r>
            <a:r>
              <a:rPr lang="en-US" sz="1800" b="0" i="0" u="none" strike="noStrike" baseline="0" dirty="0" err="1">
                <a:latin typeface="Times New Roman" panose="02020603050405020304" pitchFamily="18" charset="0"/>
                <a:cs typeface="Times New Roman" panose="02020603050405020304" pitchFamily="18" charset="0"/>
              </a:rPr>
              <a:t>main.c</a:t>
            </a:r>
            <a:r>
              <a:rPr lang="en-US" sz="1800" b="0" i="0" u="none" strike="noStrike" baseline="0" dirty="0">
                <a:latin typeface="Times New Roman" panose="02020603050405020304" pitchFamily="18" charset="0"/>
                <a:cs typeface="Times New Roman" panose="02020603050405020304" pitchFamily="18" charset="0"/>
              </a:rPr>
              <a:t>.</a:t>
            </a:r>
          </a:p>
          <a:p>
            <a:pPr algn="just"/>
            <a:r>
              <a:rPr lang="en-IN" sz="1800" b="0" i="0" u="none" strike="noStrike" baseline="0" dirty="0">
                <a:latin typeface="Times New Roman" panose="02020603050405020304" pitchFamily="18" charset="0"/>
                <a:cs typeface="Times New Roman" panose="02020603050405020304" pitchFamily="18" charset="0"/>
              </a:rPr>
              <a:t>Modify , code in </a:t>
            </a:r>
            <a:r>
              <a:rPr lang="en-IN" sz="1800" b="0" i="0" u="none" strike="noStrike" baseline="0" dirty="0" err="1">
                <a:latin typeface="Times New Roman" panose="02020603050405020304" pitchFamily="18" charset="0"/>
                <a:cs typeface="Times New Roman" panose="02020603050405020304" pitchFamily="18" charset="0"/>
              </a:rPr>
              <a:t>main.c</a:t>
            </a:r>
            <a:endParaRPr lang="en-IN" sz="1800" b="0" i="0" u="none" strike="noStrike" baseline="0" dirty="0">
              <a:latin typeface="Times New Roman" panose="02020603050405020304" pitchFamily="18" charset="0"/>
              <a:cs typeface="Times New Roman" panose="02020603050405020304" pitchFamily="18" charset="0"/>
            </a:endParaRPr>
          </a:p>
          <a:p>
            <a:pPr algn="just"/>
            <a:r>
              <a:rPr lang="en-IN" sz="1800" b="0" i="0" u="none" strike="noStrike" baseline="0" dirty="0">
                <a:latin typeface="Times New Roman" panose="02020603050405020304" pitchFamily="18" charset="0"/>
                <a:cs typeface="Times New Roman" panose="02020603050405020304" pitchFamily="18" charset="0"/>
              </a:rPr>
              <a:t>Add, #include &lt;</a:t>
            </a:r>
            <a:r>
              <a:rPr lang="en-IN" sz="1800" b="0" i="0" u="none" strike="noStrike" baseline="0" dirty="0" err="1">
                <a:latin typeface="Times New Roman" panose="02020603050405020304" pitchFamily="18" charset="0"/>
                <a:cs typeface="Times New Roman" panose="02020603050405020304" pitchFamily="18" charset="0"/>
              </a:rPr>
              <a:t>inttypes.h</a:t>
            </a:r>
            <a:r>
              <a:rPr lang="en-IN" sz="1800" b="0" i="0" u="none" strike="noStrike" baseline="0" dirty="0">
                <a:latin typeface="Times New Roman" panose="02020603050405020304" pitchFamily="18" charset="0"/>
                <a:cs typeface="Times New Roman" panose="02020603050405020304" pitchFamily="18" charset="0"/>
              </a:rPr>
              <a:t>&gt;</a:t>
            </a:r>
          </a:p>
          <a:p>
            <a:pPr algn="just"/>
            <a:r>
              <a:rPr lang="en-US" sz="1800" b="0" i="0" u="none" strike="noStrike" baseline="0" dirty="0" err="1">
                <a:latin typeface="Times New Roman" panose="02020603050405020304" pitchFamily="18" charset="0"/>
                <a:cs typeface="Times New Roman" panose="02020603050405020304" pitchFamily="18" charset="0"/>
              </a:rPr>
              <a:t>printf</a:t>
            </a:r>
            <a:r>
              <a:rPr lang="en-US" sz="1800" b="0" i="0" u="none" strike="noStrike" baseline="0" dirty="0">
                <a:latin typeface="Times New Roman" panose="02020603050405020304" pitchFamily="18" charset="0"/>
                <a:cs typeface="Times New Roman" panose="02020603050405020304" pitchFamily="18" charset="0"/>
              </a:rPr>
              <a:t>("</a:t>
            </a:r>
            <a:r>
              <a:rPr lang="en-US" sz="1800" b="0" i="0" u="none" strike="noStrike" baseline="0" dirty="0" err="1">
                <a:latin typeface="Times New Roman" panose="02020603050405020304" pitchFamily="18" charset="0"/>
                <a:cs typeface="Times New Roman" panose="02020603050405020304" pitchFamily="18" charset="0"/>
              </a:rPr>
              <a:t>rotate_right</a:t>
            </a:r>
            <a:r>
              <a:rPr lang="en-US" sz="1800" b="0" i="0" u="none" strike="noStrike" baseline="0" dirty="0">
                <a:latin typeface="Times New Roman" panose="02020603050405020304" pitchFamily="18" charset="0"/>
                <a:cs typeface="Times New Roman" panose="02020603050405020304" pitchFamily="18" charset="0"/>
              </a:rPr>
              <a:t>(0x%08" PRIx32 ") returned 0x%08"</a:t>
            </a:r>
          </a:p>
          <a:p>
            <a:pPr algn="just"/>
            <a:r>
              <a:rPr lang="en-IN" sz="1800" b="0" i="0" u="none" strike="noStrike" baseline="0" dirty="0">
                <a:latin typeface="Times New Roman" panose="02020603050405020304" pitchFamily="18" charset="0"/>
                <a:cs typeface="Times New Roman" panose="02020603050405020304" pitchFamily="18" charset="0"/>
              </a:rPr>
              <a:t>PRIx32 "\n", bits, </a:t>
            </a:r>
            <a:r>
              <a:rPr lang="en-IN" sz="1800" b="0" i="0" u="none" strike="noStrike" baseline="0" dirty="0" err="1">
                <a:latin typeface="Times New Roman" panose="02020603050405020304" pitchFamily="18" charset="0"/>
                <a:cs typeface="Times New Roman" panose="02020603050405020304" pitchFamily="18" charset="0"/>
              </a:rPr>
              <a:t>rol</a:t>
            </a:r>
            <a:r>
              <a:rPr lang="en-IN" sz="1800" b="0" i="0" u="none" strike="noStrike" baseline="0" dirty="0">
                <a:latin typeface="Times New Roman" panose="02020603050405020304" pitchFamily="18" charset="0"/>
                <a:cs typeface="Times New Roman" panose="02020603050405020304" pitchFamily="18" charset="0"/>
              </a:rPr>
              <a:t>);</a:t>
            </a:r>
          </a:p>
          <a:p>
            <a:pPr algn="just"/>
            <a:r>
              <a:rPr lang="en-US" sz="1800" b="0" i="0" u="none" strike="noStrike" baseline="0" dirty="0">
                <a:latin typeface="Times New Roman" panose="02020603050405020304" pitchFamily="18" charset="0"/>
                <a:cs typeface="Times New Roman" panose="02020603050405020304" pitchFamily="18" charset="0"/>
              </a:rPr>
              <a:t>Build, flash and monitor the program :</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5E31AE8-39D4-E8AA-BA9E-503311DFC382}"/>
              </a:ext>
            </a:extLst>
          </p:cNvPr>
          <p:cNvPicPr>
            <a:picLocks noChangeAspect="1"/>
          </p:cNvPicPr>
          <p:nvPr/>
        </p:nvPicPr>
        <p:blipFill>
          <a:blip r:embed="rId3"/>
          <a:stretch>
            <a:fillRect/>
          </a:stretch>
        </p:blipFill>
        <p:spPr>
          <a:xfrm>
            <a:off x="6638023" y="1278864"/>
            <a:ext cx="5358922" cy="3719744"/>
          </a:xfrm>
          <a:prstGeom prst="rect">
            <a:avLst/>
          </a:prstGeom>
        </p:spPr>
      </p:pic>
      <p:pic>
        <p:nvPicPr>
          <p:cNvPr id="9" name="Picture 8">
            <a:extLst>
              <a:ext uri="{FF2B5EF4-FFF2-40B4-BE49-F238E27FC236}">
                <a16:creationId xmlns:a16="http://schemas.microsoft.com/office/drawing/2014/main" id="{F71C1455-18FA-3B49-D7DD-971614022B0F}"/>
              </a:ext>
            </a:extLst>
          </p:cNvPr>
          <p:cNvPicPr>
            <a:picLocks noChangeAspect="1"/>
          </p:cNvPicPr>
          <p:nvPr/>
        </p:nvPicPr>
        <p:blipFill>
          <a:blip r:embed="rId4"/>
          <a:stretch>
            <a:fillRect/>
          </a:stretch>
        </p:blipFill>
        <p:spPr>
          <a:xfrm>
            <a:off x="6638023" y="4998608"/>
            <a:ext cx="5358922" cy="1234266"/>
          </a:xfrm>
          <a:prstGeom prst="rect">
            <a:avLst/>
          </a:prstGeom>
        </p:spPr>
      </p:pic>
    </p:spTree>
    <p:extLst>
      <p:ext uri="{BB962C8B-B14F-4D97-AF65-F5344CB8AC3E}">
        <p14:creationId xmlns:p14="http://schemas.microsoft.com/office/powerpoint/2010/main" val="1745716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A54D5-D343-3A36-2718-0BDE78F8CCA4}"/>
              </a:ext>
            </a:extLst>
          </p:cNvPr>
          <p:cNvSpPr>
            <a:spLocks noGrp="1"/>
          </p:cNvSpPr>
          <p:nvPr>
            <p:ph type="title"/>
          </p:nvPr>
        </p:nvSpPr>
        <p:spPr/>
        <p:txBody>
          <a:bodyPr/>
          <a:lstStyle/>
          <a:p>
            <a:pPr algn="just"/>
            <a:r>
              <a:rPr lang="en-IN" dirty="0">
                <a:latin typeface="Times New Roman" panose="02020603050405020304" pitchFamily="18" charset="0"/>
                <a:cs typeface="Times New Roman" panose="02020603050405020304" pitchFamily="18" charset="0"/>
              </a:rPr>
              <a:t>Pseudo Opcodes</a:t>
            </a:r>
          </a:p>
        </p:txBody>
      </p:sp>
      <p:sp>
        <p:nvSpPr>
          <p:cNvPr id="3" name="Content Placeholder 2">
            <a:extLst>
              <a:ext uri="{FF2B5EF4-FFF2-40B4-BE49-F238E27FC236}">
                <a16:creationId xmlns:a16="http://schemas.microsoft.com/office/drawing/2014/main" id="{C6A79F92-6641-A475-63DF-0969EEA62E6B}"/>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The "not" opcode is the same as the familiar one’s complement (~) operator in C. The "neg" opcode produces a two's complement value by subtracting </a:t>
            </a:r>
            <a:r>
              <a:rPr lang="en-US" dirty="0" err="1">
                <a:latin typeface="Times New Roman" panose="02020603050405020304" pitchFamily="18" charset="0"/>
                <a:cs typeface="Times New Roman" panose="02020603050405020304" pitchFamily="18" charset="0"/>
              </a:rPr>
              <a:t>rs</a:t>
            </a:r>
            <a:r>
              <a:rPr lang="en-US" dirty="0">
                <a:latin typeface="Times New Roman" panose="02020603050405020304" pitchFamily="18" charset="0"/>
                <a:cs typeface="Times New Roman" panose="02020603050405020304" pitchFamily="18" charset="0"/>
              </a:rPr>
              <a:t> from zero. The "</a:t>
            </a:r>
            <a:r>
              <a:rPr lang="en-US" dirty="0" err="1">
                <a:latin typeface="Times New Roman" panose="02020603050405020304" pitchFamily="18" charset="0"/>
                <a:cs typeface="Times New Roman" panose="02020603050405020304" pitchFamily="18" charset="0"/>
              </a:rPr>
              <a:t>negw</a:t>
            </a:r>
            <a:r>
              <a:rPr lang="en-US" dirty="0">
                <a:latin typeface="Times New Roman" panose="02020603050405020304" pitchFamily="18" charset="0"/>
                <a:cs typeface="Times New Roman" panose="02020603050405020304" pitchFamily="18" charset="0"/>
              </a:rPr>
              <a:t>" is for the RV64 and larger platforms to treat a 64-bit value initially as a 32-bit value and then sign extend the result.</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8265F0D-1BCF-8833-B6AF-8D37C2E36159}"/>
              </a:ext>
            </a:extLst>
          </p:cNvPr>
          <p:cNvPicPr>
            <a:picLocks noChangeAspect="1"/>
          </p:cNvPicPr>
          <p:nvPr/>
        </p:nvPicPr>
        <p:blipFill>
          <a:blip r:embed="rId2"/>
          <a:stretch>
            <a:fillRect/>
          </a:stretch>
        </p:blipFill>
        <p:spPr>
          <a:xfrm>
            <a:off x="838200" y="4133603"/>
            <a:ext cx="10036590" cy="1481133"/>
          </a:xfrm>
          <a:prstGeom prst="rect">
            <a:avLst/>
          </a:prstGeom>
        </p:spPr>
      </p:pic>
    </p:spTree>
    <p:extLst>
      <p:ext uri="{BB962C8B-B14F-4D97-AF65-F5344CB8AC3E}">
        <p14:creationId xmlns:p14="http://schemas.microsoft.com/office/powerpoint/2010/main" val="1956731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4B5F6-C68E-10AF-75E3-A9E1A50FCEF7}"/>
              </a:ext>
            </a:extLst>
          </p:cNvPr>
          <p:cNvSpPr>
            <a:spLocks noGrp="1"/>
          </p:cNvSpPr>
          <p:nvPr>
            <p:ph type="title"/>
          </p:nvPr>
        </p:nvSpPr>
        <p:spPr>
          <a:xfrm>
            <a:off x="838200" y="365126"/>
            <a:ext cx="10515600" cy="939892"/>
          </a:xfrm>
        </p:spPr>
        <p:txBody>
          <a:bodyPr>
            <a:normAutofit/>
          </a:bodyPr>
          <a:lstStyle/>
          <a:p>
            <a:pPr algn="just"/>
            <a:r>
              <a:rPr lang="en-IN" dirty="0">
                <a:latin typeface="Times New Roman" panose="02020603050405020304" pitchFamily="18" charset="0"/>
                <a:cs typeface="Times New Roman" panose="02020603050405020304" pitchFamily="18" charset="0"/>
              </a:rPr>
              <a:t>Unsigned Multi-precision Arithmetic</a:t>
            </a:r>
          </a:p>
        </p:txBody>
      </p:sp>
      <p:sp>
        <p:nvSpPr>
          <p:cNvPr id="3" name="Content Placeholder 2">
            <a:extLst>
              <a:ext uri="{FF2B5EF4-FFF2-40B4-BE49-F238E27FC236}">
                <a16:creationId xmlns:a16="http://schemas.microsoft.com/office/drawing/2014/main" id="{ABB30669-0E11-EBC5-39B7-541FC7B6E06D}"/>
              </a:ext>
            </a:extLst>
          </p:cNvPr>
          <p:cNvSpPr>
            <a:spLocks noGrp="1"/>
          </p:cNvSpPr>
          <p:nvPr>
            <p:ph idx="1"/>
          </p:nvPr>
        </p:nvSpPr>
        <p:spPr>
          <a:xfrm>
            <a:off x="411332" y="1561765"/>
            <a:ext cx="4567989" cy="1741383"/>
          </a:xfrm>
        </p:spPr>
        <p:txBody>
          <a:bodyPr>
            <a:noAutofit/>
          </a:bodyPr>
          <a:lstStyle/>
          <a:p>
            <a:pPr marL="0" indent="0">
              <a:buNone/>
            </a:pPr>
            <a:r>
              <a:rPr lang="en-IN" sz="1800" dirty="0">
                <a:latin typeface="Times New Roman" panose="02020603050405020304" pitchFamily="18" charset="0"/>
                <a:cs typeface="Times New Roman" panose="02020603050405020304" pitchFamily="18" charset="0"/>
              </a:rPr>
              <a:t>Multi-precision unsigned program,</a:t>
            </a:r>
          </a:p>
          <a:p>
            <a:pPr marL="0" indent="0">
              <a:buNone/>
            </a:pPr>
            <a:r>
              <a:rPr lang="fr-FR" sz="1800" dirty="0">
                <a:latin typeface="Times New Roman" panose="02020603050405020304" pitchFamily="18" charset="0"/>
                <a:cs typeface="Times New Roman" panose="02020603050405020304" pitchFamily="18" charset="0"/>
              </a:rPr>
              <a:t>~/</a:t>
            </a:r>
            <a:r>
              <a:rPr lang="fr-FR" sz="1800" dirty="0" err="1">
                <a:latin typeface="Times New Roman" panose="02020603050405020304" pitchFamily="18" charset="0"/>
                <a:cs typeface="Times New Roman" panose="02020603050405020304" pitchFamily="18" charset="0"/>
              </a:rPr>
              <a:t>riscv</a:t>
            </a:r>
            <a:r>
              <a:rPr lang="fr-FR" sz="1800" dirty="0">
                <a:latin typeface="Times New Roman" panose="02020603050405020304" pitchFamily="18" charset="0"/>
                <a:cs typeface="Times New Roman" panose="02020603050405020304" pitchFamily="18" charset="0"/>
              </a:rPr>
              <a:t>/repo/09/</a:t>
            </a:r>
            <a:r>
              <a:rPr lang="fr-FR" sz="1800" dirty="0" err="1">
                <a:latin typeface="Times New Roman" panose="02020603050405020304" pitchFamily="18" charset="0"/>
                <a:cs typeface="Times New Roman" panose="02020603050405020304" pitchFamily="18" charset="0"/>
              </a:rPr>
              <a:t>multipu</a:t>
            </a:r>
            <a:r>
              <a:rPr lang="fr-FR" sz="1800" dirty="0">
                <a:latin typeface="Times New Roman" panose="02020603050405020304" pitchFamily="18" charset="0"/>
                <a:cs typeface="Times New Roman" panose="02020603050405020304" pitchFamily="18" charset="0"/>
              </a:rPr>
              <a:t>/main/</a:t>
            </a:r>
            <a:r>
              <a:rPr lang="fr-FR" sz="1800" dirty="0" err="1">
                <a:latin typeface="Times New Roman" panose="02020603050405020304" pitchFamily="18" charset="0"/>
                <a:cs typeface="Times New Roman" panose="02020603050405020304" pitchFamily="18" charset="0"/>
              </a:rPr>
              <a:t>multipu.S</a:t>
            </a:r>
            <a:r>
              <a:rPr lang="fr-FR"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Main driver program ~/</a:t>
            </a:r>
            <a:r>
              <a:rPr lang="en-IN" sz="1800" dirty="0" err="1">
                <a:latin typeface="Times New Roman" panose="02020603050405020304" pitchFamily="18" charset="0"/>
                <a:cs typeface="Times New Roman" panose="02020603050405020304" pitchFamily="18" charset="0"/>
              </a:rPr>
              <a:t>riscv</a:t>
            </a:r>
            <a:r>
              <a:rPr lang="en-IN" sz="1800" dirty="0">
                <a:latin typeface="Times New Roman" panose="02020603050405020304" pitchFamily="18" charset="0"/>
                <a:cs typeface="Times New Roman" panose="02020603050405020304" pitchFamily="18" charset="0"/>
              </a:rPr>
              <a:t>/repo/09/</a:t>
            </a:r>
            <a:r>
              <a:rPr lang="en-IN" sz="1800" dirty="0" err="1">
                <a:latin typeface="Times New Roman" panose="02020603050405020304" pitchFamily="18" charset="0"/>
                <a:cs typeface="Times New Roman" panose="02020603050405020304" pitchFamily="18" charset="0"/>
              </a:rPr>
              <a:t>multipu</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main.c</a:t>
            </a:r>
            <a:r>
              <a:rPr lang="en-IN"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Build, flash and monitor the program to see the results:</a:t>
            </a:r>
          </a:p>
          <a:p>
            <a:pPr marL="0" indent="0">
              <a:buNone/>
            </a:pPr>
            <a:r>
              <a:rPr lang="en-IN" sz="1800" dirty="0">
                <a:latin typeface="Times New Roman" panose="02020603050405020304" pitchFamily="18" charset="0"/>
                <a:cs typeface="Times New Roman" panose="02020603050405020304" pitchFamily="18" charset="0"/>
              </a:rPr>
              <a:t>$ cd ~/</a:t>
            </a:r>
            <a:r>
              <a:rPr lang="en-IN" sz="1800" dirty="0" err="1">
                <a:latin typeface="Times New Roman" panose="02020603050405020304" pitchFamily="18" charset="0"/>
                <a:cs typeface="Times New Roman" panose="02020603050405020304" pitchFamily="18" charset="0"/>
              </a:rPr>
              <a:t>riscv</a:t>
            </a:r>
            <a:r>
              <a:rPr lang="en-IN" sz="1800" dirty="0">
                <a:latin typeface="Times New Roman" panose="02020603050405020304" pitchFamily="18" charset="0"/>
                <a:cs typeface="Times New Roman" panose="02020603050405020304" pitchFamily="18" charset="0"/>
              </a:rPr>
              <a:t>/repo/09/</a:t>
            </a:r>
            <a:r>
              <a:rPr lang="en-IN" sz="1800" dirty="0" err="1">
                <a:latin typeface="Times New Roman" panose="02020603050405020304" pitchFamily="18" charset="0"/>
                <a:cs typeface="Times New Roman" panose="02020603050405020304" pitchFamily="18" charset="0"/>
              </a:rPr>
              <a:t>multipu</a:t>
            </a: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 idf.py build</a:t>
            </a:r>
          </a:p>
        </p:txBody>
      </p:sp>
      <p:pic>
        <p:nvPicPr>
          <p:cNvPr id="5" name="Picture 4">
            <a:extLst>
              <a:ext uri="{FF2B5EF4-FFF2-40B4-BE49-F238E27FC236}">
                <a16:creationId xmlns:a16="http://schemas.microsoft.com/office/drawing/2014/main" id="{065B6A47-A780-0219-AAD2-A6F85AF93FBE}"/>
              </a:ext>
            </a:extLst>
          </p:cNvPr>
          <p:cNvPicPr>
            <a:picLocks noChangeAspect="1"/>
          </p:cNvPicPr>
          <p:nvPr/>
        </p:nvPicPr>
        <p:blipFill>
          <a:blip r:embed="rId2"/>
          <a:stretch>
            <a:fillRect/>
          </a:stretch>
        </p:blipFill>
        <p:spPr>
          <a:xfrm>
            <a:off x="5548076" y="1305018"/>
            <a:ext cx="6096002" cy="1741383"/>
          </a:xfrm>
          <a:prstGeom prst="rect">
            <a:avLst/>
          </a:prstGeom>
        </p:spPr>
      </p:pic>
      <p:pic>
        <p:nvPicPr>
          <p:cNvPr id="7" name="Picture 6">
            <a:extLst>
              <a:ext uri="{FF2B5EF4-FFF2-40B4-BE49-F238E27FC236}">
                <a16:creationId xmlns:a16="http://schemas.microsoft.com/office/drawing/2014/main" id="{79C4BF39-A481-85DE-6473-108F053A75E3}"/>
              </a:ext>
            </a:extLst>
          </p:cNvPr>
          <p:cNvPicPr>
            <a:picLocks noChangeAspect="1"/>
          </p:cNvPicPr>
          <p:nvPr/>
        </p:nvPicPr>
        <p:blipFill>
          <a:blip r:embed="rId3"/>
          <a:stretch>
            <a:fillRect/>
          </a:stretch>
        </p:blipFill>
        <p:spPr>
          <a:xfrm>
            <a:off x="5548076" y="3176474"/>
            <a:ext cx="6096002" cy="3601642"/>
          </a:xfrm>
          <a:prstGeom prst="rect">
            <a:avLst/>
          </a:prstGeom>
        </p:spPr>
      </p:pic>
      <p:sp>
        <p:nvSpPr>
          <p:cNvPr id="9" name="TextBox 8">
            <a:extLst>
              <a:ext uri="{FF2B5EF4-FFF2-40B4-BE49-F238E27FC236}">
                <a16:creationId xmlns:a16="http://schemas.microsoft.com/office/drawing/2014/main" id="{65904C4A-5307-7CB4-1AC5-A49932B513A7}"/>
              </a:ext>
            </a:extLst>
          </p:cNvPr>
          <p:cNvSpPr txBox="1"/>
          <p:nvPr/>
        </p:nvSpPr>
        <p:spPr>
          <a:xfrm>
            <a:off x="411332" y="4917039"/>
            <a:ext cx="4205056" cy="1200329"/>
          </a:xfrm>
          <a:prstGeom prst="rect">
            <a:avLst/>
          </a:prstGeom>
          <a:noFill/>
        </p:spPr>
        <p:txBody>
          <a:bodyPr wrap="square">
            <a:spAutoFit/>
          </a:bodyPr>
          <a:lstStyle/>
          <a:p>
            <a:pPr algn="just"/>
            <a:r>
              <a:rPr lang="en-US" b="0" i="0" u="none" strike="noStrike" baseline="0" dirty="0">
                <a:latin typeface="Times New Roman" panose="02020603050405020304" pitchFamily="18" charset="0"/>
                <a:cs typeface="Times New Roman" panose="02020603050405020304" pitchFamily="18" charset="0"/>
              </a:rPr>
              <a:t>Unsigned Overflow Testing for unsigned overflow is equally simple, since all that is required is to see if a carry occurred out of the high order word.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4217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29B2D-0162-258D-8953-3D31F58B6D14}"/>
              </a:ext>
            </a:extLst>
          </p:cNvPr>
          <p:cNvSpPr>
            <a:spLocks noGrp="1"/>
          </p:cNvSpPr>
          <p:nvPr>
            <p:ph type="title"/>
          </p:nvPr>
        </p:nvSpPr>
        <p:spPr/>
        <p:txBody>
          <a:bodyPr/>
          <a:lstStyle/>
          <a:p>
            <a:pPr algn="just"/>
            <a:r>
              <a:rPr lang="en-IN" dirty="0">
                <a:latin typeface="Times New Roman" panose="02020603050405020304" pitchFamily="18" charset="0"/>
                <a:cs typeface="Times New Roman" panose="02020603050405020304" pitchFamily="18" charset="0"/>
              </a:rPr>
              <a:t>Signed Multi-precision Arithmetic</a:t>
            </a:r>
          </a:p>
        </p:txBody>
      </p:sp>
      <p:sp>
        <p:nvSpPr>
          <p:cNvPr id="3" name="Content Placeholder 2">
            <a:extLst>
              <a:ext uri="{FF2B5EF4-FFF2-40B4-BE49-F238E27FC236}">
                <a16:creationId xmlns:a16="http://schemas.microsoft.com/office/drawing/2014/main" id="{41753FDC-CD22-C151-1636-D7CCFF405419}"/>
              </a:ext>
            </a:extLst>
          </p:cNvPr>
          <p:cNvSpPr>
            <a:spLocks noGrp="1"/>
          </p:cNvSpPr>
          <p:nvPr>
            <p:ph idx="1"/>
          </p:nvPr>
        </p:nvSpPr>
        <p:spPr/>
        <p:txBody>
          <a:bodyPr>
            <a:normAutofit fontScale="92500" lnSpcReduction="10000"/>
          </a:bodyPr>
          <a:lstStyle/>
          <a:p>
            <a:pPr marL="0" indent="0" algn="just">
              <a:buNone/>
            </a:pPr>
            <a:r>
              <a:rPr lang="en-US" dirty="0">
                <a:latin typeface="Times New Roman" panose="02020603050405020304" pitchFamily="18" charset="0"/>
                <a:cs typeface="Times New Roman" panose="02020603050405020304" pitchFamily="18" charset="0"/>
              </a:rPr>
              <a:t>Signed arithmetic handles the carry precisely the same way. When adding the low order words, simply test if the result of the sum is less than either of the operand words.</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IN" b="1" dirty="0">
                <a:latin typeface="Times New Roman" panose="02020603050405020304" pitchFamily="18" charset="0"/>
                <a:cs typeface="Times New Roman" panose="02020603050405020304" pitchFamily="18" charset="0"/>
              </a:rPr>
              <a:t>Signed Overflow</a:t>
            </a:r>
          </a:p>
          <a:p>
            <a:pPr algn="just"/>
            <a:r>
              <a:rPr lang="en-IN" dirty="0">
                <a:latin typeface="Times New Roman" panose="02020603050405020304" pitchFamily="18" charset="0"/>
                <a:cs typeface="Times New Roman" panose="02020603050405020304" pitchFamily="18" charset="0"/>
              </a:rPr>
              <a:t>Program ~/</a:t>
            </a:r>
            <a:r>
              <a:rPr lang="en-IN" dirty="0" err="1">
                <a:latin typeface="Times New Roman" panose="02020603050405020304" pitchFamily="18" charset="0"/>
                <a:cs typeface="Times New Roman" panose="02020603050405020304" pitchFamily="18" charset="0"/>
              </a:rPr>
              <a:t>riscv</a:t>
            </a:r>
            <a:r>
              <a:rPr lang="en-IN" dirty="0">
                <a:latin typeface="Times New Roman" panose="02020603050405020304" pitchFamily="18" charset="0"/>
                <a:cs typeface="Times New Roman" panose="02020603050405020304" pitchFamily="18" charset="0"/>
              </a:rPr>
              <a:t>/repo/09/</a:t>
            </a:r>
            <a:r>
              <a:rPr lang="en-IN" dirty="0" err="1">
                <a:latin typeface="Times New Roman" panose="02020603050405020304" pitchFamily="18" charset="0"/>
                <a:cs typeface="Times New Roman" panose="02020603050405020304" pitchFamily="18" charset="0"/>
              </a:rPr>
              <a:t>multips</a:t>
            </a:r>
            <a:r>
              <a:rPr lang="en-IN" dirty="0">
                <a:latin typeface="Times New Roman" panose="02020603050405020304" pitchFamily="18" charset="0"/>
                <a:cs typeface="Times New Roman" panose="02020603050405020304" pitchFamily="18" charset="0"/>
              </a:rPr>
              <a:t>/main/</a:t>
            </a:r>
            <a:r>
              <a:rPr lang="en-IN" dirty="0" err="1">
                <a:latin typeface="Times New Roman" panose="02020603050405020304" pitchFamily="18" charset="0"/>
                <a:cs typeface="Times New Roman" panose="02020603050405020304" pitchFamily="18" charset="0"/>
              </a:rPr>
              <a:t>ovflow.S</a:t>
            </a:r>
            <a:r>
              <a:rPr lang="en-IN" dirty="0">
                <a:latin typeface="Times New Roman" panose="02020603050405020304" pitchFamily="18" charset="0"/>
                <a:cs typeface="Times New Roman" panose="02020603050405020304" pitchFamily="18" charset="0"/>
              </a:rPr>
              <a:t>.</a:t>
            </a:r>
          </a:p>
          <a:p>
            <a:pPr algn="just"/>
            <a:r>
              <a:rPr lang="en-IN" dirty="0">
                <a:latin typeface="Times New Roman" panose="02020603050405020304" pitchFamily="18" charset="0"/>
                <a:cs typeface="Times New Roman" panose="02020603050405020304" pitchFamily="18" charset="0"/>
              </a:rPr>
              <a:t>Main driver program</a:t>
            </a:r>
          </a:p>
          <a:p>
            <a:pPr marL="0" indent="0" algn="just">
              <a:buNone/>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riscv</a:t>
            </a:r>
            <a:r>
              <a:rPr lang="en-US" dirty="0">
                <a:latin typeface="Times New Roman" panose="02020603050405020304" pitchFamily="18" charset="0"/>
                <a:cs typeface="Times New Roman" panose="02020603050405020304" pitchFamily="18" charset="0"/>
              </a:rPr>
              <a:t>/repo/09/</a:t>
            </a:r>
            <a:r>
              <a:rPr lang="en-US" dirty="0" err="1">
                <a:latin typeface="Times New Roman" panose="02020603050405020304" pitchFamily="18" charset="0"/>
                <a:cs typeface="Times New Roman" panose="02020603050405020304" pitchFamily="18" charset="0"/>
              </a:rPr>
              <a:t>ovflow</a:t>
            </a:r>
            <a:r>
              <a:rPr lang="en-US" dirty="0">
                <a:latin typeface="Times New Roman" panose="02020603050405020304" pitchFamily="18" charset="0"/>
                <a:cs typeface="Times New Roman" panose="02020603050405020304" pitchFamily="18" charset="0"/>
              </a:rPr>
              <a:t>/main/</a:t>
            </a:r>
            <a:r>
              <a:rPr lang="en-US" dirty="0" err="1">
                <a:latin typeface="Times New Roman" panose="02020603050405020304" pitchFamily="18" charset="0"/>
                <a:cs typeface="Times New Roman" panose="02020603050405020304" pitchFamily="18" charset="0"/>
              </a:rPr>
              <a:t>main.c</a:t>
            </a:r>
            <a:r>
              <a:rPr lang="en-US" dirty="0">
                <a:latin typeface="Times New Roman" panose="02020603050405020304" pitchFamily="18" charset="0"/>
                <a:cs typeface="Times New Roman" panose="02020603050405020304" pitchFamily="18" charset="0"/>
              </a:rPr>
              <a:t>.</a:t>
            </a:r>
          </a:p>
          <a:p>
            <a:pPr marL="0" indent="0" algn="just">
              <a:buNone/>
            </a:pPr>
            <a:r>
              <a:rPr lang="en-IN" dirty="0">
                <a:latin typeface="Times New Roman" panose="02020603050405020304" pitchFamily="18" charset="0"/>
                <a:cs typeface="Times New Roman" panose="02020603050405020304" pitchFamily="18" charset="0"/>
              </a:rPr>
              <a:t>$ cd ~/</a:t>
            </a:r>
            <a:r>
              <a:rPr lang="en-IN" dirty="0" err="1">
                <a:latin typeface="Times New Roman" panose="02020603050405020304" pitchFamily="18" charset="0"/>
                <a:cs typeface="Times New Roman" panose="02020603050405020304" pitchFamily="18" charset="0"/>
              </a:rPr>
              <a:t>riscv</a:t>
            </a:r>
            <a:r>
              <a:rPr lang="en-IN" dirty="0">
                <a:latin typeface="Times New Roman" panose="02020603050405020304" pitchFamily="18" charset="0"/>
                <a:cs typeface="Times New Roman" panose="02020603050405020304" pitchFamily="18" charset="0"/>
              </a:rPr>
              <a:t>/repo/09/</a:t>
            </a:r>
            <a:r>
              <a:rPr lang="en-IN" dirty="0" err="1">
                <a:latin typeface="Times New Roman" panose="02020603050405020304" pitchFamily="18" charset="0"/>
                <a:cs typeface="Times New Roman" panose="02020603050405020304" pitchFamily="18" charset="0"/>
              </a:rPr>
              <a:t>ovflow</a:t>
            </a:r>
            <a:endParaRPr lang="en-IN"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 idf.py build</a:t>
            </a:r>
          </a:p>
        </p:txBody>
      </p:sp>
    </p:spTree>
    <p:extLst>
      <p:ext uri="{BB962C8B-B14F-4D97-AF65-F5344CB8AC3E}">
        <p14:creationId xmlns:p14="http://schemas.microsoft.com/office/powerpoint/2010/main" val="3812541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48A7B60-6114-FAF9-7367-6CFBC57F6037}"/>
              </a:ext>
            </a:extLst>
          </p:cNvPr>
          <p:cNvSpPr txBox="1"/>
          <p:nvPr/>
        </p:nvSpPr>
        <p:spPr>
          <a:xfrm>
            <a:off x="1704726" y="6275280"/>
            <a:ext cx="2661276" cy="400110"/>
          </a:xfrm>
          <a:prstGeom prst="rect">
            <a:avLst/>
          </a:prstGeom>
          <a:noFill/>
        </p:spPr>
        <p:txBody>
          <a:bodyPr wrap="square">
            <a:spAutoFit/>
          </a:bodyPr>
          <a:lstStyle/>
          <a:p>
            <a:pPr algn="just"/>
            <a:r>
              <a:rPr lang="en-US" sz="2000" dirty="0" err="1">
                <a:latin typeface="Times New Roman" panose="02020603050405020304" pitchFamily="18" charset="0"/>
                <a:cs typeface="Times New Roman" panose="02020603050405020304" pitchFamily="18" charset="0"/>
              </a:rPr>
              <a:t>Modiy</a:t>
            </a:r>
            <a:r>
              <a:rPr lang="en-US" sz="2000" dirty="0">
                <a:latin typeface="Times New Roman" panose="02020603050405020304" pitchFamily="18" charset="0"/>
                <a:cs typeface="Times New Roman" panose="02020603050405020304" pitchFamily="18" charset="0"/>
              </a:rPr>
              <a:t> the </a:t>
            </a:r>
            <a:r>
              <a:rPr lang="en-US" sz="2000" dirty="0" err="1">
                <a:latin typeface="Times New Roman" panose="02020603050405020304" pitchFamily="18" charset="0"/>
                <a:cs typeface="Times New Roman" panose="02020603050405020304" pitchFamily="18" charset="0"/>
              </a:rPr>
              <a:t>main.c</a:t>
            </a:r>
            <a:r>
              <a:rPr lang="en-US" sz="2000" dirty="0">
                <a:latin typeface="Times New Roman" panose="02020603050405020304" pitchFamily="18" charset="0"/>
                <a:cs typeface="Times New Roman" panose="02020603050405020304" pitchFamily="18" charset="0"/>
              </a:rPr>
              <a:t> code</a:t>
            </a: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9397B1AA-33EB-AD60-8DB3-4C5B3641C74C}"/>
              </a:ext>
            </a:extLst>
          </p:cNvPr>
          <p:cNvPicPr>
            <a:picLocks noChangeAspect="1"/>
          </p:cNvPicPr>
          <p:nvPr/>
        </p:nvPicPr>
        <p:blipFill>
          <a:blip r:embed="rId2"/>
          <a:stretch>
            <a:fillRect/>
          </a:stretch>
        </p:blipFill>
        <p:spPr>
          <a:xfrm>
            <a:off x="139358" y="2627791"/>
            <a:ext cx="5792013" cy="3647489"/>
          </a:xfrm>
          <a:prstGeom prst="rect">
            <a:avLst/>
          </a:prstGeom>
        </p:spPr>
      </p:pic>
      <p:pic>
        <p:nvPicPr>
          <p:cNvPr id="9" name="Picture 8">
            <a:extLst>
              <a:ext uri="{FF2B5EF4-FFF2-40B4-BE49-F238E27FC236}">
                <a16:creationId xmlns:a16="http://schemas.microsoft.com/office/drawing/2014/main" id="{0DCE8F4F-51E0-59D8-031B-C6F41982B23A}"/>
              </a:ext>
            </a:extLst>
          </p:cNvPr>
          <p:cNvPicPr>
            <a:picLocks noChangeAspect="1"/>
          </p:cNvPicPr>
          <p:nvPr/>
        </p:nvPicPr>
        <p:blipFill>
          <a:blip r:embed="rId3"/>
          <a:stretch>
            <a:fillRect/>
          </a:stretch>
        </p:blipFill>
        <p:spPr>
          <a:xfrm>
            <a:off x="6084225" y="2627791"/>
            <a:ext cx="5835251" cy="3647490"/>
          </a:xfrm>
          <a:prstGeom prst="rect">
            <a:avLst/>
          </a:prstGeom>
        </p:spPr>
      </p:pic>
      <p:sp>
        <p:nvSpPr>
          <p:cNvPr id="11" name="TextBox 10">
            <a:extLst>
              <a:ext uri="{FF2B5EF4-FFF2-40B4-BE49-F238E27FC236}">
                <a16:creationId xmlns:a16="http://schemas.microsoft.com/office/drawing/2014/main" id="{CDEBD28C-1DFD-90E0-D689-4304C78AFF8A}"/>
              </a:ext>
            </a:extLst>
          </p:cNvPr>
          <p:cNvSpPr txBox="1"/>
          <p:nvPr/>
        </p:nvSpPr>
        <p:spPr>
          <a:xfrm>
            <a:off x="1059401" y="723402"/>
            <a:ext cx="9460637" cy="1631216"/>
          </a:xfrm>
          <a:prstGeom prst="rect">
            <a:avLst/>
          </a:prstGeom>
          <a:noFill/>
        </p:spPr>
        <p:txBody>
          <a:bodyPr wrap="square">
            <a:spAutoFit/>
          </a:bodyPr>
          <a:lstStyle/>
          <a:p>
            <a:pPr algn="just"/>
            <a:r>
              <a:rPr lang="en-US" sz="2000" b="0" i="0" u="none" strike="noStrike" baseline="0" dirty="0">
                <a:latin typeface="Times New Roman" panose="02020603050405020304" pitchFamily="18" charset="0"/>
                <a:cs typeface="Times New Roman" panose="02020603050405020304" pitchFamily="18" charset="0"/>
              </a:rPr>
              <a:t>In the output, the first example retains the original sign after the sum (result 0x7FFFFFFF). However, in the second sum, we see that the sign changed (result 0x8000002C) and the function s32ovf() correctly identifies it as an overflow. The third test had inputs of different signs and the result remains ok. The final test results in an overflow, which is correctly identified.</a:t>
            </a:r>
            <a:endParaRPr lang="en-IN" sz="20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DB161CE0-2A00-197F-1E98-3E850EC694FD}"/>
              </a:ext>
            </a:extLst>
          </p:cNvPr>
          <p:cNvSpPr txBox="1"/>
          <p:nvPr/>
        </p:nvSpPr>
        <p:spPr>
          <a:xfrm>
            <a:off x="8505810" y="6275280"/>
            <a:ext cx="992080" cy="400110"/>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O</a:t>
            </a:r>
            <a:r>
              <a:rPr lang="en-US" sz="2000" b="0" i="0" u="none" strike="noStrike" baseline="0" dirty="0">
                <a:latin typeface="Times New Roman" panose="02020603050405020304" pitchFamily="18" charset="0"/>
                <a:cs typeface="Times New Roman" panose="02020603050405020304" pitchFamily="18" charset="0"/>
              </a:rPr>
              <a:t>utput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3851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770333-B7E7-76C4-FE8F-60E8B13B8C87}"/>
              </a:ext>
            </a:extLst>
          </p:cNvPr>
          <p:cNvSpPr>
            <a:spLocks noGrp="1"/>
          </p:cNvSpPr>
          <p:nvPr>
            <p:ph idx="1"/>
          </p:nvPr>
        </p:nvSpPr>
        <p:spPr>
          <a:xfrm>
            <a:off x="320024" y="322027"/>
            <a:ext cx="5148621" cy="2608744"/>
          </a:xfrm>
        </p:spPr>
        <p:txBody>
          <a:bodyPr>
            <a:normAutofit fontScale="85000" lnSpcReduction="10000"/>
          </a:bodyPr>
          <a:lstStyle/>
          <a:p>
            <a:pPr marL="0" indent="0">
              <a:buNone/>
            </a:pPr>
            <a:r>
              <a:rPr lang="en-IN" sz="3900" b="1" dirty="0">
                <a:latin typeface="Times New Roman" panose="02020603050405020304" pitchFamily="18" charset="0"/>
                <a:cs typeface="Times New Roman" panose="02020603050405020304" pitchFamily="18" charset="0"/>
              </a:rPr>
              <a:t>RV64 Signed Overflow</a:t>
            </a:r>
          </a:p>
          <a:p>
            <a:pPr marL="0" indent="0">
              <a:buNone/>
            </a:pPr>
            <a:endParaRPr lang="en-IN" b="1" dirty="0">
              <a:latin typeface="Times New Roman" panose="02020603050405020304" pitchFamily="18" charset="0"/>
              <a:cs typeface="Times New Roman" panose="02020603050405020304" pitchFamily="18" charset="0"/>
            </a:endParaRPr>
          </a:p>
          <a:p>
            <a:pPr marL="0" indent="0">
              <a:buNone/>
            </a:pPr>
            <a:r>
              <a:rPr lang="en-IN" sz="1900" dirty="0">
                <a:latin typeface="Times New Roman" panose="02020603050405020304" pitchFamily="18" charset="0"/>
                <a:cs typeface="Times New Roman" panose="02020603050405020304" pitchFamily="18" charset="0"/>
              </a:rPr>
              <a:t>Main driver program: ~/</a:t>
            </a:r>
            <a:r>
              <a:rPr lang="en-IN" sz="1900" dirty="0" err="1">
                <a:latin typeface="Times New Roman" panose="02020603050405020304" pitchFamily="18" charset="0"/>
                <a:cs typeface="Times New Roman" panose="02020603050405020304" pitchFamily="18" charset="0"/>
              </a:rPr>
              <a:t>riscv</a:t>
            </a:r>
            <a:r>
              <a:rPr lang="en-IN" sz="1900" dirty="0">
                <a:latin typeface="Times New Roman" panose="02020603050405020304" pitchFamily="18" charset="0"/>
                <a:cs typeface="Times New Roman" panose="02020603050405020304" pitchFamily="18" charset="0"/>
              </a:rPr>
              <a:t>/repo/09/ovf64/qemu64/</a:t>
            </a:r>
            <a:r>
              <a:rPr lang="en-IN" sz="1900" dirty="0" err="1">
                <a:latin typeface="Times New Roman" panose="02020603050405020304" pitchFamily="18" charset="0"/>
                <a:cs typeface="Times New Roman" panose="02020603050405020304" pitchFamily="18" charset="0"/>
              </a:rPr>
              <a:t>main.c</a:t>
            </a:r>
            <a:r>
              <a:rPr lang="en-IN" sz="1900" dirty="0">
                <a:latin typeface="Times New Roman" panose="02020603050405020304" pitchFamily="18" charset="0"/>
                <a:cs typeface="Times New Roman" panose="02020603050405020304" pitchFamily="18" charset="0"/>
              </a:rPr>
              <a:t>.</a:t>
            </a:r>
          </a:p>
          <a:p>
            <a:pPr marL="0" indent="0">
              <a:buNone/>
            </a:pPr>
            <a:r>
              <a:rPr lang="en-US" sz="1900" dirty="0">
                <a:latin typeface="Times New Roman" panose="02020603050405020304" pitchFamily="18" charset="0"/>
                <a:cs typeface="Times New Roman" panose="02020603050405020304" pitchFamily="18" charset="0"/>
              </a:rPr>
              <a:t>Compile and run the program in Fedora Linux as </a:t>
            </a:r>
            <a:r>
              <a:rPr lang="en-IN" sz="1900" dirty="0">
                <a:latin typeface="Times New Roman" panose="02020603050405020304" pitchFamily="18" charset="0"/>
                <a:cs typeface="Times New Roman" panose="02020603050405020304" pitchFamily="18" charset="0"/>
              </a:rPr>
              <a:t>follows:</a:t>
            </a:r>
          </a:p>
          <a:p>
            <a:pPr marL="0" indent="0">
              <a:buNone/>
            </a:pPr>
            <a:r>
              <a:rPr lang="en-IN" sz="1900" dirty="0">
                <a:latin typeface="Times New Roman" panose="02020603050405020304" pitchFamily="18" charset="0"/>
                <a:cs typeface="Times New Roman" panose="02020603050405020304" pitchFamily="18" charset="0"/>
              </a:rPr>
              <a:t>$ cd ~/</a:t>
            </a:r>
            <a:r>
              <a:rPr lang="en-IN" sz="1900" dirty="0" err="1">
                <a:latin typeface="Times New Roman" panose="02020603050405020304" pitchFamily="18" charset="0"/>
                <a:cs typeface="Times New Roman" panose="02020603050405020304" pitchFamily="18" charset="0"/>
              </a:rPr>
              <a:t>riscv</a:t>
            </a:r>
            <a:r>
              <a:rPr lang="en-IN" sz="1900" dirty="0">
                <a:latin typeface="Times New Roman" panose="02020603050405020304" pitchFamily="18" charset="0"/>
                <a:cs typeface="Times New Roman" panose="02020603050405020304" pitchFamily="18" charset="0"/>
              </a:rPr>
              <a:t>/repo/09/ovf64/qemu64</a:t>
            </a:r>
          </a:p>
          <a:p>
            <a:pPr marL="0" indent="0">
              <a:buNone/>
            </a:pP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gcc</a:t>
            </a:r>
            <a:r>
              <a:rPr lang="en-US" sz="1900" dirty="0">
                <a:latin typeface="Times New Roman" panose="02020603050405020304" pitchFamily="18" charset="0"/>
                <a:cs typeface="Times New Roman" panose="02020603050405020304" pitchFamily="18" charset="0"/>
              </a:rPr>
              <a:t> -g addi64.S </a:t>
            </a:r>
            <a:r>
              <a:rPr lang="en-US" sz="1900" dirty="0" err="1">
                <a:latin typeface="Times New Roman" panose="02020603050405020304" pitchFamily="18" charset="0"/>
                <a:cs typeface="Times New Roman" panose="02020603050405020304" pitchFamily="18" charset="0"/>
              </a:rPr>
              <a:t>main.c</a:t>
            </a:r>
            <a:endParaRPr lang="en-US" sz="1900" dirty="0">
              <a:latin typeface="Times New Roman" panose="02020603050405020304" pitchFamily="18" charset="0"/>
              <a:cs typeface="Times New Roman" panose="02020603050405020304" pitchFamily="18" charset="0"/>
            </a:endParaRPr>
          </a:p>
          <a:p>
            <a:pPr marL="0" indent="0">
              <a:buNone/>
            </a:pPr>
            <a:r>
              <a:rPr lang="en-IN" sz="1900" dirty="0">
                <a:latin typeface="Times New Roman" panose="02020603050405020304" pitchFamily="18" charset="0"/>
                <a:cs typeface="Times New Roman" panose="02020603050405020304" pitchFamily="18" charset="0"/>
              </a:rPr>
              <a:t>$ ./</a:t>
            </a:r>
            <a:r>
              <a:rPr lang="en-IN" sz="1900" dirty="0" err="1">
                <a:latin typeface="Times New Roman" panose="02020603050405020304" pitchFamily="18" charset="0"/>
                <a:cs typeface="Times New Roman" panose="02020603050405020304" pitchFamily="18" charset="0"/>
              </a:rPr>
              <a:t>a.out</a:t>
            </a:r>
            <a:endParaRPr lang="en-IN" sz="1900"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B782651-F620-D407-6E9D-D8404FC3CC6B}"/>
              </a:ext>
            </a:extLst>
          </p:cNvPr>
          <p:cNvPicPr>
            <a:picLocks noChangeAspect="1"/>
          </p:cNvPicPr>
          <p:nvPr/>
        </p:nvPicPr>
        <p:blipFill>
          <a:blip r:embed="rId2"/>
          <a:stretch>
            <a:fillRect/>
          </a:stretch>
        </p:blipFill>
        <p:spPr>
          <a:xfrm>
            <a:off x="1137446" y="3194760"/>
            <a:ext cx="9359875" cy="2989459"/>
          </a:xfrm>
          <a:prstGeom prst="rect">
            <a:avLst/>
          </a:prstGeom>
        </p:spPr>
      </p:pic>
      <p:sp>
        <p:nvSpPr>
          <p:cNvPr id="9" name="TextBox 8">
            <a:extLst>
              <a:ext uri="{FF2B5EF4-FFF2-40B4-BE49-F238E27FC236}">
                <a16:creationId xmlns:a16="http://schemas.microsoft.com/office/drawing/2014/main" id="{7BBB101C-1880-A618-0E76-2ADB62B11F8D}"/>
              </a:ext>
            </a:extLst>
          </p:cNvPr>
          <p:cNvSpPr txBox="1"/>
          <p:nvPr/>
        </p:nvSpPr>
        <p:spPr>
          <a:xfrm>
            <a:off x="5775976" y="1211956"/>
            <a:ext cx="6096000" cy="1323439"/>
          </a:xfrm>
          <a:prstGeom prst="rect">
            <a:avLst/>
          </a:prstGeom>
          <a:noFill/>
        </p:spPr>
        <p:txBody>
          <a:bodyPr wrap="square">
            <a:spAutoFit/>
          </a:bodyPr>
          <a:lstStyle/>
          <a:p>
            <a:pPr algn="just"/>
            <a:r>
              <a:rPr lang="en-US" sz="1600" b="0" i="0" u="none" strike="noStrike" baseline="0" dirty="0">
                <a:latin typeface="Times New Roman" panose="02020603050405020304" pitchFamily="18" charset="0"/>
                <a:cs typeface="Times New Roman" panose="02020603050405020304" pitchFamily="18" charset="0"/>
              </a:rPr>
              <a:t>We see that the addi64() function performs the 64-bit addition and returns the correct overflow status for the two tests (first two lines of output). The last four lines of output are the result of testing neg64(). From the output shown, it is evident that the results of these tests are correct and that the one overflow case was identified.</a:t>
            </a:r>
            <a:endParaRPr lang="en-IN" sz="1600" dirty="0">
              <a:latin typeface="Times New Roman" panose="02020603050405020304" pitchFamily="18" charset="0"/>
              <a:cs typeface="Times New Roman" panose="02020603050405020304" pitchFamily="18" charset="0"/>
            </a:endParaRPr>
          </a:p>
        </p:txBody>
      </p:sp>
      <p:cxnSp>
        <p:nvCxnSpPr>
          <p:cNvPr id="11" name="Straight Connector 10">
            <a:extLst>
              <a:ext uri="{FF2B5EF4-FFF2-40B4-BE49-F238E27FC236}">
                <a16:creationId xmlns:a16="http://schemas.microsoft.com/office/drawing/2014/main" id="{CEAFC012-3E23-BC9E-5B34-FF880DE3F05D}"/>
              </a:ext>
            </a:extLst>
          </p:cNvPr>
          <p:cNvCxnSpPr/>
          <p:nvPr/>
        </p:nvCxnSpPr>
        <p:spPr>
          <a:xfrm>
            <a:off x="5663953" y="816746"/>
            <a:ext cx="0" cy="2183906"/>
          </a:xfrm>
          <a:prstGeom prst="line">
            <a:avLst/>
          </a:prstGeom>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3348447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6D38E-9260-851E-4071-1783A2FD1B32}"/>
              </a:ext>
            </a:extLst>
          </p:cNvPr>
          <p:cNvSpPr>
            <a:spLocks noGrp="1"/>
          </p:cNvSpPr>
          <p:nvPr>
            <p:ph type="title"/>
          </p:nvPr>
        </p:nvSpPr>
        <p:spPr>
          <a:xfrm>
            <a:off x="4570890" y="2781500"/>
            <a:ext cx="3050219" cy="1294999"/>
          </a:xfrm>
        </p:spPr>
        <p:txBody>
          <a:bodyPr/>
          <a:lstStyle/>
          <a:p>
            <a:r>
              <a:rPr lang="en-US" dirty="0">
                <a:latin typeface="Times New Roman" panose="02020603050405020304" pitchFamily="18" charset="0"/>
                <a:cs typeface="Times New Roman" panose="02020603050405020304" pitchFamily="18" charset="0"/>
              </a:rPr>
              <a:t>Thank You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4118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TotalTime>
  <Words>1207</Words>
  <Application>Microsoft Office PowerPoint</Application>
  <PresentationFormat>Widescreen</PresentationFormat>
  <Paragraphs>94</Paragraphs>
  <Slides>12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Times New Roman</vt:lpstr>
      <vt:lpstr>Office Theme</vt:lpstr>
      <vt:lpstr>PowerPoint Presentation</vt:lpstr>
      <vt:lpstr>Arithmetic Opcodes</vt:lpstr>
      <vt:lpstr>Logical Opcodes</vt:lpstr>
      <vt:lpstr>ESP32-C3 Rotate Left</vt:lpstr>
      <vt:lpstr>RV64 Rotate Left</vt:lpstr>
      <vt:lpstr>ESP32-C3 Rotate Right</vt:lpstr>
      <vt:lpstr>Pseudo Opcodes</vt:lpstr>
      <vt:lpstr>Unsigned Multi-precision Arithmetic</vt:lpstr>
      <vt:lpstr>Signed Multi-precision Arithmetic</vt:lpstr>
      <vt:lpstr>PowerPoint Presentation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雷迪</dc:creator>
  <cp:lastModifiedBy>雷迪</cp:lastModifiedBy>
  <cp:revision>1</cp:revision>
  <dcterms:created xsi:type="dcterms:W3CDTF">2025-08-01T08:14:58Z</dcterms:created>
  <dcterms:modified xsi:type="dcterms:W3CDTF">2025-08-01T09:49:35Z</dcterms:modified>
</cp:coreProperties>
</file>